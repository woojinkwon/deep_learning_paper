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sldIdLst>
    <p:sldId id="256" r:id="rId3"/>
    <p:sldId id="261" r:id="rId4"/>
    <p:sldId id="262" r:id="rId5"/>
    <p:sldId id="263" r:id="rId6"/>
    <p:sldId id="264" r:id="rId7"/>
    <p:sldId id="265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66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1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66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rgbClr val="0000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6300192" y="3933935"/>
            <a:ext cx="0" cy="2303379"/>
          </a:xfrm>
          <a:prstGeom prst="line">
            <a:avLst/>
          </a:prstGeom>
          <a:ln w="15875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2003201\Downloads\Work\CW\logo png\symbol+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5" y="1268761"/>
            <a:ext cx="3510457" cy="5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3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57697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3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6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6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35"/>
          <p:cNvSpPr txBox="1"/>
          <p:nvPr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/>
        </p:nvSpPr>
        <p:spPr>
          <a:xfrm>
            <a:off x="5748345" y="5063464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6ADBC90-6130-4404-B8FE-3F165ECB9C65}" type="datetimeFigureOut">
              <a:rPr lang="ko-KR" altLang="en-US" smtClean="0"/>
              <a:t>2020-01-08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55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35496" y="9966"/>
            <a:ext cx="9108504" cy="6832288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>
            <a:off x="6315433" y="3933056"/>
            <a:ext cx="0" cy="216024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70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70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Shape 22"/>
          <p:cNvSpPr txBox="1"/>
          <p:nvPr userDrawn="1"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  <p:pic>
        <p:nvPicPr>
          <p:cNvPr id="2050" name="Picture 2" descr="C:\Users\2003201\Downloads\Work\CW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7" y="1268760"/>
            <a:ext cx="3510457" cy="5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6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 userDrawn="1"/>
        </p:nvCxnSpPr>
        <p:spPr>
          <a:xfrm>
            <a:off x="251520" y="548680"/>
            <a:ext cx="864096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39" name="직사각형 38"/>
          <p:cNvSpPr/>
          <p:nvPr userDrawn="1"/>
        </p:nvSpPr>
        <p:spPr>
          <a:xfrm>
            <a:off x="262344" y="836712"/>
            <a:ext cx="8634791" cy="54006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</p:spPr>
        <p:txBody>
          <a:bodyPr/>
          <a:lstStyle>
            <a:lvl1pPr>
              <a:lnSpc>
                <a:spcPct val="16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defRPr sz="1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sz="14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</p:txBody>
      </p:sp>
      <p:sp>
        <p:nvSpPr>
          <p:cNvPr id="42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pic>
        <p:nvPicPr>
          <p:cNvPr id="11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Shape 135"/>
          <p:cNvSpPr txBox="1"/>
          <p:nvPr userDrawn="1"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5748345" y="5063468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9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1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20000"/>
              </a:lnSpc>
              <a:buSzPct val="100000"/>
            </a:pPr>
            <a:r>
              <a:rPr lang="en-US" altLang="ko-KR" dirty="0" smtClean="0"/>
              <a:t>Master text styles</a:t>
            </a:r>
          </a:p>
          <a:p>
            <a:pPr lvl="1">
              <a:lnSpc>
                <a:spcPct val="110000"/>
              </a:lnSpc>
            </a:pPr>
            <a:r>
              <a:rPr lang="en-US" altLang="ko-KR" dirty="0" smtClean="0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 altLang="ko-KR" dirty="0" smtClean="0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 altLang="ko-KR" dirty="0" smtClean="0"/>
              <a:t>Fourth level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0355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lang="en-US" altLang="ko-KR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lang="en-US" altLang="ko-KR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lang="en-US" altLang="ko-KR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lang="en-US" altLang="ko-KR" sz="11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2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7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20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278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Abstraction</a:t>
            </a:r>
          </a:p>
          <a:p>
            <a:r>
              <a:rPr lang="en-US" altLang="ko-KR" dirty="0" smtClean="0"/>
              <a:t>Introduction</a:t>
            </a:r>
          </a:p>
          <a:p>
            <a:r>
              <a:rPr lang="en-US" altLang="ko-KR" dirty="0" smtClean="0"/>
              <a:t>Related works</a:t>
            </a:r>
          </a:p>
          <a:p>
            <a:r>
              <a:rPr lang="en-US" altLang="ko-KR" dirty="0" smtClean="0"/>
              <a:t>Contribution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539552" y="3933056"/>
            <a:ext cx="5688632" cy="569219"/>
          </a:xfrm>
        </p:spPr>
        <p:txBody>
          <a:bodyPr/>
          <a:lstStyle/>
          <a:p>
            <a:r>
              <a:rPr lang="en-US" altLang="ko-KR" b="0" dirty="0"/>
              <a:t>SegNet: A Deep Convolutional</a:t>
            </a:r>
          </a:p>
          <a:p>
            <a:r>
              <a:rPr lang="en-US" altLang="ko-KR" b="0" dirty="0"/>
              <a:t>Encoder-Decoder Architecture for Image</a:t>
            </a:r>
          </a:p>
          <a:p>
            <a:r>
              <a:rPr lang="en-US" altLang="ko-KR" b="0" dirty="0"/>
              <a:t>Segmentation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899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Abstraction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encoder network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decoder network, classification layer</a:t>
            </a:r>
            <a:r>
              <a:rPr lang="ko-KR" altLang="en-US" dirty="0" smtClean="0"/>
              <a:t>로 구성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encoder</a:t>
            </a:r>
            <a:r>
              <a:rPr lang="ko-KR" altLang="en-US" dirty="0" smtClean="0"/>
              <a:t>에서 사용했던 </a:t>
            </a:r>
            <a:r>
              <a:rPr lang="en-US" altLang="ko-KR" dirty="0" smtClean="0"/>
              <a:t>pooling </a:t>
            </a:r>
            <a:r>
              <a:rPr lang="en-US" altLang="ko-KR" dirty="0" err="1" smtClean="0"/>
              <a:t>indice</a:t>
            </a:r>
            <a:r>
              <a:rPr lang="ko-KR" altLang="en-US" dirty="0" smtClean="0"/>
              <a:t>를 대응하는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할 때 사용하여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에서 학습이 </a:t>
            </a:r>
            <a:r>
              <a:rPr lang="ko-KR" altLang="en-US" dirty="0" err="1" smtClean="0"/>
              <a:t>필요없어짐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그 후</a:t>
            </a:r>
            <a:r>
              <a:rPr lang="en-US" altLang="ko-KR" dirty="0" smtClean="0"/>
              <a:t>, dense prediction</a:t>
            </a:r>
            <a:r>
              <a:rPr lang="ko-KR" altLang="en-US" dirty="0" smtClean="0"/>
              <a:t>을 위해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을 통하여 </a:t>
            </a:r>
            <a:r>
              <a:rPr lang="en-US" altLang="ko-KR" dirty="0" smtClean="0"/>
              <a:t>output</a:t>
            </a:r>
            <a:r>
              <a:rPr lang="ko-KR" altLang="en-US" dirty="0" smtClean="0"/>
              <a:t>을 세밀화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은 다른 모델보다 훈련시킬 </a:t>
            </a:r>
            <a:r>
              <a:rPr lang="en-US" altLang="ko-KR" dirty="0" smtClean="0"/>
              <a:t>parameter</a:t>
            </a:r>
            <a:r>
              <a:rPr lang="ko-KR" altLang="en-US" dirty="0" smtClean="0"/>
              <a:t>가 적어 계산속도가 빠르며 메모리 측면에서도 효율적인 강점을 가짐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Abstraction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639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Background and Feature</a:t>
            </a:r>
          </a:p>
          <a:p>
            <a:pPr lvl="1">
              <a:buSzPct val="100000"/>
            </a:pPr>
            <a:r>
              <a:rPr lang="ko-KR" altLang="en-US" dirty="0" smtClean="0"/>
              <a:t>픽셀 단위 예측에서 행하는 </a:t>
            </a:r>
            <a:r>
              <a:rPr lang="en-US" altLang="ko-KR" dirty="0" smtClean="0"/>
              <a:t>sub-sampling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max pooling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output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feature</a:t>
            </a:r>
            <a:r>
              <a:rPr lang="ko-KR" altLang="en-US" dirty="0" smtClean="0"/>
              <a:t>를 모호하게 만들고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이를 해결하고자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고안하게 됨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길</a:t>
            </a:r>
            <a:r>
              <a:rPr lang="en-US" altLang="ko-KR" dirty="0" smtClean="0"/>
              <a:t>, </a:t>
            </a:r>
            <a:r>
              <a:rPr lang="ko-KR" altLang="en-US" dirty="0" smtClean="0"/>
              <a:t>건물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차량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보행자 등의 다양한 </a:t>
            </a:r>
            <a:r>
              <a:rPr lang="en-US" altLang="ko-KR" dirty="0" smtClean="0"/>
              <a:t>class</a:t>
            </a:r>
            <a:r>
              <a:rPr lang="ko-KR" altLang="en-US" dirty="0" smtClean="0"/>
              <a:t>를 가지는 도로 장면에서 작은 크기를 가진 객체들의 경계를 명확히 구분하는 능력이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에 요구됨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VGG16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convolutional layer</a:t>
            </a:r>
            <a:r>
              <a:rPr lang="ko-KR" altLang="en-US" dirty="0" smtClean="0"/>
              <a:t>와 위상적으로 동일</a:t>
            </a:r>
            <a:endParaRPr lang="en-US" altLang="ko-KR" dirty="0" smtClean="0"/>
          </a:p>
          <a:p>
            <a:pPr>
              <a:buSzPct val="100000"/>
            </a:pPr>
            <a:r>
              <a:rPr lang="en-US" altLang="ko-KR" dirty="0" smtClean="0"/>
              <a:t>Method</a:t>
            </a:r>
          </a:p>
          <a:p>
            <a:pPr lvl="1">
              <a:buSzPct val="100000"/>
            </a:pPr>
            <a:r>
              <a:rPr lang="ko-KR" altLang="en-US" dirty="0" smtClean="0"/>
              <a:t>본 논문은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decoding </a:t>
            </a:r>
            <a:r>
              <a:rPr lang="ko-KR" altLang="en-US" dirty="0" smtClean="0"/>
              <a:t>기법과 </a:t>
            </a:r>
            <a:r>
              <a:rPr lang="en-US" altLang="ko-KR" dirty="0" smtClean="0"/>
              <a:t>Fully Convolutional Network (FCN)</a:t>
            </a:r>
            <a:r>
              <a:rPr lang="ko-KR" altLang="en-US" dirty="0"/>
              <a:t> </a:t>
            </a:r>
            <a:r>
              <a:rPr lang="ko-KR" altLang="en-US" dirty="0" smtClean="0"/>
              <a:t>을 비교 분석하여 </a:t>
            </a:r>
            <a:r>
              <a:rPr lang="en-US" altLang="ko-KR" dirty="0" smtClean="0"/>
              <a:t>segmentation architecture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trade-off</a:t>
            </a:r>
            <a:r>
              <a:rPr lang="ko-KR" altLang="en-US" dirty="0" smtClean="0"/>
              <a:t>를 설명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본 논문에서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의 성능을 나타내기 위해 </a:t>
            </a:r>
            <a:r>
              <a:rPr lang="en-US" altLang="ko-KR" dirty="0" err="1" smtClean="0"/>
              <a:t>CamVid</a:t>
            </a:r>
            <a:r>
              <a:rPr lang="en-US" altLang="ko-KR" dirty="0" smtClean="0"/>
              <a:t> </a:t>
            </a:r>
            <a:r>
              <a:rPr lang="ko-KR" altLang="en-US" dirty="0" smtClean="0"/>
              <a:t>도로 장면과 </a:t>
            </a:r>
            <a:r>
              <a:rPr lang="en-US" altLang="ko-KR" dirty="0" smtClean="0"/>
              <a:t>SUN RGB-D </a:t>
            </a:r>
            <a:r>
              <a:rPr lang="ko-KR" altLang="en-US" dirty="0" smtClean="0"/>
              <a:t>실내 장면을 사용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Introduction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1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Related works</a:t>
            </a:r>
          </a:p>
          <a:p>
            <a:pPr lvl="1">
              <a:buSzPct val="100000"/>
            </a:pPr>
            <a:r>
              <a:rPr lang="en-US" altLang="ko-KR" dirty="0" smtClean="0"/>
              <a:t>Convolutional neural network</a:t>
            </a:r>
            <a:r>
              <a:rPr lang="ko-KR" altLang="en-US" dirty="0" smtClean="0"/>
              <a:t>가 객체 분류에 성공적인 결과를 도출 함에 따라</a:t>
            </a:r>
            <a:r>
              <a:rPr lang="en-US" altLang="ko-KR" dirty="0"/>
              <a:t> </a:t>
            </a:r>
            <a:r>
              <a:rPr lang="ko-KR" altLang="en-US" dirty="0" smtClean="0"/>
              <a:t>해당 신경망들을 </a:t>
            </a:r>
            <a:r>
              <a:rPr lang="en-US" altLang="ko-KR" dirty="0" smtClean="0"/>
              <a:t>segmentation</a:t>
            </a:r>
            <a:r>
              <a:rPr lang="ko-KR" altLang="en-US" dirty="0"/>
              <a:t> </a:t>
            </a:r>
            <a:r>
              <a:rPr lang="en-US" altLang="ko-KR" dirty="0" smtClean="0"/>
              <a:t>problem</a:t>
            </a:r>
            <a:r>
              <a:rPr lang="ko-KR" altLang="en-US" dirty="0" smtClean="0"/>
              <a:t>에 적용하려는 시도가 있었지만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결과로 나온 </a:t>
            </a:r>
            <a:r>
              <a:rPr lang="en-US" altLang="ko-KR" dirty="0" smtClean="0"/>
              <a:t>segmentation</a:t>
            </a:r>
            <a:r>
              <a:rPr lang="ko-KR" altLang="en-US" dirty="0" smtClean="0"/>
              <a:t>이 객체의 경계가 아닌 블록의 경계를 가짐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upsampli</a:t>
            </a:r>
            <a:r>
              <a:rPr lang="en-US" altLang="ko-KR" dirty="0" err="1"/>
              <a:t>n</a:t>
            </a:r>
            <a:r>
              <a:rPr lang="en-US" altLang="ko-KR" dirty="0" err="1" smtClean="0"/>
              <a:t>g</a:t>
            </a:r>
            <a:r>
              <a:rPr lang="ko-KR" altLang="en-US" dirty="0" smtClean="0"/>
              <a:t>시 학습이 필요하고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신경망수가 늘어나 </a:t>
            </a:r>
            <a:r>
              <a:rPr lang="en-US" altLang="ko-KR" dirty="0" smtClean="0"/>
              <a:t>end-to-end </a:t>
            </a:r>
            <a:r>
              <a:rPr lang="ko-KR" altLang="en-US" dirty="0" smtClean="0"/>
              <a:t>학습에 시간이 다소 소요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또한 </a:t>
            </a:r>
            <a:r>
              <a:rPr lang="en-US" altLang="ko-KR" dirty="0" smtClean="0"/>
              <a:t>FCN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skip architecture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에서 도출된 </a:t>
            </a:r>
            <a:r>
              <a:rPr lang="en-US" altLang="ko-KR" dirty="0" smtClean="0"/>
              <a:t>map</a:t>
            </a:r>
            <a:r>
              <a:rPr lang="ko-KR" altLang="en-US" dirty="0" smtClean="0"/>
              <a:t>을 저장했다가 재사용하기 때문에 </a:t>
            </a:r>
            <a:r>
              <a:rPr lang="en-US" altLang="ko-KR" dirty="0" smtClean="0"/>
              <a:t>memory </a:t>
            </a:r>
            <a:r>
              <a:rPr lang="ko-KR" altLang="en-US" dirty="0" smtClean="0"/>
              <a:t>측면에서 비효율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Recurrent Neural Network (RNN)</a:t>
            </a:r>
            <a:r>
              <a:rPr lang="ko-KR" altLang="en-US" dirty="0" smtClean="0"/>
              <a:t>을 더하여 세밀한 경계를 도출한 결과가 존재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Related works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454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구조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smtClean="0"/>
              <a:t>Encoder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filter bank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한 후</a:t>
            </a:r>
            <a:r>
              <a:rPr lang="en-US" altLang="ko-KR" dirty="0" smtClean="0"/>
              <a:t>, batch normalization, </a:t>
            </a:r>
            <a:r>
              <a:rPr lang="en-US" altLang="ko-KR" dirty="0" err="1" smtClean="0"/>
              <a:t>ReLU</a:t>
            </a:r>
            <a:r>
              <a:rPr lang="ko-KR" altLang="en-US" dirty="0"/>
              <a:t> </a:t>
            </a:r>
            <a:r>
              <a:rPr lang="ko-KR" altLang="en-US" dirty="0" smtClean="0"/>
              <a:t>적용</a:t>
            </a:r>
            <a:r>
              <a:rPr lang="en-US" altLang="ko-KR" dirty="0" smtClean="0"/>
              <a:t>, max-pooling</a:t>
            </a:r>
            <a:r>
              <a:rPr lang="ko-KR" altLang="en-US" dirty="0" smtClean="0"/>
              <a:t>이 순차적으로 일어남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Decoder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을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한 후</a:t>
            </a:r>
            <a:r>
              <a:rPr lang="en-US" altLang="ko-KR" dirty="0" smtClean="0"/>
              <a:t>, filter bank</a:t>
            </a:r>
            <a:r>
              <a:rPr lang="ko-KR" altLang="en-US" dirty="0"/>
              <a:t> </a:t>
            </a:r>
            <a:r>
              <a:rPr lang="en-US" altLang="ko-KR" dirty="0" smtClean="0"/>
              <a:t>convolution, batch normalization</a:t>
            </a:r>
            <a:r>
              <a:rPr lang="ko-KR" altLang="en-US" dirty="0" smtClean="0"/>
              <a:t>의 과정을 거침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Decoder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filter bank</a:t>
            </a:r>
            <a:r>
              <a:rPr lang="ko-KR" altLang="en-US" dirty="0" smtClean="0"/>
              <a:t>는 훈련을 통하여 </a:t>
            </a:r>
            <a:r>
              <a:rPr lang="en-US" altLang="ko-KR" dirty="0" smtClean="0"/>
              <a:t>parameter</a:t>
            </a:r>
            <a:r>
              <a:rPr lang="ko-KR" altLang="en-US" dirty="0" smtClean="0"/>
              <a:t>가 변경될 수 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마지막 </a:t>
            </a:r>
            <a:r>
              <a:rPr lang="en-US" altLang="ko-KR" dirty="0" smtClean="0"/>
              <a:t>decoder layer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output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multi-channel</a:t>
            </a:r>
            <a:r>
              <a:rPr lang="ko-KR" altLang="en-US" dirty="0" smtClean="0"/>
              <a:t>을 가진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을 도출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최종적으로 </a:t>
            </a:r>
            <a:r>
              <a:rPr lang="en-US" altLang="ko-KR" dirty="0" smtClean="0"/>
              <a:t>multi-channel feature map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soft-max </a:t>
            </a:r>
            <a:r>
              <a:rPr lang="ko-KR" altLang="en-US" dirty="0" smtClean="0"/>
              <a:t>함수를 거쳐 지정했던 </a:t>
            </a:r>
            <a:r>
              <a:rPr lang="en-US" altLang="ko-KR" dirty="0" smtClean="0"/>
              <a:t>class</a:t>
            </a:r>
            <a:r>
              <a:rPr lang="ko-KR" altLang="en-US" dirty="0" smtClean="0"/>
              <a:t>의 수만큼의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을 가진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이 결과로 나옴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365104"/>
            <a:ext cx="8154726" cy="2492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987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과의 차이점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encoder output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으로 전달할 때</a:t>
            </a:r>
            <a:r>
              <a:rPr lang="en-US" altLang="ko-KR" dirty="0" smtClean="0"/>
              <a:t>, channel</a:t>
            </a:r>
            <a:r>
              <a:rPr lang="ko-KR" altLang="en-US" dirty="0" smtClean="0"/>
              <a:t>의 차원수를 감소시키고  </a:t>
            </a:r>
            <a:r>
              <a:rPr lang="en-US" altLang="ko-KR" dirty="0" smtClean="0"/>
              <a:t>inverse convolution(deconvolution)</a:t>
            </a:r>
            <a:r>
              <a:rPr lang="ko-KR" altLang="en-US" dirty="0" smtClean="0"/>
              <a:t>으로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을 진행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에서 기억했던 </a:t>
            </a:r>
            <a:r>
              <a:rPr lang="en-US" altLang="ko-KR" dirty="0" smtClean="0"/>
              <a:t>pooling indices</a:t>
            </a:r>
            <a:r>
              <a:rPr lang="ko-KR" altLang="en-US" dirty="0" smtClean="0"/>
              <a:t>를 이용하여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한 후</a:t>
            </a:r>
            <a:r>
              <a:rPr lang="en-US" altLang="ko-KR" dirty="0" smtClean="0"/>
              <a:t>, </a:t>
            </a:r>
            <a:r>
              <a:rPr lang="ko-KR" altLang="en-US" dirty="0" err="1"/>
              <a:t>훈련가능한</a:t>
            </a:r>
            <a:r>
              <a:rPr lang="ko-KR" altLang="en-US" dirty="0"/>
              <a:t> </a:t>
            </a:r>
            <a:r>
              <a:rPr lang="en-US" altLang="ko-KR" dirty="0"/>
              <a:t>filter bank</a:t>
            </a:r>
            <a:r>
              <a:rPr lang="ko-KR" altLang="en-US" dirty="0"/>
              <a:t>를 </a:t>
            </a:r>
            <a:r>
              <a:rPr lang="ko-KR" altLang="en-US" dirty="0" smtClean="0"/>
              <a:t>사용하</a:t>
            </a:r>
            <a:r>
              <a:rPr lang="ko-KR" altLang="en-US" dirty="0"/>
              <a:t>여</a:t>
            </a:r>
            <a:r>
              <a:rPr lang="ko-KR" altLang="en-US" dirty="0" smtClean="0"/>
              <a:t>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하여 </a:t>
            </a:r>
            <a:r>
              <a:rPr lang="en-US" altLang="ko-KR" dirty="0" smtClean="0"/>
              <a:t>densifying</a:t>
            </a: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140968"/>
            <a:ext cx="6558034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1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ontrol_works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WI Black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1492</TotalTime>
  <Words>389</Words>
  <Application>Microsoft Office PowerPoint</Application>
  <PresentationFormat>화면 슬라이드 쇼(4:3)</PresentationFormat>
  <Paragraphs>37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8" baseType="lpstr">
      <vt:lpstr>control_works</vt:lpstr>
      <vt:lpstr>2_CWI Black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NB09</dc:creator>
  <cp:lastModifiedBy>NB09</cp:lastModifiedBy>
  <cp:revision>28</cp:revision>
  <dcterms:created xsi:type="dcterms:W3CDTF">2020-01-06T00:01:51Z</dcterms:created>
  <dcterms:modified xsi:type="dcterms:W3CDTF">2020-01-08T02:15:58Z</dcterms:modified>
</cp:coreProperties>
</file>