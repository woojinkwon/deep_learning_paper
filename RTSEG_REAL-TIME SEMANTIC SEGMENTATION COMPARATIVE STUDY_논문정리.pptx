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6483" autoAdjust="0"/>
  </p:normalViewPr>
  <p:slideViewPr>
    <p:cSldViewPr>
      <p:cViewPr>
        <p:scale>
          <a:sx n="94" d="100"/>
          <a:sy n="94" d="100"/>
        </p:scale>
        <p:origin x="-1284" y="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66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66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300192" y="3933935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268761"/>
            <a:ext cx="3510457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697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3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/>
        </p:nvSpPr>
        <p:spPr>
          <a:xfrm>
            <a:off x="5748345" y="5063464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6ADBC90-6130-4404-B8FE-3F165ECB9C65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5496" y="9966"/>
            <a:ext cx="9108504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6315433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70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70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7" y="1268760"/>
            <a:ext cx="3510457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251520" y="548680"/>
            <a:ext cx="864096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262344" y="836712"/>
            <a:ext cx="8634791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5748345" y="5063468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1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 smtClean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 smtClean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 smtClean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 smtClean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2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7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ums.fast.ai/t/what-is-iiou-in-semantic-segmentation/5136/2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Abstraction</a:t>
            </a:r>
          </a:p>
          <a:p>
            <a:r>
              <a:rPr lang="en-US" altLang="ko-KR" dirty="0" smtClean="0"/>
              <a:t>Introduction</a:t>
            </a:r>
          </a:p>
          <a:p>
            <a:r>
              <a:rPr lang="en-US" altLang="ko-KR" dirty="0" smtClean="0"/>
              <a:t>Related Works</a:t>
            </a:r>
          </a:p>
          <a:p>
            <a:r>
              <a:rPr lang="en-US" altLang="ko-KR" dirty="0" smtClean="0"/>
              <a:t>Contribution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539552" y="3933056"/>
            <a:ext cx="5688632" cy="569219"/>
          </a:xfrm>
        </p:spPr>
        <p:txBody>
          <a:bodyPr/>
          <a:lstStyle/>
          <a:p>
            <a:r>
              <a:rPr lang="en-US" altLang="ko-KR" b="0" dirty="0" smtClean="0"/>
              <a:t>R</a:t>
            </a:r>
            <a:r>
              <a:rPr lang="en-US" altLang="ko-KR" b="0" dirty="0"/>
              <a:t>T</a:t>
            </a:r>
            <a:r>
              <a:rPr lang="en-US" altLang="ko-KR" b="0" dirty="0" smtClean="0"/>
              <a:t>SEG </a:t>
            </a:r>
            <a:r>
              <a:rPr lang="en-US" altLang="ko-KR" b="0" dirty="0"/>
              <a:t>REAL-TIME SEMANTIC SEGMENTATION COMPARATIVE STUDY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899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959" y="3967311"/>
            <a:ext cx="4772025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Most of Research</a:t>
            </a:r>
          </a:p>
          <a:p>
            <a:pPr lvl="1">
              <a:buSzPct val="100000"/>
            </a:pPr>
            <a:r>
              <a:rPr lang="ko-KR" altLang="en-US" dirty="0" smtClean="0"/>
              <a:t>효율적인 계산보다는 </a:t>
            </a:r>
            <a:r>
              <a:rPr lang="en-US" altLang="ko-KR" dirty="0" smtClean="0"/>
              <a:t>semantic segmentation</a:t>
            </a:r>
            <a:r>
              <a:rPr lang="ko-KR" altLang="en-US" dirty="0" smtClean="0"/>
              <a:t>의 정확도에만 집중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계산 시간 단축에 주안을 둔 </a:t>
            </a:r>
            <a:r>
              <a:rPr lang="en-US" altLang="ko-KR" dirty="0" smtClean="0"/>
              <a:t>research</a:t>
            </a:r>
            <a:r>
              <a:rPr lang="ko-KR" altLang="en-US" dirty="0" smtClean="0"/>
              <a:t>라도 </a:t>
            </a:r>
            <a:r>
              <a:rPr lang="en-US" altLang="ko-KR" dirty="0" smtClean="0"/>
              <a:t>segmentation</a:t>
            </a:r>
            <a:r>
              <a:rPr lang="ko-KR" altLang="en-US" dirty="0" smtClean="0"/>
              <a:t>에 필요한 여러 </a:t>
            </a:r>
            <a:r>
              <a:rPr lang="en-US" altLang="ko-KR" dirty="0" smtClean="0"/>
              <a:t>Architectures</a:t>
            </a:r>
            <a:r>
              <a:rPr lang="ko-KR" altLang="en-US" dirty="0" smtClean="0"/>
              <a:t>의 선택에 대하여 평가하는 방법을 제공하지 않음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 smtClean="0"/>
              <a:t>This Research</a:t>
            </a:r>
          </a:p>
          <a:p>
            <a:pPr lvl="1">
              <a:buSzPct val="100000"/>
            </a:pPr>
            <a:r>
              <a:rPr lang="en-US" altLang="ko-KR" dirty="0" smtClean="0"/>
              <a:t>Feature Extraction Module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Decoding Method</a:t>
            </a:r>
            <a:r>
              <a:rPr lang="ko-KR" altLang="en-US" dirty="0" smtClean="0"/>
              <a:t>로 분리된 </a:t>
            </a:r>
            <a:r>
              <a:rPr lang="en-US" altLang="ko-KR" dirty="0" smtClean="0"/>
              <a:t>real-time semantic segmentation framework</a:t>
            </a:r>
            <a:r>
              <a:rPr lang="ko-KR" altLang="en-US" dirty="0" smtClean="0"/>
              <a:t>을 이용하여 계산 속도와 정확도 사이의 </a:t>
            </a:r>
            <a:r>
              <a:rPr lang="en-US" altLang="ko-KR" dirty="0" smtClean="0"/>
              <a:t>gap</a:t>
            </a:r>
            <a:r>
              <a:rPr lang="ko-KR" altLang="en-US" dirty="0" smtClean="0"/>
              <a:t>을 다룰 것임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오른쪽 그림과 같이 </a:t>
            </a:r>
            <a:r>
              <a:rPr lang="en-US" altLang="ko-KR" dirty="0" smtClean="0"/>
              <a:t>Feature Extraction Module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Decoding</a:t>
            </a:r>
            <a:br>
              <a:rPr lang="en-US" altLang="ko-KR" dirty="0" smtClean="0"/>
            </a:br>
            <a:r>
              <a:rPr lang="en-US" altLang="ko-KR" dirty="0" smtClean="0"/>
              <a:t>Method</a:t>
            </a:r>
            <a:r>
              <a:rPr lang="ko-KR" altLang="en-US" dirty="0" smtClean="0"/>
              <a:t>는 여러 </a:t>
            </a:r>
            <a:r>
              <a:rPr lang="en-US" altLang="ko-KR" dirty="0" smtClean="0"/>
              <a:t>network architecture</a:t>
            </a:r>
            <a:r>
              <a:rPr lang="ko-KR" altLang="en-US" dirty="0" smtClean="0"/>
              <a:t>가 존재하고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본 논문에서는 이들을 </a:t>
            </a:r>
            <a:r>
              <a:rPr lang="en-US" altLang="ko-KR" dirty="0" smtClean="0"/>
              <a:t>Benchmarking</a:t>
            </a:r>
          </a:p>
          <a:p>
            <a:pPr marL="455612" lvl="1" indent="0">
              <a:buSzPct val="100000"/>
              <a:buNone/>
            </a:pPr>
            <a:r>
              <a:rPr lang="en-US" altLang="ko-KR" dirty="0" smtClean="0"/>
              <a:t> 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Abstraction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556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Contributions</a:t>
            </a:r>
          </a:p>
          <a:p>
            <a:pPr lvl="1">
              <a:buSzPct val="100000"/>
            </a:pPr>
            <a:r>
              <a:rPr lang="en-US" altLang="ko-KR" dirty="0" smtClean="0"/>
              <a:t>Segmentation architecture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feature extraction module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decoding </a:t>
            </a:r>
            <a:r>
              <a:rPr lang="en-US" altLang="ko-KR" dirty="0"/>
              <a:t>method(Meta-architecture</a:t>
            </a:r>
            <a:r>
              <a:rPr lang="en-US" altLang="ko-KR" dirty="0" smtClean="0"/>
              <a:t>)</a:t>
            </a:r>
            <a:r>
              <a:rPr lang="ko-KR" altLang="en-US" dirty="0" smtClean="0"/>
              <a:t>로 분리된 형태로 제공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정확도와 계산 속도 사이의 </a:t>
            </a:r>
            <a:r>
              <a:rPr lang="en-US" altLang="ko-KR" dirty="0" smtClean="0"/>
              <a:t>trade-off</a:t>
            </a:r>
            <a:r>
              <a:rPr lang="ko-KR" altLang="en-US" dirty="0" smtClean="0"/>
              <a:t>를 강조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Feature extraction module</a:t>
            </a:r>
            <a:r>
              <a:rPr lang="ko-KR" altLang="en-US" dirty="0" smtClean="0"/>
              <a:t>로 </a:t>
            </a:r>
            <a:r>
              <a:rPr lang="en-US" altLang="ko-KR" dirty="0" err="1" smtClean="0"/>
              <a:t>MobileNet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ShuffleNet</a:t>
            </a:r>
            <a:r>
              <a:rPr lang="ko-KR" altLang="en-US" dirty="0" smtClean="0"/>
              <a:t>을 사용하여 두 개의 독창적인 </a:t>
            </a:r>
            <a:r>
              <a:rPr lang="en-US" altLang="ko-KR" dirty="0" smtClean="0"/>
              <a:t>segmentation architecture </a:t>
            </a:r>
            <a:r>
              <a:rPr lang="ko-KR" altLang="en-US" dirty="0" smtClean="0"/>
              <a:t>설명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302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en-US" altLang="ko-KR" dirty="0" smtClean="0"/>
              <a:t>Long</a:t>
            </a:r>
            <a:r>
              <a:rPr lang="en-US" altLang="ko-KR" dirty="0"/>
              <a:t>, J., Shelhamer, E., Darrell, T.: Fully convolutional networks for </a:t>
            </a:r>
            <a:r>
              <a:rPr lang="en-US" altLang="ko-KR" dirty="0" smtClean="0"/>
              <a:t>semantic segmentation</a:t>
            </a:r>
            <a:r>
              <a:rPr lang="en-US" altLang="ko-KR" dirty="0"/>
              <a:t>. In: CVPR. </a:t>
            </a:r>
            <a:r>
              <a:rPr lang="en-US" altLang="ko-KR" dirty="0" smtClean="0"/>
              <a:t>2015.</a:t>
            </a:r>
          </a:p>
          <a:p>
            <a:pPr lvl="2">
              <a:buSzPct val="100000"/>
            </a:pPr>
            <a:r>
              <a:rPr lang="ko-KR" altLang="en-US" dirty="0" smtClean="0"/>
              <a:t>최초 </a:t>
            </a:r>
            <a:r>
              <a:rPr lang="en-US" altLang="ko-KR" dirty="0" smtClean="0"/>
              <a:t>FCN</a:t>
            </a:r>
            <a:r>
              <a:rPr lang="ko-KR" altLang="en-US" dirty="0" smtClean="0"/>
              <a:t>를 고안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/>
              <a:t>Liang-</a:t>
            </a:r>
            <a:r>
              <a:rPr lang="en-US" altLang="ko-KR" dirty="0" err="1"/>
              <a:t>Chieh</a:t>
            </a:r>
            <a:r>
              <a:rPr lang="en-US" altLang="ko-KR" dirty="0"/>
              <a:t> Chen, George Papandreou, </a:t>
            </a:r>
            <a:r>
              <a:rPr lang="en-US" altLang="ko-KR" dirty="0" err="1"/>
              <a:t>Iasonas</a:t>
            </a:r>
            <a:r>
              <a:rPr lang="en-US" altLang="ko-KR" dirty="0"/>
              <a:t> </a:t>
            </a:r>
            <a:r>
              <a:rPr lang="en-US" altLang="ko-KR" dirty="0" smtClean="0"/>
              <a:t>Kokkinos, Kevin </a:t>
            </a:r>
            <a:r>
              <a:rPr lang="en-US" altLang="ko-KR" dirty="0"/>
              <a:t>Murphy, and Alan L </a:t>
            </a:r>
            <a:r>
              <a:rPr lang="en-US" altLang="ko-KR" dirty="0" err="1"/>
              <a:t>Yuille</a:t>
            </a:r>
            <a:r>
              <a:rPr lang="en-US" altLang="ko-KR" dirty="0"/>
              <a:t>, “</a:t>
            </a:r>
            <a:r>
              <a:rPr lang="en-US" altLang="ko-KR" dirty="0" err="1" smtClean="0"/>
              <a:t>Deeplab</a:t>
            </a:r>
            <a:r>
              <a:rPr lang="en-US" altLang="ko-KR" dirty="0" smtClean="0"/>
              <a:t>: Semantic </a:t>
            </a:r>
            <a:r>
              <a:rPr lang="en-US" altLang="ko-KR" dirty="0"/>
              <a:t>image segmentation with deep </a:t>
            </a:r>
            <a:r>
              <a:rPr lang="en-US" altLang="ko-KR" dirty="0" smtClean="0"/>
              <a:t>convolutional nets</a:t>
            </a:r>
            <a:r>
              <a:rPr lang="en-US" altLang="ko-KR" dirty="0"/>
              <a:t>, </a:t>
            </a:r>
            <a:r>
              <a:rPr lang="en-US" altLang="ko-KR" dirty="0" err="1"/>
              <a:t>atrous</a:t>
            </a:r>
            <a:r>
              <a:rPr lang="en-US" altLang="ko-KR" dirty="0"/>
              <a:t> convolution, and fully connected </a:t>
            </a:r>
            <a:r>
              <a:rPr lang="en-US" altLang="ko-KR" dirty="0" err="1"/>
              <a:t>crfs</a:t>
            </a:r>
            <a:r>
              <a:rPr lang="en-US" altLang="ko-KR" dirty="0" smtClean="0"/>
              <a:t>,” </a:t>
            </a:r>
            <a:r>
              <a:rPr lang="en-US" altLang="ko-KR" dirty="0" err="1" smtClean="0"/>
              <a:t>arXiv</a:t>
            </a:r>
            <a:r>
              <a:rPr lang="en-US" altLang="ko-KR" dirty="0" smtClean="0"/>
              <a:t> </a:t>
            </a:r>
            <a:r>
              <a:rPr lang="en-US" altLang="ko-KR" dirty="0"/>
              <a:t>preprint arXiv:1606.00915, 2016</a:t>
            </a:r>
            <a:r>
              <a:rPr lang="en-US" altLang="ko-KR" dirty="0" smtClean="0"/>
              <a:t>.</a:t>
            </a:r>
          </a:p>
          <a:p>
            <a:pPr lvl="2">
              <a:buSzPct val="100000"/>
            </a:pPr>
            <a:r>
              <a:rPr lang="ko-KR" altLang="en-US" dirty="0" smtClean="0"/>
              <a:t>정확도 개선을 위해 </a:t>
            </a:r>
            <a:r>
              <a:rPr lang="en-US" altLang="ko-KR" dirty="0" smtClean="0"/>
              <a:t>multi-scale approach </a:t>
            </a:r>
            <a:r>
              <a:rPr lang="ko-KR" altLang="en-US" dirty="0" smtClean="0"/>
              <a:t>사</a:t>
            </a:r>
            <a:r>
              <a:rPr lang="ko-KR" altLang="en-US" dirty="0"/>
              <a:t>용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err="1"/>
              <a:t>Guosheng</a:t>
            </a:r>
            <a:r>
              <a:rPr lang="en-US" altLang="ko-KR" dirty="0"/>
              <a:t> Lin, </a:t>
            </a:r>
            <a:r>
              <a:rPr lang="en-US" altLang="ko-KR" dirty="0" err="1"/>
              <a:t>Chunhua</a:t>
            </a:r>
            <a:r>
              <a:rPr lang="en-US" altLang="ko-KR" dirty="0"/>
              <a:t> Shen, Anton van den </a:t>
            </a:r>
            <a:r>
              <a:rPr lang="en-US" altLang="ko-KR" dirty="0" err="1" smtClean="0"/>
              <a:t>Hengel</a:t>
            </a:r>
            <a:r>
              <a:rPr lang="en-US" altLang="ko-KR" dirty="0" smtClean="0"/>
              <a:t>, and </a:t>
            </a:r>
            <a:r>
              <a:rPr lang="en-US" altLang="ko-KR" dirty="0"/>
              <a:t>Ian Reid, “Exploring context with deep </a:t>
            </a:r>
            <a:r>
              <a:rPr lang="en-US" altLang="ko-KR" dirty="0" smtClean="0"/>
              <a:t>structured models </a:t>
            </a:r>
            <a:r>
              <a:rPr lang="en-US" altLang="ko-KR" dirty="0"/>
              <a:t>for semantic segmentation,” </a:t>
            </a:r>
            <a:r>
              <a:rPr lang="en-US" altLang="ko-KR" dirty="0" err="1"/>
              <a:t>arXiv</a:t>
            </a:r>
            <a:r>
              <a:rPr lang="en-US" altLang="ko-KR" dirty="0"/>
              <a:t> </a:t>
            </a:r>
            <a:r>
              <a:rPr lang="en-US" altLang="ko-KR" dirty="0" smtClean="0"/>
              <a:t>preprint arXiv:1603.03183</a:t>
            </a:r>
            <a:r>
              <a:rPr lang="en-US" altLang="ko-KR" dirty="0"/>
              <a:t>, </a:t>
            </a:r>
            <a:r>
              <a:rPr lang="en-US" altLang="ko-KR" dirty="0" smtClean="0"/>
              <a:t>2016.</a:t>
            </a:r>
          </a:p>
          <a:p>
            <a:pPr lvl="2">
              <a:buSzPct val="100000"/>
            </a:pPr>
            <a:r>
              <a:rPr lang="en-US" altLang="ko-KR" dirty="0" smtClean="0"/>
              <a:t>CNN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Conditional Random Field(CRF)</a:t>
            </a:r>
            <a:r>
              <a:rPr lang="ko-KR" altLang="en-US" dirty="0" smtClean="0"/>
              <a:t>를 병합한 </a:t>
            </a:r>
            <a:r>
              <a:rPr lang="en-US" altLang="ko-KR" dirty="0" smtClean="0"/>
              <a:t>structured model</a:t>
            </a:r>
            <a:r>
              <a:rPr lang="ko-KR" altLang="en-US" dirty="0" smtClean="0"/>
              <a:t>을 사용하여 정확도 향상</a:t>
            </a: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Related works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499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Decoding Methods(Meta-Architectures)</a:t>
            </a:r>
          </a:p>
          <a:p>
            <a:pPr lvl="1">
              <a:buSzPct val="100000"/>
            </a:pPr>
            <a:r>
              <a:rPr lang="en-US" altLang="ko-KR" dirty="0" err="1" smtClean="0"/>
              <a:t>SkipNet</a:t>
            </a:r>
            <a:r>
              <a:rPr lang="en-US" altLang="ko-KR" dirty="0" smtClean="0"/>
              <a:t> meta-architecture</a:t>
            </a:r>
          </a:p>
          <a:p>
            <a:pPr lvl="2">
              <a:buSzPct val="100000"/>
            </a:pPr>
            <a:r>
              <a:rPr lang="en-US" altLang="ko-KR" dirty="0" smtClean="0"/>
              <a:t>Deconvolution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이 아닌 </a:t>
            </a:r>
            <a:r>
              <a:rPr lang="en-US" altLang="ko-KR" dirty="0" smtClean="0"/>
              <a:t>label space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heat map</a:t>
            </a:r>
            <a:r>
              <a:rPr lang="ko-KR" altLang="en-US" dirty="0" smtClean="0"/>
              <a:t>에 시행하여 다른 </a:t>
            </a:r>
            <a:r>
              <a:rPr lang="en-US" altLang="ko-KR" dirty="0" smtClean="0"/>
              <a:t>decoding method</a:t>
            </a:r>
            <a:r>
              <a:rPr lang="ko-KR" altLang="en-US" dirty="0" smtClean="0"/>
              <a:t>보다 계산 효율이 뛰어남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고화질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1x1 filter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되어 </a:t>
            </a:r>
            <a:r>
              <a:rPr lang="en-US" altLang="ko-KR" dirty="0" smtClean="0"/>
              <a:t>labelling</a:t>
            </a:r>
            <a:br>
              <a:rPr lang="en-US" altLang="ko-KR" dirty="0" smtClean="0"/>
            </a:br>
            <a:r>
              <a:rPr lang="ko-KR" altLang="en-US" dirty="0" smtClean="0"/>
              <a:t>이 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heat map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1/32 </a:t>
            </a:r>
            <a:r>
              <a:rPr lang="en-US" altLang="ko-KR" dirty="0" err="1" smtClean="0"/>
              <a:t>downsampling</a:t>
            </a:r>
            <a:r>
              <a:rPr lang="ko-KR" altLang="en-US" dirty="0" smtClean="0"/>
              <a:t>되어 </a:t>
            </a:r>
            <a:r>
              <a:rPr lang="en-US" altLang="ko-KR" dirty="0" smtClean="0"/>
              <a:t>stride 2</a:t>
            </a:r>
            <a:r>
              <a:rPr lang="ko-KR" altLang="en-US" dirty="0" smtClean="0"/>
              <a:t>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deconvolution</a:t>
            </a:r>
          </a:p>
          <a:p>
            <a:pPr lvl="2">
              <a:buSzPct val="100000"/>
            </a:pPr>
            <a:r>
              <a:rPr lang="en-US" altLang="ko-KR" dirty="0" err="1" smtClean="0"/>
              <a:t>Upsampled</a:t>
            </a:r>
            <a:r>
              <a:rPr lang="ko-KR" altLang="en-US" dirty="0" smtClean="0"/>
              <a:t>된 </a:t>
            </a:r>
            <a:r>
              <a:rPr lang="en-US" altLang="ko-KR" dirty="0" smtClean="0"/>
              <a:t>heat map</a:t>
            </a:r>
            <a:r>
              <a:rPr lang="ko-KR" altLang="en-US" dirty="0" smtClean="0"/>
              <a:t>은 이전에 얻은 고화질의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 병합되며 </a:t>
            </a:r>
            <a:r>
              <a:rPr lang="en-US" altLang="ko-KR" dirty="0" smtClean="0"/>
              <a:t>stride 8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deconvolution</a:t>
            </a:r>
            <a:r>
              <a:rPr lang="ko-KR" altLang="en-US" dirty="0" smtClean="0"/>
              <a:t>하여 </a:t>
            </a:r>
            <a:r>
              <a:rPr lang="en-US" altLang="ko-KR" dirty="0" smtClean="0"/>
              <a:t>upsampling</a:t>
            </a:r>
            <a:r>
              <a:rPr lang="ko-KR" altLang="en-US" dirty="0" smtClean="0"/>
              <a:t>됨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Contributions(I)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598751" y="2866415"/>
            <a:ext cx="4415472" cy="267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552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en-US" altLang="ko-KR" dirty="0" smtClean="0"/>
              <a:t>U-Net meta-architecture</a:t>
            </a:r>
          </a:p>
          <a:p>
            <a:pPr lvl="2">
              <a:buSzPct val="100000"/>
            </a:pPr>
            <a:r>
              <a:rPr lang="en-US" altLang="ko-KR" dirty="0" err="1" smtClean="0"/>
              <a:t>Downsamplig</a:t>
            </a:r>
            <a:r>
              <a:rPr lang="ko-KR" altLang="en-US" dirty="0" smtClean="0"/>
              <a:t>에 사용되었던 </a:t>
            </a:r>
            <a:r>
              <a:rPr lang="en-US" altLang="ko-KR" dirty="0" smtClean="0"/>
              <a:t>convolution filter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upsampling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deconvolution</a:t>
            </a:r>
            <a:r>
              <a:rPr lang="ko-KR" altLang="en-US" dirty="0" smtClean="0"/>
              <a:t>하여 대칭을 이루는 구조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Upsampling</a:t>
            </a:r>
            <a:r>
              <a:rPr lang="ko-KR" altLang="en-US" dirty="0" smtClean="0"/>
              <a:t>을 할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대응되는 동일한 화질을 가진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을 병합하여 정확도 향상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err="1" smtClean="0"/>
              <a:t>Upsampled</a:t>
            </a:r>
            <a:r>
              <a:rPr lang="en-US" altLang="ko-KR" dirty="0" smtClean="0"/>
              <a:t> feature map</a:t>
            </a:r>
            <a:r>
              <a:rPr lang="ko-KR" altLang="en-US" dirty="0" smtClean="0"/>
              <a:t>은 마지막에 </a:t>
            </a:r>
            <a:r>
              <a:rPr lang="en-US" altLang="ko-KR" dirty="0" smtClean="0"/>
              <a:t>1x1 convolution</a:t>
            </a:r>
            <a:br>
              <a:rPr lang="en-US" altLang="ko-KR" dirty="0" smtClean="0"/>
            </a:br>
            <a:r>
              <a:rPr lang="ko-KR" altLang="en-US" dirty="0" smtClean="0"/>
              <a:t>을 거쳐 픽셀 단위의 </a:t>
            </a:r>
            <a:r>
              <a:rPr lang="en-US" altLang="ko-KR" dirty="0" smtClean="0"/>
              <a:t>labeling</a:t>
            </a:r>
            <a:r>
              <a:rPr lang="ko-KR" altLang="en-US" dirty="0" smtClean="0"/>
              <a:t>이 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/>
              <a:t>Dilation Frontend meta-architecture</a:t>
            </a:r>
          </a:p>
          <a:p>
            <a:pPr lvl="2">
              <a:buSzPct val="100000"/>
            </a:pPr>
            <a:r>
              <a:rPr lang="en-US" altLang="ko-KR" dirty="0"/>
              <a:t>Dilated convolution</a:t>
            </a:r>
            <a:r>
              <a:rPr lang="ko-KR" altLang="en-US" dirty="0"/>
              <a:t>로</a:t>
            </a:r>
            <a:r>
              <a:rPr lang="en-US" altLang="ko-KR" dirty="0"/>
              <a:t> feature map</a:t>
            </a:r>
            <a:r>
              <a:rPr lang="ko-KR" altLang="en-US" dirty="0"/>
              <a:t>의  몇몇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down </a:t>
            </a:r>
            <a:r>
              <a:rPr lang="en-US" altLang="ko-KR" dirty="0"/>
              <a:t>sampling</a:t>
            </a:r>
            <a:r>
              <a:rPr lang="ko-KR" altLang="en-US" dirty="0"/>
              <a:t>대체하여 화질을 적절하게 유지</a:t>
            </a:r>
            <a:endParaRPr lang="en-US" altLang="ko-KR" dirty="0"/>
          </a:p>
          <a:p>
            <a:pPr lvl="2">
              <a:buSzPct val="100000"/>
            </a:pPr>
            <a:r>
              <a:rPr lang="ko-KR" altLang="en-US" dirty="0"/>
              <a:t>화질 값이 크기 때문에 계산량이 늘어나는 </a:t>
            </a:r>
            <a:r>
              <a:rPr lang="ko-KR" altLang="en-US" dirty="0" smtClean="0"/>
              <a:t>단점을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 </a:t>
            </a:r>
            <a:r>
              <a:rPr lang="ko-KR" altLang="en-US" dirty="0"/>
              <a:t>지님</a:t>
            </a:r>
            <a:endParaRPr lang="en-US" altLang="ko-KR" dirty="0"/>
          </a:p>
          <a:p>
            <a:pPr lvl="2">
              <a:buSzPct val="100000"/>
            </a:pPr>
            <a:r>
              <a:rPr lang="en-US" altLang="ko-KR" dirty="0" err="1"/>
              <a:t>SkipNet</a:t>
            </a:r>
            <a:r>
              <a:rPr lang="ko-KR" altLang="en-US" dirty="0"/>
              <a:t>과 같은 </a:t>
            </a:r>
            <a:r>
              <a:rPr lang="en-US" altLang="ko-KR" dirty="0"/>
              <a:t>1/32 </a:t>
            </a:r>
            <a:r>
              <a:rPr lang="ko-KR" altLang="en-US" dirty="0"/>
              <a:t>로 </a:t>
            </a:r>
            <a:r>
              <a:rPr lang="en-US" altLang="ko-KR" dirty="0"/>
              <a:t>down sampling</a:t>
            </a:r>
            <a:r>
              <a:rPr lang="ko-KR" altLang="en-US" dirty="0"/>
              <a:t>하지 않고</a:t>
            </a:r>
            <a:r>
              <a:rPr lang="en-US" altLang="ko-KR" dirty="0"/>
              <a:t>,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1/8</a:t>
            </a:r>
            <a:r>
              <a:rPr lang="ko-KR" altLang="en-US" dirty="0" smtClean="0"/>
              <a:t> </a:t>
            </a:r>
            <a:r>
              <a:rPr lang="ko-KR" altLang="en-US" dirty="0"/>
              <a:t>로 </a:t>
            </a:r>
            <a:r>
              <a:rPr lang="en-US" altLang="ko-KR" dirty="0"/>
              <a:t>down sampling</a:t>
            </a:r>
          </a:p>
          <a:p>
            <a:pPr marL="455612" lvl="1" indent="0">
              <a:buSzPct val="100000"/>
              <a:buNone/>
            </a:pPr>
            <a:r>
              <a:rPr lang="ko-KR" altLang="en-US" dirty="0" smtClean="0"/>
              <a:t> 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Contributions(II)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94928" y="2322999"/>
            <a:ext cx="4464496" cy="322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724128" y="6021288"/>
            <a:ext cx="3113105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lvl="1" defTabSz="455613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100000"/>
            </a:pPr>
            <a:r>
              <a:rPr lang="en-US" altLang="ko-KR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U-Net 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meta-architecture</a:t>
            </a:r>
            <a:endParaRPr lang="ko-KR" altLang="en-US" sz="1200" dirty="0" smtClean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175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Feature Extraction Architectures</a:t>
            </a:r>
          </a:p>
          <a:p>
            <a:pPr lvl="1">
              <a:buSzPct val="100000"/>
            </a:pPr>
            <a:r>
              <a:rPr lang="en-US" altLang="ko-KR" dirty="0" smtClean="0"/>
              <a:t>VGG16</a:t>
            </a:r>
          </a:p>
          <a:p>
            <a:pPr lvl="2">
              <a:buSzPct val="100000"/>
            </a:pPr>
            <a:r>
              <a:rPr lang="ko-KR" altLang="en-US" dirty="0" smtClean="0"/>
              <a:t>기존의 방식을 대표하는</a:t>
            </a:r>
            <a:r>
              <a:rPr lang="en-US" altLang="ko-KR" dirty="0" smtClean="0"/>
              <a:t>(none real-time) </a:t>
            </a:r>
            <a:r>
              <a:rPr lang="ko-KR" altLang="en-US" dirty="0" smtClean="0"/>
              <a:t>비교대상 </a:t>
            </a:r>
            <a:r>
              <a:rPr lang="en-US" altLang="ko-KR" dirty="0" smtClean="0"/>
              <a:t>architecture</a:t>
            </a:r>
            <a:endParaRPr lang="en-US" altLang="ko-KR" dirty="0"/>
          </a:p>
          <a:p>
            <a:pPr lvl="2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Contributions(III)</a:t>
            </a:r>
            <a:endParaRPr lang="ko-KR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88840"/>
            <a:ext cx="5995893" cy="2659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359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en-US" altLang="ko-KR" dirty="0" smtClean="0"/>
              <a:t>ResNet18</a:t>
            </a:r>
          </a:p>
          <a:p>
            <a:pPr lvl="2">
              <a:buSzPct val="100000"/>
            </a:pPr>
            <a:r>
              <a:rPr lang="ko-KR" altLang="en-US" dirty="0" smtClean="0"/>
              <a:t>오른쪽 그림과 같이</a:t>
            </a:r>
            <a:r>
              <a:rPr lang="en-US" altLang="ko-KR" dirty="0"/>
              <a:t>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convolution layer</a:t>
            </a:r>
            <a:r>
              <a:rPr lang="ko-KR" altLang="en-US" dirty="0" smtClean="0"/>
              <a:t>를 거친 </a:t>
            </a:r>
            <a:r>
              <a:rPr lang="en-US" altLang="ko-KR" dirty="0" smtClean="0"/>
              <a:t>output</a:t>
            </a:r>
            <a:br>
              <a:rPr lang="en-US" altLang="ko-KR" dirty="0" smtClean="0"/>
            </a:br>
            <a:r>
              <a:rPr lang="ko-KR" altLang="en-US" dirty="0" smtClean="0"/>
              <a:t>을 더하여 다음 </a:t>
            </a:r>
            <a:r>
              <a:rPr lang="en-US" altLang="ko-KR" dirty="0" smtClean="0"/>
              <a:t>layer</a:t>
            </a:r>
            <a:r>
              <a:rPr lang="ko-KR" altLang="en-US" dirty="0" smtClean="0"/>
              <a:t>로 입력시키는 </a:t>
            </a:r>
            <a:r>
              <a:rPr lang="en-US" altLang="ko-KR" dirty="0" smtClean="0"/>
              <a:t>residual block</a:t>
            </a:r>
            <a:r>
              <a:rPr lang="ko-KR" altLang="en-US" dirty="0" smtClean="0"/>
              <a:t>을 사용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err="1" smtClean="0"/>
              <a:t>MobileNet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Depth-wise separable convolution</a:t>
            </a:r>
            <a:r>
              <a:rPr lang="ko-KR" altLang="en-US" dirty="0" smtClean="0"/>
              <a:t>을 기초로 함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오른쪽 아래 그림과 같이 각 채널마다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을 따로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추출하는 것이 </a:t>
            </a:r>
            <a:r>
              <a:rPr lang="en-US" altLang="ko-KR" dirty="0" smtClean="0"/>
              <a:t>depth-wise convolution</a:t>
            </a:r>
          </a:p>
          <a:p>
            <a:pPr lvl="2">
              <a:buSzPct val="100000"/>
            </a:pPr>
            <a:r>
              <a:rPr lang="ko-KR" altLang="en-US" dirty="0" smtClean="0"/>
              <a:t>채널마다 </a:t>
            </a:r>
            <a:r>
              <a:rPr lang="en-US" altLang="ko-KR" dirty="0" smtClean="0"/>
              <a:t>filter</a:t>
            </a:r>
            <a:r>
              <a:rPr lang="ko-KR" altLang="en-US" dirty="0" smtClean="0"/>
              <a:t>가 각각 존재하므로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의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channel</a:t>
            </a:r>
            <a:r>
              <a:rPr lang="ko-KR" altLang="en-US" dirty="0"/>
              <a:t> </a:t>
            </a:r>
            <a:r>
              <a:rPr lang="ko-KR" altLang="en-US" dirty="0" smtClean="0"/>
              <a:t>수가 같음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그 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모든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에 대해서 </a:t>
            </a:r>
            <a:r>
              <a:rPr lang="en-US" altLang="ko-KR" dirty="0" smtClean="0"/>
              <a:t>1x1 convolution</a:t>
            </a:r>
            <a:r>
              <a:rPr lang="ko-KR" altLang="en-US" dirty="0" smtClean="0"/>
              <a:t>하여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channel</a:t>
            </a:r>
            <a:r>
              <a:rPr lang="ko-KR" altLang="en-US" dirty="0" smtClean="0"/>
              <a:t>의 수를 조절</a:t>
            </a:r>
            <a:r>
              <a:rPr lang="en-US" altLang="ko-KR" dirty="0" smtClean="0"/>
              <a:t>(Point-wise convolution)</a:t>
            </a:r>
          </a:p>
          <a:p>
            <a:pPr lvl="2">
              <a:buSzPct val="100000"/>
            </a:pPr>
            <a:r>
              <a:rPr lang="en-US" altLang="ko-KR" dirty="0" smtClean="0"/>
              <a:t>Depth-wise separable convolution = </a:t>
            </a:r>
            <a:br>
              <a:rPr lang="en-US" altLang="ko-KR" dirty="0" smtClean="0"/>
            </a:br>
            <a:r>
              <a:rPr lang="en-US" altLang="ko-KR" dirty="0" smtClean="0"/>
              <a:t>depth-wise conv + point-wise conv</a:t>
            </a:r>
          </a:p>
          <a:p>
            <a:pPr lvl="2">
              <a:buSzPct val="100000"/>
            </a:pPr>
            <a:r>
              <a:rPr lang="en-US" altLang="ko-KR" dirty="0" smtClean="0"/>
              <a:t>Channel</a:t>
            </a:r>
            <a:r>
              <a:rPr lang="ko-KR" altLang="en-US" dirty="0" smtClean="0"/>
              <a:t>의 병렬처리로 인하여 일반적 </a:t>
            </a:r>
            <a:r>
              <a:rPr lang="en-US" altLang="ko-KR" dirty="0" smtClean="0"/>
              <a:t>CNN</a:t>
            </a:r>
            <a:r>
              <a:rPr lang="ko-KR" altLang="en-US" dirty="0" smtClean="0"/>
              <a:t>보다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계산량이 적음</a:t>
            </a:r>
            <a:endParaRPr lang="en-US" altLang="ko-KR" dirty="0" smtClean="0"/>
          </a:p>
          <a:p>
            <a:pPr lvl="2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</a:t>
            </a:r>
            <a:r>
              <a:rPr lang="en-US" altLang="ko-KR" dirty="0"/>
              <a:t>I</a:t>
            </a:r>
            <a:r>
              <a:rPr lang="en-US" altLang="ko-KR" dirty="0" smtClean="0"/>
              <a:t>V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6348983" y="620688"/>
            <a:ext cx="2327473" cy="2376264"/>
            <a:chOff x="6276975" y="1328936"/>
            <a:chExt cx="2867025" cy="3740546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37"/>
            <a:stretch/>
          </p:blipFill>
          <p:spPr bwMode="auto">
            <a:xfrm>
              <a:off x="6276975" y="1328936"/>
              <a:ext cx="2867025" cy="35488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6774383" y="4730928"/>
              <a:ext cx="18722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Residual block</a:t>
              </a:r>
              <a:endParaRPr lang="ko-KR" altLang="en-US" sz="1600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6036555" y="3356992"/>
            <a:ext cx="2952328" cy="2828057"/>
            <a:chOff x="6036555" y="3356992"/>
            <a:chExt cx="2952328" cy="2828057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6555" y="3356992"/>
              <a:ext cx="2952328" cy="2618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6180571" y="5877272"/>
              <a:ext cx="28083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Depth-wise convolution</a:t>
              </a:r>
              <a:endPara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993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en-US" altLang="ko-KR" dirty="0" err="1" smtClean="0"/>
              <a:t>ShuffleNet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Grouped convolution</a:t>
            </a:r>
            <a:r>
              <a:rPr lang="ko-KR" altLang="en-US" dirty="0" smtClean="0"/>
              <a:t>을 사용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Grouped convolution</a:t>
            </a:r>
            <a:r>
              <a:rPr lang="ko-KR" altLang="en-US" dirty="0" smtClean="0"/>
              <a:t>은 앞서 언급된 </a:t>
            </a:r>
            <a:r>
              <a:rPr lang="en-US" altLang="ko-KR" dirty="0" smtClean="0"/>
              <a:t>depth-wise separable convolution</a:t>
            </a:r>
            <a:r>
              <a:rPr lang="ko-KR" altLang="en-US" dirty="0" smtClean="0"/>
              <a:t>의 일반적 경우로</a:t>
            </a:r>
            <a:r>
              <a:rPr lang="en-US" altLang="ko-KR" dirty="0" smtClean="0"/>
              <a:t>,</a:t>
            </a:r>
            <a:r>
              <a:rPr lang="en-US" altLang="ko-KR" dirty="0"/>
              <a:t>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을 그룹으로 나누어 각 그룹마다 </a:t>
            </a:r>
            <a:r>
              <a:rPr lang="en-US" altLang="ko-KR" dirty="0" smtClean="0"/>
              <a:t>filter</a:t>
            </a:r>
            <a:r>
              <a:rPr lang="ko-KR" altLang="en-US" dirty="0" smtClean="0"/>
              <a:t>가 존재</a:t>
            </a:r>
            <a:r>
              <a:rPr lang="en-US" altLang="ko-KR" dirty="0" smtClean="0"/>
              <a:t>(depth-wise</a:t>
            </a:r>
            <a:r>
              <a:rPr lang="ko-KR" altLang="en-US" dirty="0" smtClean="0"/>
              <a:t>의 경우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마다 독립적 </a:t>
            </a:r>
            <a:r>
              <a:rPr lang="en-US" altLang="ko-KR" dirty="0" smtClean="0"/>
              <a:t>filter</a:t>
            </a:r>
            <a:r>
              <a:rPr lang="ko-KR" altLang="en-US" dirty="0" smtClean="0"/>
              <a:t>를 두었다면</a:t>
            </a:r>
            <a:r>
              <a:rPr lang="en-US" altLang="ko-KR" dirty="0" smtClean="0"/>
              <a:t>, grouped</a:t>
            </a:r>
            <a:r>
              <a:rPr lang="ko-KR" altLang="en-US" dirty="0" smtClean="0"/>
              <a:t>는 여러 개의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에 독립적 </a:t>
            </a:r>
            <a:r>
              <a:rPr lang="en-US" altLang="ko-KR" dirty="0" smtClean="0"/>
              <a:t>filter</a:t>
            </a:r>
            <a:r>
              <a:rPr lang="ko-KR" altLang="en-US" dirty="0" smtClean="0"/>
              <a:t>를 둠</a:t>
            </a:r>
            <a:r>
              <a:rPr lang="en-US" altLang="ko-KR" dirty="0" smtClean="0"/>
              <a:t>)</a:t>
            </a:r>
          </a:p>
          <a:p>
            <a:pPr lvl="2">
              <a:buSzPct val="100000"/>
            </a:pPr>
            <a:r>
              <a:rPr lang="ko-KR" altLang="en-US" dirty="0" smtClean="0"/>
              <a:t>병렬처리에 유리하고 일반적 </a:t>
            </a:r>
            <a:r>
              <a:rPr lang="en-US" altLang="ko-KR" dirty="0" smtClean="0"/>
              <a:t>CNN</a:t>
            </a:r>
            <a:r>
              <a:rPr lang="ko-KR" altLang="en-US" dirty="0" smtClean="0"/>
              <a:t>보다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의 수가 적다는 장점을 지님</a:t>
            </a:r>
            <a:endParaRPr lang="en-US" altLang="ko-KR" dirty="0" smtClean="0"/>
          </a:p>
          <a:p>
            <a:pPr lvl="2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Contributions(V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153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ko-KR" altLang="en-US" dirty="0" smtClean="0"/>
              <a:t>결과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err="1" smtClean="0"/>
              <a:t>UNet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Dilation</a:t>
            </a:r>
            <a:r>
              <a:rPr lang="ko-KR" altLang="en-US" dirty="0" smtClean="0"/>
              <a:t>보다 정확도가 더 높음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err="1" smtClean="0"/>
              <a:t>UNet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SkipNet</a:t>
            </a:r>
            <a:r>
              <a:rPr lang="ko-KR" altLang="en-US" dirty="0" smtClean="0"/>
              <a:t>은 비슷한 정확도를 가짐</a:t>
            </a:r>
            <a:endParaRPr lang="en-US" altLang="ko-KR" dirty="0" smtClean="0"/>
          </a:p>
          <a:p>
            <a:pPr lvl="2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endParaRPr lang="en-US" altLang="ko-KR" dirty="0"/>
          </a:p>
          <a:p>
            <a:pPr lvl="2">
              <a:buSzPct val="100000"/>
            </a:pPr>
            <a:endParaRPr lang="en-US" altLang="ko-KR" dirty="0" smtClean="0"/>
          </a:p>
          <a:p>
            <a:pPr marL="914400" lvl="2" indent="0">
              <a:buSzPct val="100000"/>
              <a:buNone/>
            </a:pP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Contributions(VI)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96752"/>
            <a:ext cx="9144000" cy="2274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096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984250" lvl="1">
              <a:buSzPct val="100000"/>
            </a:pPr>
            <a:endParaRPr lang="en-US" altLang="ko-KR" dirty="0" smtClean="0"/>
          </a:p>
          <a:p>
            <a:pPr marL="1543050" lvl="2">
              <a:buSzPct val="100000"/>
            </a:pPr>
            <a:endParaRPr lang="en-US" altLang="ko-KR" dirty="0" smtClean="0"/>
          </a:p>
          <a:p>
            <a:pPr marL="1543050" lvl="2">
              <a:buSzPct val="100000"/>
            </a:pPr>
            <a:endParaRPr lang="en-US" altLang="ko-KR" dirty="0"/>
          </a:p>
          <a:p>
            <a:pPr marL="1543050" lvl="2">
              <a:buSzPct val="100000"/>
            </a:pPr>
            <a:endParaRPr lang="en-US" altLang="ko-KR" dirty="0" smtClean="0"/>
          </a:p>
          <a:p>
            <a:pPr marL="1543050" lvl="2">
              <a:buSzPct val="100000"/>
            </a:pPr>
            <a:r>
              <a:rPr lang="en-US" altLang="ko-KR" dirty="0" smtClean="0"/>
              <a:t>FLOPs : </a:t>
            </a:r>
            <a:r>
              <a:rPr lang="ko-KR" altLang="en-US" dirty="0" smtClean="0"/>
              <a:t>초당 부동소수점 </a:t>
            </a:r>
            <a:r>
              <a:rPr lang="ko-KR" altLang="en-US" dirty="0" err="1" smtClean="0"/>
              <a:t>연산량으로</a:t>
            </a:r>
            <a:r>
              <a:rPr lang="ko-KR" altLang="en-US" dirty="0" smtClean="0"/>
              <a:t> </a:t>
            </a:r>
            <a:r>
              <a:rPr lang="en-US" altLang="ko-KR" dirty="0" smtClean="0"/>
              <a:t>,1 GFLOPs</a:t>
            </a:r>
            <a:r>
              <a:rPr lang="ko-KR" altLang="en-US" dirty="0" smtClean="0"/>
              <a:t>는 초당 </a:t>
            </a:r>
            <a:r>
              <a:rPr lang="en-US" altLang="ko-KR" dirty="0" smtClean="0"/>
              <a:t>10</a:t>
            </a:r>
            <a:r>
              <a:rPr lang="ko-KR" altLang="en-US" dirty="0" err="1"/>
              <a:t>억</a:t>
            </a:r>
            <a:r>
              <a:rPr lang="ko-KR" altLang="en-US" dirty="0" err="1" smtClean="0"/>
              <a:t>개의</a:t>
            </a:r>
            <a:r>
              <a:rPr lang="ko-KR" altLang="en-US" dirty="0" smtClean="0"/>
              <a:t> 부동소수점을 처리</a:t>
            </a:r>
            <a:endParaRPr lang="en-US" altLang="ko-KR" dirty="0" smtClean="0"/>
          </a:p>
          <a:p>
            <a:pPr marL="1543050" lvl="2">
              <a:buSzPct val="100000"/>
            </a:pPr>
            <a:r>
              <a:rPr lang="en-US" altLang="ko-KR" dirty="0" smtClean="0"/>
              <a:t>*</a:t>
            </a:r>
            <a:r>
              <a:rPr lang="en-US" altLang="ko-KR" dirty="0" err="1" smtClean="0"/>
              <a:t>iIoU</a:t>
            </a:r>
            <a:r>
              <a:rPr lang="en-US" altLang="ko-KR" dirty="0" smtClean="0"/>
              <a:t> : </a:t>
            </a:r>
            <a:r>
              <a:rPr lang="ko-KR" altLang="en-US" dirty="0" smtClean="0"/>
              <a:t>기존 </a:t>
            </a:r>
            <a:r>
              <a:rPr lang="en-US" altLang="ko-KR" dirty="0" err="1" smtClean="0"/>
              <a:t>IoU</a:t>
            </a:r>
            <a:r>
              <a:rPr lang="en-US" altLang="ko-KR" dirty="0" smtClean="0"/>
              <a:t> 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iTP</a:t>
            </a:r>
            <a:r>
              <a:rPr lang="en-US" altLang="ko-KR" dirty="0" smtClean="0"/>
              <a:t> / (</a:t>
            </a:r>
            <a:r>
              <a:rPr lang="en-US" altLang="ko-KR" dirty="0" err="1" smtClean="0"/>
              <a:t>iTP+iFP+iFN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이고 </a:t>
            </a:r>
            <a:r>
              <a:rPr lang="en-US" altLang="ko-KR" dirty="0" err="1" smtClean="0"/>
              <a:t>iIoU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iTP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iFN</a:t>
            </a:r>
            <a:r>
              <a:rPr lang="ko-KR" altLang="en-US" dirty="0" smtClean="0"/>
              <a:t>을 계산할 때 각 픽셀에 가중치를 가중치를 둔 것</a:t>
            </a:r>
            <a:endParaRPr lang="en-US" altLang="ko-KR" dirty="0" smtClean="0"/>
          </a:p>
          <a:p>
            <a:pPr marL="1543050" lvl="2">
              <a:buSzPct val="100000"/>
            </a:pPr>
            <a:r>
              <a:rPr lang="en-US" altLang="ko-KR" dirty="0" err="1" smtClean="0"/>
              <a:t>iTP</a:t>
            </a:r>
            <a:r>
              <a:rPr lang="en-US" altLang="ko-KR" dirty="0" smtClean="0"/>
              <a:t> , </a:t>
            </a:r>
            <a:r>
              <a:rPr lang="en-US" altLang="ko-KR" dirty="0" err="1" smtClean="0"/>
              <a:t>iFP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iFN</a:t>
            </a:r>
            <a:r>
              <a:rPr lang="en-US" altLang="ko-KR" dirty="0" smtClean="0"/>
              <a:t> : </a:t>
            </a:r>
            <a:r>
              <a:rPr lang="ko-KR" altLang="en-US" dirty="0" smtClean="0"/>
              <a:t>각각 </a:t>
            </a:r>
            <a:r>
              <a:rPr lang="en-US" altLang="ko-KR" dirty="0" smtClean="0"/>
              <a:t>true positive, false positive, false negative</a:t>
            </a:r>
            <a:r>
              <a:rPr lang="ko-KR" altLang="en-US" dirty="0" smtClean="0"/>
              <a:t>으로 실제 양성을 양성이라고 판단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실제 양성을 음성이라고 판단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실제 음성을 양성이라고 판단한 </a:t>
            </a:r>
            <a:r>
              <a:rPr lang="en-US" altLang="ko-KR" dirty="0" smtClean="0"/>
              <a:t>pixel</a:t>
            </a:r>
            <a:r>
              <a:rPr lang="ko-KR" altLang="en-US" dirty="0" smtClean="0"/>
              <a:t>의 수</a:t>
            </a:r>
            <a:endParaRPr lang="en-US" altLang="ko-KR" dirty="0" smtClean="0"/>
          </a:p>
          <a:p>
            <a:pPr marL="1543050" lvl="2">
              <a:buSzPct val="100000"/>
            </a:pPr>
            <a:r>
              <a:rPr lang="en-US" altLang="ko-KR" dirty="0" err="1" smtClean="0"/>
              <a:t>SkipNet-MobileNet</a:t>
            </a:r>
            <a:r>
              <a:rPr lang="ko-KR" altLang="en-US" dirty="0" smtClean="0"/>
              <a:t>이 속도와 정확도에서 모두 </a:t>
            </a:r>
            <a:r>
              <a:rPr lang="en-US" altLang="ko-KR" dirty="0" err="1" smtClean="0"/>
              <a:t>ENet</a:t>
            </a:r>
            <a:r>
              <a:rPr lang="ko-KR" altLang="en-US" dirty="0" smtClean="0"/>
              <a:t>을 능가함</a:t>
            </a:r>
            <a:endParaRPr lang="en-US" altLang="ko-KR" dirty="0" smtClean="0"/>
          </a:p>
          <a:p>
            <a:pPr marL="1543050" lvl="2">
              <a:buSzPct val="100000"/>
            </a:pPr>
            <a:endParaRPr lang="en-US" altLang="ko-KR" dirty="0"/>
          </a:p>
          <a:p>
            <a:pPr marL="1543050" lvl="2">
              <a:buSzPct val="100000"/>
            </a:pPr>
            <a:endParaRPr lang="en-US" altLang="ko-KR" dirty="0"/>
          </a:p>
          <a:p>
            <a:pPr marL="984250" lvl="1">
              <a:buSzPct val="100000"/>
            </a:pPr>
            <a:endParaRPr lang="en-US" altLang="ko-KR" dirty="0" smtClean="0"/>
          </a:p>
          <a:p>
            <a:pPr marL="984250" lvl="1">
              <a:buSzPct val="100000"/>
            </a:pPr>
            <a:endParaRPr lang="en-US" altLang="ko-KR" dirty="0"/>
          </a:p>
          <a:p>
            <a:pPr marL="984250"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Contributions(VI</a:t>
            </a:r>
            <a:r>
              <a:rPr lang="en-US" altLang="ko-KR" dirty="0"/>
              <a:t>I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01" y="620688"/>
            <a:ext cx="692467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9512" y="6237312"/>
            <a:ext cx="62646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>
                <a:latin typeface="+mn-ea"/>
              </a:rPr>
              <a:t>*</a:t>
            </a:r>
            <a:r>
              <a:rPr lang="ko-KR" altLang="en-US" sz="1050" dirty="0" smtClean="0">
                <a:latin typeface="+mn-ea"/>
              </a:rPr>
              <a:t>출처 </a:t>
            </a:r>
            <a:r>
              <a:rPr lang="en-US" altLang="ko-KR" sz="1050" dirty="0" smtClean="0">
                <a:latin typeface="+mn-ea"/>
              </a:rPr>
              <a:t>: </a:t>
            </a:r>
            <a:r>
              <a:rPr lang="en-US" altLang="ko-KR" sz="1050" dirty="0">
                <a:hlinkClick r:id="rId3"/>
              </a:rPr>
              <a:t>https://forums.fast.ai/t/what-is-iiou-in-semantic-segmentation/5136/2</a:t>
            </a:r>
            <a:endParaRPr lang="ko-KR" altLang="en-US" sz="105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3729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ntrol_works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3614</TotalTime>
  <Words>502</Words>
  <Application>Microsoft Office PowerPoint</Application>
  <PresentationFormat>화면 슬라이드 쇼(4:3)</PresentationFormat>
  <Paragraphs>96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control_works</vt:lpstr>
      <vt:lpstr>2_CWI Black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NB09</cp:lastModifiedBy>
  <cp:revision>130</cp:revision>
  <dcterms:created xsi:type="dcterms:W3CDTF">2020-01-06T00:01:51Z</dcterms:created>
  <dcterms:modified xsi:type="dcterms:W3CDTF">2020-01-17T08:07:03Z</dcterms:modified>
</cp:coreProperties>
</file>