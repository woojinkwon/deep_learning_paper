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media/image3.png" ContentType="image/png"/>
  <Override PartName="/ppt/media/image1.png" ContentType="image/png"/>
  <Override PartName="/ppt/media/image2.png" ContentType="image/png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entation.xml" ContentType="application/vnd.openxmlformats-officedocument.presentationml.presentation.main+xml"/>
  <Override PartName="/ppt/theme/theme2.xml" ContentType="application/vnd.openxmlformats-officedocument.theme+xml"/>
  <Override PartName="/ppt/theme/theme1.xml" ContentType="application/vnd.openxmlformats-officedocument.theme+xml"/>
  <Override PartName="/ppt/slideLayouts/_rels/slideLayout2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6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3132000" y="6453360"/>
            <a:ext cx="6011280" cy="40392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" name="CustomShape 2"/>
          <p:cNvSpPr/>
          <p:nvPr/>
        </p:nvSpPr>
        <p:spPr>
          <a:xfrm>
            <a:off x="0" y="6453360"/>
            <a:ext cx="3131280" cy="403920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CustomShape 3"/>
          <p:cNvSpPr/>
          <p:nvPr/>
        </p:nvSpPr>
        <p:spPr>
          <a:xfrm>
            <a:off x="0" y="6548040"/>
            <a:ext cx="2914920" cy="21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Khand"/>
              </a:rPr>
              <a:t>Copyright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Khand Medium"/>
              </a:rPr>
              <a:t>ⓒ ControlWorks. 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Khand"/>
              </a:rPr>
              <a:t>All rights reserved.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" name="Line 4"/>
          <p:cNvSpPr/>
          <p:nvPr/>
        </p:nvSpPr>
        <p:spPr>
          <a:xfrm>
            <a:off x="6300000" y="3933720"/>
            <a:ext cx="360" cy="2303280"/>
          </a:xfrm>
          <a:prstGeom prst="line">
            <a:avLst/>
          </a:prstGeom>
          <a:ln w="15840">
            <a:solidFill>
              <a:srgbClr val="000099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" name="Picture 2" descr=""/>
          <p:cNvPicPr/>
          <p:nvPr/>
        </p:nvPicPr>
        <p:blipFill>
          <a:blip r:embed="rId2"/>
          <a:stretch/>
        </p:blipFill>
        <p:spPr>
          <a:xfrm>
            <a:off x="5382360" y="1268640"/>
            <a:ext cx="3509640" cy="583920"/>
          </a:xfrm>
          <a:prstGeom prst="rect">
            <a:avLst/>
          </a:prstGeom>
          <a:ln>
            <a:noFill/>
          </a:ln>
        </p:spPr>
      </p:pic>
      <p:sp>
        <p:nvSpPr>
          <p:cNvPr id="5" name="PlaceHolder 5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US" sz="4400" spc="-1" strike="noStrike">
                <a:latin typeface="Arial"/>
              </a:rPr>
              <a:t>C</a:t>
            </a:r>
            <a:r>
              <a:rPr b="0" lang="en-US" sz="4400" spc="-1" strike="noStrike">
                <a:latin typeface="Arial"/>
              </a:rPr>
              <a:t>l</a:t>
            </a:r>
            <a:r>
              <a:rPr b="0" lang="en-US" sz="4400" spc="-1" strike="noStrike">
                <a:latin typeface="Arial"/>
              </a:rPr>
              <a:t>i</a:t>
            </a:r>
            <a:r>
              <a:rPr b="0" lang="en-US" sz="4400" spc="-1" strike="noStrike">
                <a:latin typeface="Arial"/>
              </a:rPr>
              <a:t>c</a:t>
            </a:r>
            <a:r>
              <a:rPr b="0" lang="en-US" sz="4400" spc="-1" strike="noStrike">
                <a:latin typeface="Arial"/>
              </a:rPr>
              <a:t>k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o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e</a:t>
            </a:r>
            <a:r>
              <a:rPr b="0" lang="en-US" sz="4400" spc="-1" strike="noStrike">
                <a:latin typeface="Arial"/>
              </a:rPr>
              <a:t>d</a:t>
            </a:r>
            <a:r>
              <a:rPr b="0" lang="en-US" sz="4400" spc="-1" strike="noStrike">
                <a:latin typeface="Arial"/>
              </a:rPr>
              <a:t>i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h</a:t>
            </a:r>
            <a:r>
              <a:rPr b="0" lang="en-US" sz="4400" spc="-1" strike="noStrike">
                <a:latin typeface="Arial"/>
              </a:rPr>
              <a:t>e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i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l</a:t>
            </a:r>
            <a:r>
              <a:rPr b="0" lang="en-US" sz="4400" spc="-1" strike="noStrike">
                <a:latin typeface="Arial"/>
              </a:rPr>
              <a:t>e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e</a:t>
            </a:r>
            <a:r>
              <a:rPr b="0" lang="en-US" sz="4400" spc="-1" strike="noStrike">
                <a:latin typeface="Arial"/>
              </a:rPr>
              <a:t>x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f</a:t>
            </a:r>
            <a:r>
              <a:rPr b="0" lang="en-US" sz="4400" spc="-1" strike="noStrike">
                <a:latin typeface="Arial"/>
              </a:rPr>
              <a:t>o</a:t>
            </a:r>
            <a:r>
              <a:rPr b="0" lang="en-US" sz="4400" spc="-1" strike="noStrike">
                <a:latin typeface="Arial"/>
              </a:rPr>
              <a:t>r</a:t>
            </a:r>
            <a:r>
              <a:rPr b="0" lang="en-US" sz="4400" spc="-1" strike="noStrike">
                <a:latin typeface="Arial"/>
              </a:rPr>
              <a:t>m</a:t>
            </a:r>
            <a:r>
              <a:rPr b="0" lang="en-US" sz="4400" spc="-1" strike="noStrike">
                <a:latin typeface="Arial"/>
              </a:rPr>
              <a:t>a</a:t>
            </a:r>
            <a:r>
              <a:rPr b="0" lang="en-US" sz="4400" spc="-1" strike="noStrike">
                <a:latin typeface="Arial"/>
              </a:rPr>
              <a:t>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6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/>
          <p:cNvSpPr/>
          <p:nvPr/>
        </p:nvSpPr>
        <p:spPr>
          <a:xfrm>
            <a:off x="3132000" y="6453360"/>
            <a:ext cx="6011280" cy="40392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" name="CustomShape 2"/>
          <p:cNvSpPr/>
          <p:nvPr/>
        </p:nvSpPr>
        <p:spPr>
          <a:xfrm>
            <a:off x="0" y="6453360"/>
            <a:ext cx="3131280" cy="403920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" name="CustomShape 3"/>
          <p:cNvSpPr/>
          <p:nvPr/>
        </p:nvSpPr>
        <p:spPr>
          <a:xfrm>
            <a:off x="0" y="6548040"/>
            <a:ext cx="2914920" cy="21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Khand"/>
              </a:rPr>
              <a:t>Copyright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Khand Medium"/>
              </a:rPr>
              <a:t>ⓒ ControlWorks. 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Khand"/>
              </a:rPr>
              <a:t>All rights reserved.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6" name="CustomShape 4"/>
          <p:cNvSpPr/>
          <p:nvPr/>
        </p:nvSpPr>
        <p:spPr>
          <a:xfrm>
            <a:off x="0" y="6491520"/>
            <a:ext cx="9143280" cy="376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fld id="{938107A1-DAC5-4086-92D4-6AEDFE91FB90}" type="slidenum">
              <a:rPr b="0" lang="en-US" sz="1100" spc="-1" strike="noStrike">
                <a:solidFill>
                  <a:srgbClr val="000099"/>
                </a:solidFill>
                <a:latin typeface="Arial"/>
                <a:ea typeface="Univers LT Std 45 Light"/>
              </a:rPr>
              <a:t>&lt;number&gt;</a:t>
            </a:fld>
            <a:endParaRPr b="0" lang="en-US" sz="1100" spc="-1" strike="noStrike">
              <a:latin typeface="Arial"/>
            </a:endParaRPr>
          </a:p>
        </p:txBody>
      </p:sp>
      <p:sp>
        <p:nvSpPr>
          <p:cNvPr id="47" name="CustomShape 5"/>
          <p:cNvSpPr/>
          <p:nvPr/>
        </p:nvSpPr>
        <p:spPr>
          <a:xfrm>
            <a:off x="4342320" y="6500160"/>
            <a:ext cx="458280" cy="310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fld id="{36EE8546-F8D9-4623-85D6-8E33D2C0FE8E}" type="slidenum">
              <a:rPr b="0" lang="en-US" sz="1000" spc="-1" strike="noStrike">
                <a:solidFill>
                  <a:srgbClr val="ffffff"/>
                </a:solidFill>
                <a:latin typeface="Arial"/>
                <a:ea typeface="맑은 고딕"/>
              </a:rPr>
              <a:t>&lt;number&gt;</a:t>
            </a:fld>
            <a:endParaRPr b="0" lang="en-US" sz="1000" spc="-1" strike="noStrike">
              <a:latin typeface="Arial"/>
            </a:endParaRPr>
          </a:p>
        </p:txBody>
      </p:sp>
      <p:sp>
        <p:nvSpPr>
          <p:cNvPr id="48" name="Line 6"/>
          <p:cNvSpPr/>
          <p:nvPr/>
        </p:nvSpPr>
        <p:spPr>
          <a:xfrm>
            <a:off x="0" y="548640"/>
            <a:ext cx="9144000" cy="360"/>
          </a:xfrm>
          <a:prstGeom prst="line">
            <a:avLst/>
          </a:prstGeom>
          <a:ln w="38160">
            <a:solidFill>
              <a:srgbClr val="000099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9" name="Picture 2" descr=""/>
          <p:cNvPicPr/>
          <p:nvPr/>
        </p:nvPicPr>
        <p:blipFill>
          <a:blip r:embed="rId2"/>
          <a:stretch/>
        </p:blipFill>
        <p:spPr>
          <a:xfrm>
            <a:off x="7488720" y="6536160"/>
            <a:ext cx="1546560" cy="257040"/>
          </a:xfrm>
          <a:prstGeom prst="rect">
            <a:avLst/>
          </a:prstGeom>
          <a:ln>
            <a:noFill/>
          </a:ln>
        </p:spPr>
      </p:pic>
      <p:sp>
        <p:nvSpPr>
          <p:cNvPr id="50" name="PlaceHolder 7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6395760" y="4005000"/>
            <a:ext cx="2640240" cy="2188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50000"/>
              </a:lnSpc>
              <a:spcBef>
                <a:spcPts val="575"/>
              </a:spcBef>
            </a:pPr>
            <a:r>
              <a:rPr b="0" lang="en-US" sz="1800" spc="-1" strike="noStrike">
                <a:solidFill>
                  <a:srgbClr val="000cf2"/>
                </a:solidFill>
                <a:latin typeface="HY헤드라인M"/>
                <a:ea typeface="HY헤드라인M"/>
              </a:rPr>
              <a:t>측정 환경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50000"/>
              </a:lnSpc>
              <a:spcBef>
                <a:spcPts val="575"/>
              </a:spcBef>
            </a:pPr>
            <a:r>
              <a:rPr b="0" lang="en-US" sz="1800" spc="-1" strike="noStrike">
                <a:solidFill>
                  <a:srgbClr val="000cf2"/>
                </a:solidFill>
                <a:latin typeface="HY헤드라인M"/>
                <a:ea typeface="HY헤드라인M"/>
              </a:rPr>
              <a:t>결과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50000"/>
              </a:lnSpc>
              <a:spcBef>
                <a:spcPts val="575"/>
              </a:spcBef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50000"/>
              </a:lnSpc>
              <a:spcBef>
                <a:spcPts val="575"/>
              </a:spcBef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89" name="CustomShape 2"/>
          <p:cNvSpPr/>
          <p:nvPr/>
        </p:nvSpPr>
        <p:spPr>
          <a:xfrm>
            <a:off x="539640" y="3933000"/>
            <a:ext cx="5688000" cy="568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r">
              <a:lnSpc>
                <a:spcPct val="150000"/>
              </a:lnSpc>
              <a:spcBef>
                <a:spcPts val="575"/>
              </a:spcBef>
            </a:pPr>
            <a:r>
              <a:rPr b="0" lang="en-US" sz="2000" spc="-1" strike="noStrike">
                <a:solidFill>
                  <a:srgbClr val="000099"/>
                </a:solidFill>
                <a:latin typeface="HY헤드라인M"/>
                <a:ea typeface="HY헤드라인M"/>
              </a:rPr>
              <a:t>SegNet Computation Time at TX2 &amp; NANO</a:t>
            </a:r>
            <a:endParaRPr b="0" lang="en-US" sz="2000" spc="-1" strike="noStrike">
              <a:latin typeface="Arial"/>
            </a:endParaRPr>
          </a:p>
        </p:txBody>
      </p:sp>
    </p:spTree>
  </p:cSld>
  <p:transition>
    <p:fade/>
  </p:transition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ustomShape 1"/>
          <p:cNvSpPr/>
          <p:nvPr/>
        </p:nvSpPr>
        <p:spPr>
          <a:xfrm>
            <a:off x="179640" y="736560"/>
            <a:ext cx="8481600" cy="538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marL="343080" indent="-342360">
              <a:lnSpc>
                <a:spcPct val="150000"/>
              </a:lnSpc>
              <a:spcBef>
                <a:spcPts val="575"/>
              </a:spcBef>
              <a:buClr>
                <a:srgbClr val="000af2"/>
              </a:buClr>
              <a:buFont typeface="맑은 고딕"/>
              <a:buChar char="■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맑은 고딕"/>
              </a:rPr>
              <a:t>Input image</a:t>
            </a:r>
            <a:endParaRPr b="0" lang="en-US" sz="2000" spc="-1" strike="noStrike">
              <a:latin typeface="Arial"/>
            </a:endParaRPr>
          </a:p>
          <a:p>
            <a:pPr lvl="1" marL="432000" indent="-216000">
              <a:lnSpc>
                <a:spcPct val="15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맑은 고딕"/>
              </a:rPr>
              <a:t>322.8kB, .jpeg</a:t>
            </a:r>
            <a:endParaRPr b="0" lang="en-US" sz="2000" spc="-1" strike="noStrike">
              <a:latin typeface="Arial"/>
            </a:endParaRPr>
          </a:p>
          <a:p>
            <a:pPr lvl="1" marL="432000" indent="-216000">
              <a:lnSpc>
                <a:spcPct val="15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맑은 고딕"/>
              </a:rPr>
              <a:t>1024x512 pixel</a:t>
            </a:r>
            <a:endParaRPr b="0" lang="en-US" sz="2000" spc="-1" strike="noStrike">
              <a:latin typeface="Arial"/>
            </a:endParaRPr>
          </a:p>
          <a:p>
            <a:pPr lvl="1" marL="432000" indent="-216000">
              <a:lnSpc>
                <a:spcPct val="15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latin typeface="Arial"/>
            </a:endParaRPr>
          </a:p>
          <a:p>
            <a:pPr lvl="1" marL="432000" indent="-216000">
              <a:lnSpc>
                <a:spcPct val="15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latin typeface="Arial"/>
            </a:endParaRPr>
          </a:p>
          <a:p>
            <a:pPr marL="343080" indent="-342360">
              <a:lnSpc>
                <a:spcPct val="150000"/>
              </a:lnSpc>
              <a:spcBef>
                <a:spcPts val="575"/>
              </a:spcBef>
              <a:buClr>
                <a:srgbClr val="000af2"/>
              </a:buClr>
              <a:buFont typeface="맑은 고딕"/>
              <a:buChar char="■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맑은 고딕"/>
              </a:rPr>
              <a:t>측정시간</a:t>
            </a:r>
            <a:endParaRPr b="0" lang="en-US" sz="2000" spc="-1" strike="noStrike">
              <a:latin typeface="Arial"/>
            </a:endParaRPr>
          </a:p>
          <a:p>
            <a:pPr lvl="1" marL="432000" indent="-216000">
              <a:lnSpc>
                <a:spcPct val="15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맑은 고딕"/>
              </a:rPr>
              <a:t>여러 모델에 대해서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맑은 고딕"/>
              </a:rPr>
              <a:t>CPU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맑은 고딕"/>
              </a:rPr>
              <a:t>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맑은 고딕"/>
              </a:rPr>
              <a:t>CUDA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맑은 고딕"/>
              </a:rPr>
              <a:t>의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맑은 고딕"/>
              </a:rPr>
              <a:t>total time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맑은 고딕"/>
              </a:rPr>
              <a:t>측정</a:t>
            </a:r>
            <a:endParaRPr b="0" lang="en-US" sz="2000" spc="-1" strike="noStrike">
              <a:latin typeface="Arial"/>
            </a:endParaRPr>
          </a:p>
          <a:p>
            <a:pPr lvl="1" marL="432000" indent="-216000">
              <a:lnSpc>
                <a:spcPct val="15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맑은 고딕"/>
              </a:rPr>
              <a:t>Total time = pre-process + Network + Post-process + Visualize</a:t>
            </a:r>
            <a:endParaRPr b="0" lang="en-US" sz="2000" spc="-1" strike="noStrike">
              <a:latin typeface="Arial"/>
            </a:endParaRPr>
          </a:p>
          <a:p>
            <a:pPr lvl="1" marL="432000" indent="-216000">
              <a:lnSpc>
                <a:spcPct val="15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맑은 고딕"/>
              </a:rPr>
              <a:t>10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맑은 고딕"/>
              </a:rPr>
              <a:t>번의 결과에 대해서 평균값을 비교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50000"/>
              </a:lnSpc>
              <a:spcBef>
                <a:spcPts val="575"/>
              </a:spcBef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91" name="CustomShape 2"/>
          <p:cNvSpPr/>
          <p:nvPr/>
        </p:nvSpPr>
        <p:spPr>
          <a:xfrm>
            <a:off x="179280" y="0"/>
            <a:ext cx="8964000" cy="535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>
              <a:lnSpc>
                <a:spcPct val="150000"/>
              </a:lnSpc>
              <a:spcBef>
                <a:spcPts val="575"/>
              </a:spcBef>
            </a:pPr>
            <a:r>
              <a:rPr b="1" lang="en-US" sz="2400" spc="-1" strike="noStrike">
                <a:solidFill>
                  <a:srgbClr val="000cf2"/>
                </a:solidFill>
                <a:latin typeface="Arial"/>
                <a:ea typeface="HY헤드라인M"/>
              </a:rPr>
              <a:t>측정환경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4480560" y="1005840"/>
            <a:ext cx="4572000" cy="2286000"/>
          </a:xfrm>
          <a:prstGeom prst="rect">
            <a:avLst/>
          </a:prstGeom>
          <a:ln>
            <a:noFill/>
          </a:ln>
        </p:spPr>
      </p:pic>
    </p:spTree>
  </p:cSld>
  <p:transition>
    <p:fade/>
  </p:transition>
  <p:timing>
    <p:tnLst>
      <p:par>
        <p:cTn id="3" dur="indefinite" restart="never" nodeType="tmRoot">
          <p:childTnLst>
            <p:seq>
              <p:cTn id="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CustomShape 1"/>
          <p:cNvSpPr/>
          <p:nvPr/>
        </p:nvSpPr>
        <p:spPr>
          <a:xfrm>
            <a:off x="179640" y="736560"/>
            <a:ext cx="8481600" cy="538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CustomShape 2"/>
          <p:cNvSpPr/>
          <p:nvPr/>
        </p:nvSpPr>
        <p:spPr>
          <a:xfrm>
            <a:off x="179280" y="0"/>
            <a:ext cx="8964000" cy="535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>
              <a:lnSpc>
                <a:spcPct val="150000"/>
              </a:lnSpc>
              <a:spcBef>
                <a:spcPts val="575"/>
              </a:spcBef>
            </a:pPr>
            <a:r>
              <a:rPr b="1" lang="en-US" sz="2400" spc="-1" strike="noStrike">
                <a:solidFill>
                  <a:srgbClr val="000cf2"/>
                </a:solidFill>
                <a:latin typeface="Arial"/>
                <a:ea typeface="HY헤드라인M"/>
              </a:rPr>
              <a:t>결과 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95" name="Table 3"/>
          <p:cNvGraphicFramePr/>
          <p:nvPr/>
        </p:nvGraphicFramePr>
        <p:xfrm>
          <a:off x="640080" y="908280"/>
          <a:ext cx="7863840" cy="5039280"/>
        </p:xfrm>
        <a:graphic>
          <a:graphicData uri="http://schemas.openxmlformats.org/drawingml/2006/table">
            <a:tbl>
              <a:tblPr/>
              <a:tblGrid>
                <a:gridCol w="3482280"/>
                <a:gridCol w="1095120"/>
                <a:gridCol w="1095120"/>
                <a:gridCol w="1095120"/>
                <a:gridCol w="1095840"/>
              </a:tblGrid>
              <a:tr h="719640"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 gridSpan="2">
                  <a:txBody>
                    <a:bodyPr lIns="90000" rIns="90000" tIns="46800" bIns="46800" anchor="ctr"/>
                    <a:p>
                      <a:pPr algn="ctr"/>
                      <a:r>
                        <a:rPr b="0" lang="en-US" sz="1800" spc="-1" strike="noStrike">
                          <a:latin typeface="Arial"/>
                        </a:rPr>
                        <a:t>CPU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 hMerge="1"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 gridSpan="2">
                  <a:txBody>
                    <a:bodyPr lIns="90000" rIns="90000" tIns="46800" bIns="46800" anchor="ctr"/>
                    <a:p>
                      <a:pPr algn="ctr"/>
                      <a:r>
                        <a:rPr b="0" lang="en-US" sz="1800" spc="-1" strike="noStrike">
                          <a:latin typeface="Arial"/>
                        </a:rPr>
                        <a:t>CUDA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 hMerge="1"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719640"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ctr"/>
                    <a:p>
                      <a:pPr algn="ctr"/>
                      <a:r>
                        <a:rPr b="0" lang="en-US" sz="1800" spc="-1" strike="noStrike">
                          <a:latin typeface="Arial"/>
                        </a:rPr>
                        <a:t>TX2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ctr"/>
                    <a:p>
                      <a:pPr algn="ctr"/>
                      <a:r>
                        <a:rPr b="0" lang="en-US" sz="1800" spc="-1" strike="noStrike">
                          <a:latin typeface="Arial"/>
                        </a:rPr>
                        <a:t>NANO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ctr"/>
                    <a:p>
                      <a:pPr algn="ctr"/>
                      <a:r>
                        <a:rPr b="0" lang="en-US" sz="1800" spc="-1" strike="noStrike">
                          <a:latin typeface="Arial"/>
                        </a:rPr>
                        <a:t>TX2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ctr"/>
                    <a:p>
                      <a:pPr algn="ctr"/>
                      <a:r>
                        <a:rPr b="0" lang="en-US" sz="1800" spc="-1" strike="noStrike">
                          <a:latin typeface="Arial"/>
                        </a:rPr>
                        <a:t>NANO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719640">
                <a:tc>
                  <a:txBody>
                    <a:bodyPr lIns="90000" rIns="90000" tIns="46800" bIns="46800" anchor="ctr"/>
                    <a:p>
                      <a:pPr algn="ctr"/>
                      <a:r>
                        <a:rPr b="0" lang="en-US" sz="1800" spc="-1" strike="noStrike">
                          <a:latin typeface="Arial"/>
                        </a:rPr>
                        <a:t>Cityscapes-512x256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 anchor="ctr"/>
                    <a:p>
                      <a:pPr algn="ctr"/>
                      <a:r>
                        <a:rPr b="0" lang="en-US" sz="1800" spc="-1" strike="noStrike">
                          <a:latin typeface="Arial"/>
                        </a:rPr>
                        <a:t>81.2058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 anchor="ctr"/>
                    <a:p>
                      <a:pPr algn="ctr"/>
                      <a:r>
                        <a:rPr b="0" lang="en-US" sz="1800" spc="-1" strike="noStrike">
                          <a:latin typeface="Arial"/>
                        </a:rPr>
                        <a:t>106.168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 anchor="ctr"/>
                    <a:p>
                      <a:pPr algn="ctr"/>
                      <a:r>
                        <a:rPr b="0" lang="en-US" sz="1800" spc="-1" strike="noStrike">
                          <a:latin typeface="Arial"/>
                        </a:rPr>
                        <a:t>135.393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 anchor="ctr"/>
                    <a:p>
                      <a:pPr algn="ctr"/>
                      <a:r>
                        <a:rPr b="0" lang="en-US" sz="1800" spc="-1" strike="noStrike">
                          <a:latin typeface="Arial"/>
                        </a:rPr>
                        <a:t>138.816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719640">
                <a:tc>
                  <a:txBody>
                    <a:bodyPr lIns="90000" rIns="90000" tIns="46800" bIns="46800" anchor="ctr"/>
                    <a:p>
                      <a:pPr algn="ctr"/>
                      <a:r>
                        <a:rPr b="0" lang="en-US" sz="1800" spc="-1" strike="noStrike">
                          <a:latin typeface="Arial"/>
                        </a:rPr>
                        <a:t>Deepscene-864x480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ctr"/>
                    <a:p>
                      <a:pPr algn="ctr"/>
                      <a:r>
                        <a:rPr b="0" lang="en-US" sz="1800" spc="-1" strike="noStrike">
                          <a:latin typeface="Arial"/>
                        </a:rPr>
                        <a:t>105.093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ctr"/>
                    <a:p>
                      <a:pPr algn="ctr"/>
                      <a:r>
                        <a:rPr b="0" lang="en-US" sz="1800" spc="-1" strike="noStrike">
                          <a:latin typeface="Arial"/>
                        </a:rPr>
                        <a:t>204.131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ctr"/>
                    <a:p>
                      <a:pPr algn="ctr"/>
                      <a:r>
                        <a:rPr b="0" lang="en-US" sz="1800" spc="-1" strike="noStrike">
                          <a:latin typeface="Arial"/>
                        </a:rPr>
                        <a:t>131.727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ctr"/>
                    <a:p>
                      <a:pPr algn="ctr"/>
                      <a:r>
                        <a:rPr b="0" lang="en-US" sz="1800" spc="-1" strike="noStrike">
                          <a:latin typeface="Arial"/>
                        </a:rPr>
                        <a:t>230.637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719640">
                <a:tc>
                  <a:txBody>
                    <a:bodyPr lIns="90000" rIns="90000" tIns="46800" bIns="46800" anchor="ctr"/>
                    <a:p>
                      <a:pPr algn="ctr"/>
                      <a:r>
                        <a:rPr b="0" lang="en-US" sz="1800" spc="-1" strike="noStrike">
                          <a:latin typeface="Arial"/>
                        </a:rPr>
                        <a:t>Multi-Human Parsing-640x360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 anchor="ctr"/>
                    <a:p>
                      <a:pPr algn="ctr"/>
                      <a:r>
                        <a:rPr b="0" lang="en-US" sz="1800" spc="-1" strike="noStrike">
                          <a:latin typeface="Arial"/>
                        </a:rPr>
                        <a:t>109.210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 anchor="ctr"/>
                    <a:p>
                      <a:pPr algn="ctr"/>
                      <a:r>
                        <a:rPr b="0" lang="en-US" sz="1800" spc="-1" strike="noStrike">
                          <a:latin typeface="Arial"/>
                        </a:rPr>
                        <a:t>177.704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 anchor="ctr"/>
                    <a:p>
                      <a:pPr algn="ctr"/>
                      <a:r>
                        <a:rPr b="0" lang="en-US" sz="1800" spc="-1" strike="noStrike">
                          <a:latin typeface="Arial"/>
                        </a:rPr>
                        <a:t>143.676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 anchor="ctr"/>
                    <a:p>
                      <a:pPr algn="ctr"/>
                      <a:r>
                        <a:rPr b="0" lang="en-US" sz="1800" spc="-1" strike="noStrike">
                          <a:latin typeface="Arial"/>
                        </a:rPr>
                        <a:t>210.541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719640">
                <a:tc>
                  <a:txBody>
                    <a:bodyPr lIns="90000" rIns="90000" tIns="46800" bIns="46800" anchor="ctr"/>
                    <a:p>
                      <a:pPr algn="ctr"/>
                      <a:r>
                        <a:rPr b="0" lang="en-US" sz="1800" spc="-1" strike="noStrike">
                          <a:latin typeface="Arial"/>
                        </a:rPr>
                        <a:t>Pascal VOC-512x320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ctr"/>
                    <a:p>
                      <a:pPr algn="ctr"/>
                      <a:r>
                        <a:rPr b="0" lang="en-US" sz="1800" spc="-1" strike="noStrike">
                          <a:latin typeface="Arial"/>
                        </a:rPr>
                        <a:t>55.9670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ctr"/>
                    <a:p>
                      <a:pPr algn="ctr"/>
                      <a:r>
                        <a:rPr b="0" lang="en-US" sz="1800" spc="-1" strike="noStrike">
                          <a:latin typeface="Arial"/>
                        </a:rPr>
                        <a:t>113.216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ctr"/>
                    <a:p>
                      <a:pPr algn="ctr"/>
                      <a:r>
                        <a:rPr b="0" lang="en-US" sz="1800" spc="-1" strike="noStrike">
                          <a:latin typeface="Arial"/>
                        </a:rPr>
                        <a:t>88.0884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ctr"/>
                    <a:p>
                      <a:pPr algn="ctr"/>
                      <a:r>
                        <a:rPr b="0" lang="en-US" sz="1800" spc="-1" strike="noStrike">
                          <a:latin typeface="Arial"/>
                        </a:rPr>
                        <a:t>157.992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721800">
                <a:tc>
                  <a:txBody>
                    <a:bodyPr lIns="90000" rIns="90000" tIns="46800" bIns="46800" anchor="ctr"/>
                    <a:p>
                      <a:pPr algn="ctr"/>
                      <a:r>
                        <a:rPr b="0" lang="en-US" sz="1800" spc="-1" strike="noStrike">
                          <a:latin typeface="Arial"/>
                        </a:rPr>
                        <a:t>SUN RGB-D-640x512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 anchor="ctr"/>
                    <a:p>
                      <a:pPr algn="ctr"/>
                      <a:r>
                        <a:rPr b="0" lang="en-US" sz="1800" spc="-1" strike="noStrike">
                          <a:latin typeface="Arial"/>
                        </a:rPr>
                        <a:t>78.1110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 anchor="ctr"/>
                    <a:p>
                      <a:pPr algn="ctr"/>
                      <a:r>
                        <a:rPr b="0" lang="en-US" sz="1800" spc="-1" strike="noStrike">
                          <a:latin typeface="Arial"/>
                        </a:rPr>
                        <a:t>162.175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 anchor="ctr"/>
                    <a:p>
                      <a:pPr algn="ctr"/>
                      <a:r>
                        <a:rPr b="0" lang="en-US" sz="1800" spc="-1" strike="noStrike">
                          <a:latin typeface="Arial"/>
                        </a:rPr>
                        <a:t>103.619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 anchor="ctr"/>
                    <a:p>
                      <a:pPr algn="ctr"/>
                      <a:r>
                        <a:rPr b="0" lang="en-US" sz="1800" spc="-1" strike="noStrike">
                          <a:latin typeface="Arial"/>
                        </a:rPr>
                        <a:t>190.238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sp>
        <p:nvSpPr>
          <p:cNvPr id="96" name="TextShape 4"/>
          <p:cNvSpPr txBox="1"/>
          <p:nvPr/>
        </p:nvSpPr>
        <p:spPr>
          <a:xfrm>
            <a:off x="822960" y="6035040"/>
            <a:ext cx="3749040" cy="4212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US" sz="1800" spc="-1" strike="noStrike">
                <a:latin typeface="Arial"/>
              </a:rPr>
              <a:t>단위 </a:t>
            </a:r>
            <a:r>
              <a:rPr b="0" lang="en-US" sz="1800" spc="-1" strike="noStrike">
                <a:latin typeface="Arial"/>
              </a:rPr>
              <a:t>: ms</a:t>
            </a:r>
            <a:endParaRPr b="0" lang="en-US" sz="1800" spc="-1" strike="noStrike">
              <a:latin typeface="Arial"/>
            </a:endParaRPr>
          </a:p>
        </p:txBody>
      </p:sp>
    </p:spTree>
  </p:cSld>
  <p:transition>
    <p:fade/>
  </p:transition>
  <p:timing>
    <p:tnLst>
      <p:par>
        <p:cTn id="5" dur="indefinite" restart="never" nodeType="tmRoot">
          <p:childTnLst>
            <p:seq>
              <p:cTn id="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a60a3"/>
      </a:dk2>
      <a:lt2>
        <a:srgbClr val="f5f5f5"/>
      </a:lt2>
      <a:accent1>
        <a:srgbClr val="0a60a3"/>
      </a:accent1>
      <a:accent2>
        <a:srgbClr val="93191a"/>
      </a:accent2>
      <a:accent3>
        <a:srgbClr val="79b04e"/>
      </a:accent3>
      <a:accent4>
        <a:srgbClr val="edb72e"/>
      </a:accent4>
      <a:accent5>
        <a:srgbClr val="73aed9"/>
      </a:accent5>
      <a:accent6>
        <a:srgbClr val="de8c2d"/>
      </a:accent6>
      <a:hlink>
        <a:srgbClr val="0a60a3"/>
      </a:hlink>
      <a:folHlink>
        <a:srgbClr val="73aed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a60a3"/>
      </a:dk2>
      <a:lt2>
        <a:srgbClr val="f5f5f5"/>
      </a:lt2>
      <a:accent1>
        <a:srgbClr val="0a60a3"/>
      </a:accent1>
      <a:accent2>
        <a:srgbClr val="93191a"/>
      </a:accent2>
      <a:accent3>
        <a:srgbClr val="79b04e"/>
      </a:accent3>
      <a:accent4>
        <a:srgbClr val="edb72e"/>
      </a:accent4>
      <a:accent5>
        <a:srgbClr val="73aed9"/>
      </a:accent5>
      <a:accent6>
        <a:srgbClr val="de8c2d"/>
      </a:accent6>
      <a:hlink>
        <a:srgbClr val="0a60a3"/>
      </a:hlink>
      <a:folHlink>
        <a:srgbClr val="73aed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control_works</Template>
  <TotalTime>1884</TotalTime>
  <Application>LibreOffice/6.0.7.3$Linux_AARCH64 LibreOffice_project/00m0$Build-3</Application>
  <Words>716</Words>
  <Paragraphs>86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2020-01-06T00:01:51Z</dcterms:created>
  <dc:creator>NB09</dc:creator>
  <dc:description/>
  <dc:language>en-US</dc:language>
  <cp:lastModifiedBy/>
  <dcterms:modified xsi:type="dcterms:W3CDTF">2020-01-20T16:29:38Z</dcterms:modified>
  <cp:revision>91</cp:revision>
  <dc:subject/>
  <dc:title>PowerPoint 프레젠테이션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화면 슬라이드 쇼(4:3)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11</vt:i4>
  </property>
</Properties>
</file>