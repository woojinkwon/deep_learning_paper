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6483" autoAdjust="0"/>
  </p:normalViewPr>
  <p:slideViewPr>
    <p:cSldViewPr>
      <p:cViewPr>
        <p:scale>
          <a:sx n="94" d="100"/>
          <a:sy n="94" d="100"/>
        </p:scale>
        <p:origin x="-128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66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1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66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rgbClr val="000099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6300192" y="3933935"/>
            <a:ext cx="0" cy="2303379"/>
          </a:xfrm>
          <a:prstGeom prst="line">
            <a:avLst/>
          </a:prstGeom>
          <a:ln w="15875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2003201\Downloads\Work\CW\logo png\symbol+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5" y="1268761"/>
            <a:ext cx="3510457" cy="58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1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73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19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14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57697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3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96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16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135"/>
          <p:cNvSpPr txBox="1"/>
          <p:nvPr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/>
        </p:nvSpPr>
        <p:spPr>
          <a:xfrm>
            <a:off x="5748345" y="5063464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/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/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06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6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6ADBC90-6130-4404-B8FE-3F165ECB9C65}" type="datetimeFigureOut">
              <a:rPr lang="ko-KR" altLang="en-US" smtClean="0"/>
              <a:t>2020-01-13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55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35496" y="9966"/>
            <a:ext cx="9108504" cy="6832288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/>
          <p:cNvCxnSpPr/>
          <p:nvPr userDrawn="1"/>
        </p:nvCxnSpPr>
        <p:spPr>
          <a:xfrm>
            <a:off x="6315433" y="3933056"/>
            <a:ext cx="0" cy="216024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70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70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 userDrawn="1"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Shape 22"/>
          <p:cNvSpPr txBox="1"/>
          <p:nvPr userDrawn="1"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  <p:pic>
        <p:nvPicPr>
          <p:cNvPr id="2050" name="Picture 2" descr="C:\Users\2003201\Downloads\Work\CW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7" y="1268760"/>
            <a:ext cx="3510457" cy="58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67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2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5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4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68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9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 userDrawn="1"/>
        </p:nvCxnSpPr>
        <p:spPr>
          <a:xfrm>
            <a:off x="251520" y="548680"/>
            <a:ext cx="864096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39" name="직사각형 38"/>
          <p:cNvSpPr/>
          <p:nvPr userDrawn="1"/>
        </p:nvSpPr>
        <p:spPr>
          <a:xfrm>
            <a:off x="262344" y="836712"/>
            <a:ext cx="8634791" cy="54006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</p:spPr>
        <p:txBody>
          <a:bodyPr/>
          <a:lstStyle>
            <a:lvl1pPr>
              <a:lnSpc>
                <a:spcPct val="160000"/>
              </a:lnSpc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defRPr sz="11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sz="14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</p:txBody>
      </p:sp>
      <p:sp>
        <p:nvSpPr>
          <p:cNvPr id="42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pic>
        <p:nvPicPr>
          <p:cNvPr id="11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1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Shape 135"/>
          <p:cNvSpPr txBox="1"/>
          <p:nvPr userDrawn="1"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 userDrawn="1"/>
        </p:nvSpPr>
        <p:spPr>
          <a:xfrm>
            <a:off x="5748345" y="5063468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>
                <a:solidFill>
                  <a:schemeClr val="bg1"/>
                </a:solidFill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11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9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1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20000"/>
              </a:lnSpc>
              <a:buSzPct val="100000"/>
            </a:pPr>
            <a:r>
              <a:rPr lang="en-US" altLang="ko-KR" dirty="0" smtClean="0"/>
              <a:t>Master text styles</a:t>
            </a:r>
          </a:p>
          <a:p>
            <a:pPr lvl="1">
              <a:lnSpc>
                <a:spcPct val="110000"/>
              </a:lnSpc>
            </a:pPr>
            <a:r>
              <a:rPr lang="en-US" altLang="ko-KR" dirty="0" smtClean="0"/>
              <a:t>Second level</a:t>
            </a:r>
          </a:p>
          <a:p>
            <a:pPr lvl="2">
              <a:lnSpc>
                <a:spcPct val="110000"/>
              </a:lnSpc>
            </a:pPr>
            <a:r>
              <a:rPr lang="en-US" altLang="ko-KR" dirty="0" smtClean="0"/>
              <a:t>Third level</a:t>
            </a:r>
          </a:p>
          <a:p>
            <a:pPr lvl="3">
              <a:lnSpc>
                <a:spcPct val="110000"/>
              </a:lnSpc>
            </a:pPr>
            <a:r>
              <a:rPr lang="en-US" altLang="ko-KR" dirty="0" smtClean="0"/>
              <a:t>Fourth level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0355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lang="en-US" altLang="ko-KR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lang="en-US" altLang="ko-KR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lang="en-US" altLang="ko-KR" sz="14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lang="en-US" altLang="ko-KR" sz="11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2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7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sp>
        <p:nvSpPr>
          <p:cNvPr id="20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27847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Abstraction</a:t>
            </a:r>
          </a:p>
          <a:p>
            <a:r>
              <a:rPr lang="en-US" altLang="ko-KR" dirty="0" smtClean="0"/>
              <a:t>Introduction</a:t>
            </a:r>
          </a:p>
          <a:p>
            <a:r>
              <a:rPr lang="en-US" altLang="ko-KR" dirty="0" smtClean="0"/>
              <a:t>Related Works</a:t>
            </a:r>
          </a:p>
          <a:p>
            <a:r>
              <a:rPr lang="en-US" altLang="ko-KR" dirty="0" smtClean="0"/>
              <a:t>Contribution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539552" y="3933056"/>
            <a:ext cx="5688632" cy="569219"/>
          </a:xfrm>
        </p:spPr>
        <p:txBody>
          <a:bodyPr/>
          <a:lstStyle/>
          <a:p>
            <a:r>
              <a:rPr lang="en-US" altLang="ko-KR" b="0" dirty="0"/>
              <a:t>ICNet for Real-Time Semantic </a:t>
            </a:r>
            <a:r>
              <a:rPr lang="en-US" altLang="ko-KR" b="0" dirty="0" smtClean="0"/>
              <a:t>Segmentation on </a:t>
            </a:r>
            <a:r>
              <a:rPr lang="en-US" altLang="ko-KR" b="0" dirty="0"/>
              <a:t>High-Resolution Images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899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Computation Time</a:t>
            </a:r>
          </a:p>
          <a:p>
            <a:pPr lvl="1">
              <a:buSzPct val="100000"/>
            </a:pPr>
            <a:r>
              <a:rPr lang="en-US" altLang="ko-KR" dirty="0" smtClean="0"/>
              <a:t>Real-time semantic segmentation</a:t>
            </a:r>
            <a:r>
              <a:rPr lang="ko-KR" altLang="en-US" dirty="0" smtClean="0"/>
              <a:t>의 실용적 적용법이 많이 연구되었지만 방대한 계산량을 줄이는데 어려움이 있음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이를 해결하고자</a:t>
            </a:r>
            <a:r>
              <a:rPr lang="en-US" altLang="ko-KR" dirty="0"/>
              <a:t> </a:t>
            </a:r>
            <a:r>
              <a:rPr lang="en-US" altLang="ko-KR" dirty="0" smtClean="0"/>
              <a:t>Multi-resolution branches</a:t>
            </a:r>
            <a:r>
              <a:rPr lang="ko-KR" altLang="en-US" dirty="0" smtClean="0"/>
              <a:t>를 결합한 </a:t>
            </a:r>
            <a:r>
              <a:rPr lang="en-US" altLang="ko-KR" dirty="0"/>
              <a:t>I</a:t>
            </a:r>
            <a:r>
              <a:rPr lang="en-US" altLang="ko-KR" dirty="0" smtClean="0"/>
              <a:t>mage </a:t>
            </a:r>
            <a:r>
              <a:rPr lang="en-US" altLang="ko-KR" dirty="0"/>
              <a:t>C</a:t>
            </a:r>
            <a:r>
              <a:rPr lang="en-US" altLang="ko-KR" dirty="0" smtClean="0"/>
              <a:t>ascade </a:t>
            </a:r>
            <a:r>
              <a:rPr lang="en-US" altLang="ko-KR" dirty="0"/>
              <a:t>N</a:t>
            </a:r>
            <a:r>
              <a:rPr lang="en-US" altLang="ko-KR" dirty="0" smtClean="0"/>
              <a:t>etwork </a:t>
            </a:r>
            <a:r>
              <a:rPr lang="en-US" altLang="ko-KR" dirty="0" smtClean="0"/>
              <a:t>(ICNet)</a:t>
            </a:r>
            <a:r>
              <a:rPr lang="ko-KR" altLang="en-US" dirty="0" smtClean="0"/>
              <a:t>을 고안</a:t>
            </a:r>
            <a:endParaRPr lang="en-US" altLang="ko-KR" dirty="0" smtClean="0"/>
          </a:p>
          <a:p>
            <a:pPr marL="0" indent="0">
              <a:buSzPct val="100000"/>
              <a:buNone/>
            </a:pP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Abstraction</a:t>
            </a:r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738456" y="2780928"/>
            <a:ext cx="7398965" cy="3692153"/>
            <a:chOff x="738456" y="2780928"/>
            <a:chExt cx="7398965" cy="3692153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456" y="2780928"/>
              <a:ext cx="7398965" cy="3528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3491880" y="6165304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ICNet Structure</a:t>
              </a:r>
              <a:endParaRPr lang="ko-KR" altLang="en-US" sz="14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556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Focus and contributions</a:t>
            </a:r>
          </a:p>
          <a:p>
            <a:pPr lvl="1">
              <a:buSzPct val="100000"/>
            </a:pPr>
            <a:r>
              <a:rPr lang="ko-KR" altLang="en-US" dirty="0" smtClean="0"/>
              <a:t>본 논문의 주안점은 정확도가 어느 정도 낮아지지 않으면서 계산 속도를 늘리는 모델을 설계하는 것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고안된 </a:t>
            </a:r>
            <a:r>
              <a:rPr lang="en-US" altLang="ko-KR" dirty="0" smtClean="0"/>
              <a:t>ICNet</a:t>
            </a:r>
            <a:r>
              <a:rPr lang="ko-KR" altLang="en-US" dirty="0" smtClean="0"/>
              <a:t>은 저해상도 이미지의 빠른 처리 시간과 고해상도 이미지의 높은 정확성의 특징을 가짐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저해상도 이미지를 </a:t>
            </a:r>
            <a:r>
              <a:rPr lang="en-US" altLang="ko-KR" dirty="0" smtClean="0"/>
              <a:t>full semantic network</a:t>
            </a:r>
            <a:r>
              <a:rPr lang="ko-KR" altLang="en-US" dirty="0" smtClean="0"/>
              <a:t>로 처리하여 </a:t>
            </a:r>
            <a:r>
              <a:rPr lang="en-US" altLang="ko-KR" dirty="0" smtClean="0"/>
              <a:t>coarse prediction map</a:t>
            </a:r>
            <a:r>
              <a:rPr lang="ko-KR" altLang="en-US" dirty="0" smtClean="0"/>
              <a:t>을 얻고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고해상도 이미지와 결합하여 </a:t>
            </a:r>
            <a:r>
              <a:rPr lang="en-US" altLang="ko-KR" dirty="0" smtClean="0"/>
              <a:t>coarse prediction map</a:t>
            </a:r>
            <a:r>
              <a:rPr lang="ko-KR" altLang="en-US" dirty="0" smtClean="0"/>
              <a:t>을 점진적으로 세밀화시킴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저해상도 이미지와 고해상도 이미지를 결합하는 역할의 </a:t>
            </a:r>
            <a:r>
              <a:rPr lang="en-US" altLang="ko-KR" dirty="0" smtClean="0"/>
              <a:t>unit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cascade feature fusion unit 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cascade label guidance</a:t>
            </a:r>
          </a:p>
          <a:p>
            <a:pPr lvl="1">
              <a:buSzPct val="100000"/>
            </a:pPr>
            <a:r>
              <a:rPr lang="en-US" altLang="ko-KR" dirty="0" smtClean="0"/>
              <a:t>1024X2048 </a:t>
            </a:r>
            <a:r>
              <a:rPr lang="ko-KR" altLang="en-US" dirty="0" smtClean="0"/>
              <a:t>고해상도 이미지를 높은 정확도와 함께 </a:t>
            </a:r>
            <a:r>
              <a:rPr lang="en-US" altLang="ko-KR" dirty="0" smtClean="0"/>
              <a:t>30fps</a:t>
            </a:r>
            <a:r>
              <a:rPr lang="ko-KR" altLang="en-US" dirty="0" smtClean="0"/>
              <a:t>속도로 처리 가능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Introduction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302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High Quality Semantic Segmentation FCN</a:t>
            </a:r>
          </a:p>
          <a:p>
            <a:pPr lvl="1">
              <a:buSzPct val="100000"/>
            </a:pPr>
            <a:r>
              <a:rPr lang="en-US" altLang="ko-KR" dirty="0" smtClean="0"/>
              <a:t>Long</a:t>
            </a:r>
            <a:r>
              <a:rPr lang="en-US" altLang="ko-KR" dirty="0"/>
              <a:t>, J., </a:t>
            </a:r>
            <a:r>
              <a:rPr lang="en-US" altLang="ko-KR" dirty="0"/>
              <a:t>Shelhamer</a:t>
            </a:r>
            <a:r>
              <a:rPr lang="en-US" altLang="ko-KR" dirty="0"/>
              <a:t>, E., Darrell, T.: Fully convolutional networks for </a:t>
            </a:r>
            <a:r>
              <a:rPr lang="en-US" altLang="ko-KR" dirty="0" smtClean="0"/>
              <a:t>semantic segmentation</a:t>
            </a:r>
            <a:r>
              <a:rPr lang="en-US" altLang="ko-KR" dirty="0"/>
              <a:t>. In: CVPR. (2015)</a:t>
            </a:r>
            <a:endParaRPr lang="en-US" altLang="ko-KR" dirty="0" smtClean="0"/>
          </a:p>
          <a:p>
            <a:pPr lvl="2">
              <a:buSzPct val="100000"/>
            </a:pPr>
            <a:r>
              <a:rPr lang="ko-KR" altLang="en-US" dirty="0" smtClean="0"/>
              <a:t>최초 </a:t>
            </a:r>
            <a:r>
              <a:rPr lang="en-US" altLang="ko-KR" dirty="0" smtClean="0"/>
              <a:t>FCN</a:t>
            </a:r>
            <a:r>
              <a:rPr lang="ko-KR" altLang="en-US" dirty="0" smtClean="0"/>
              <a:t>를 고안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DeepLab </a:t>
            </a:r>
            <a:r>
              <a:rPr lang="en-US" altLang="ko-KR" dirty="0"/>
              <a:t>Yu, F., Koltun, V.: Multi-scale context aggregation by dilated convolutions. </a:t>
            </a:r>
            <a:r>
              <a:rPr lang="en-US" altLang="ko-KR" dirty="0" smtClean="0"/>
              <a:t>ICLR (2016)</a:t>
            </a:r>
          </a:p>
          <a:p>
            <a:pPr lvl="2">
              <a:buSzPct val="100000"/>
            </a:pPr>
            <a:r>
              <a:rPr lang="en-US" altLang="ko-KR" dirty="0" smtClean="0"/>
              <a:t>Conv </a:t>
            </a:r>
            <a:r>
              <a:rPr lang="en-US" altLang="ko-KR" dirty="0"/>
              <a:t>filter</a:t>
            </a:r>
            <a:r>
              <a:rPr lang="ko-KR" altLang="en-US" dirty="0" smtClean="0"/>
              <a:t>의 각 픽셀에 간격을 두어 </a:t>
            </a:r>
            <a:r>
              <a:rPr lang="en-US" altLang="ko-KR" dirty="0" smtClean="0"/>
              <a:t>receptive filter</a:t>
            </a:r>
            <a:r>
              <a:rPr lang="ko-KR" altLang="en-US" dirty="0" smtClean="0"/>
              <a:t>를 확장시킨 </a:t>
            </a:r>
            <a:r>
              <a:rPr lang="en-US" altLang="ko-KR" dirty="0" smtClean="0"/>
              <a:t>dilated convolution</a:t>
            </a:r>
            <a:r>
              <a:rPr lang="ko-KR" altLang="en-US" dirty="0" smtClean="0"/>
              <a:t>을 사용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Noh</a:t>
            </a:r>
            <a:r>
              <a:rPr lang="en-US" altLang="ko-KR" dirty="0"/>
              <a:t>, H., Hong, S., Han, B.: Learning deconvolution network for semantic </a:t>
            </a:r>
            <a:r>
              <a:rPr lang="en-US" altLang="ko-KR" dirty="0" smtClean="0"/>
              <a:t>segmentation. </a:t>
            </a:r>
            <a:r>
              <a:rPr lang="en-US" altLang="ko-KR" dirty="0"/>
              <a:t>In: ICCV. </a:t>
            </a:r>
            <a:r>
              <a:rPr lang="en-US" altLang="ko-KR" dirty="0"/>
              <a:t>(2015</a:t>
            </a:r>
            <a:r>
              <a:rPr lang="en-US" altLang="ko-KR" dirty="0" smtClean="0"/>
              <a:t>)</a:t>
            </a:r>
          </a:p>
          <a:p>
            <a:pPr lvl="2">
              <a:buSzPct val="100000"/>
            </a:pPr>
            <a:r>
              <a:rPr lang="ko-KR" altLang="en-US" dirty="0" smtClean="0"/>
              <a:t>심층부의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과 하층부의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을 병합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/>
              <a:t>Zhao, H., Shi, J., Qi, X., Wang, X., Jia, J.: Pyramid scene parsing network. </a:t>
            </a:r>
            <a:r>
              <a:rPr lang="en-US" altLang="ko-KR" dirty="0" smtClean="0"/>
              <a:t>In: CVPR</a:t>
            </a:r>
            <a:r>
              <a:rPr lang="en-US" altLang="ko-KR" dirty="0"/>
              <a:t>. (2017</a:t>
            </a:r>
            <a:r>
              <a:rPr lang="en-US" altLang="ko-KR" dirty="0" smtClean="0"/>
              <a:t>)</a:t>
            </a:r>
          </a:p>
          <a:p>
            <a:pPr lvl="2">
              <a:buSzPct val="100000"/>
            </a:pPr>
            <a:r>
              <a:rPr lang="en-US" altLang="ko-KR" dirty="0" smtClean="0"/>
              <a:t>ICNet</a:t>
            </a:r>
            <a:r>
              <a:rPr lang="ko-KR" altLang="en-US" dirty="0" smtClean="0"/>
              <a:t>일부에 사용되는 </a:t>
            </a:r>
            <a:r>
              <a:rPr lang="en-US" altLang="ko-KR" dirty="0" smtClean="0"/>
              <a:t>Pyramid Scene Parsing Network(PSPNet)</a:t>
            </a:r>
          </a:p>
          <a:p>
            <a:pPr lvl="2">
              <a:buSzPct val="100000"/>
            </a:pPr>
            <a:r>
              <a:rPr lang="ko-KR" altLang="en-US" dirty="0"/>
              <a:t>마지막 </a:t>
            </a:r>
            <a:r>
              <a:rPr lang="en-US" altLang="ko-KR" dirty="0"/>
              <a:t>convolution</a:t>
            </a:r>
            <a:r>
              <a:rPr lang="ko-KR" altLang="en-US" dirty="0"/>
              <a:t>의 </a:t>
            </a:r>
            <a:r>
              <a:rPr lang="en-US" altLang="ko-KR" dirty="0"/>
              <a:t>output feature map</a:t>
            </a:r>
            <a:r>
              <a:rPr lang="ko-KR" altLang="en-US" dirty="0"/>
              <a:t>을 여러 </a:t>
            </a:r>
            <a:r>
              <a:rPr lang="en-US" altLang="ko-KR" dirty="0"/>
              <a:t>scale</a:t>
            </a:r>
            <a:r>
              <a:rPr lang="ko-KR" altLang="en-US" dirty="0"/>
              <a:t>로 </a:t>
            </a:r>
            <a:r>
              <a:rPr lang="en-US" altLang="ko-KR" dirty="0"/>
              <a:t>pooling(multi-scale feature maps) </a:t>
            </a:r>
            <a:r>
              <a:rPr lang="ko-KR" altLang="en-US" dirty="0"/>
              <a:t>한 후</a:t>
            </a:r>
            <a:r>
              <a:rPr lang="en-US" altLang="ko-KR" dirty="0"/>
              <a:t>, </a:t>
            </a:r>
            <a:r>
              <a:rPr lang="ko-KR" altLang="en-US" dirty="0"/>
              <a:t>병합시켜 </a:t>
            </a:r>
            <a:r>
              <a:rPr lang="en-US" altLang="ko-KR" dirty="0"/>
              <a:t>prediction</a:t>
            </a:r>
            <a:r>
              <a:rPr lang="ko-KR" altLang="en-US" dirty="0"/>
              <a:t>을 </a:t>
            </a:r>
            <a:r>
              <a:rPr lang="ko-KR" altLang="en-US" dirty="0" smtClean="0"/>
              <a:t>진행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Related works(I)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499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1">
              <a:buSzPct val="100000"/>
            </a:pPr>
            <a:r>
              <a:rPr lang="en-US" altLang="ko-KR" dirty="0"/>
              <a:t>Lin, G., Milan, A., Shen, C., Reid, I.D.: </a:t>
            </a:r>
            <a:r>
              <a:rPr lang="en-US" altLang="ko-KR" dirty="0" err="1" smtClean="0"/>
              <a:t>RefineNet</a:t>
            </a:r>
            <a:r>
              <a:rPr lang="en-US" altLang="ko-KR" dirty="0"/>
              <a:t>: Multi-path </a:t>
            </a:r>
            <a:r>
              <a:rPr lang="en-US" altLang="ko-KR" dirty="0" smtClean="0"/>
              <a:t>refinement networks for </a:t>
            </a:r>
            <a:r>
              <a:rPr lang="en-US" altLang="ko-KR" dirty="0"/>
              <a:t>high-resolution semantic segmentation. In: CVPR. (2017</a:t>
            </a:r>
            <a:r>
              <a:rPr lang="en-US" altLang="ko-KR" dirty="0" smtClean="0"/>
              <a:t>)</a:t>
            </a:r>
          </a:p>
          <a:p>
            <a:pPr lvl="2">
              <a:buSzPct val="100000"/>
            </a:pPr>
            <a:r>
              <a:rPr lang="en-US" altLang="ko-KR" dirty="0" smtClean="0"/>
              <a:t>Multi-scale image feature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multi-path refinement network</a:t>
            </a:r>
            <a:r>
              <a:rPr lang="ko-KR" altLang="en-US" dirty="0" smtClean="0"/>
              <a:t>로 병합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해당 방법들은 정확도면에서 효과적이지만 </a:t>
            </a:r>
            <a:r>
              <a:rPr lang="en-US" altLang="ko-KR" dirty="0" smtClean="0"/>
              <a:t>real-time inference</a:t>
            </a:r>
            <a:r>
              <a:rPr lang="ko-KR" altLang="en-US" dirty="0" smtClean="0"/>
              <a:t>를 수행하기에는 한계가 있음</a:t>
            </a:r>
            <a:endParaRPr lang="en-US" altLang="ko-KR" dirty="0"/>
          </a:p>
          <a:p>
            <a:pPr>
              <a:buSzPct val="100000"/>
            </a:pPr>
            <a:r>
              <a:rPr lang="en-US" altLang="ko-KR" dirty="0" smtClean="0"/>
              <a:t>High Efficiency </a:t>
            </a:r>
            <a:r>
              <a:rPr lang="en-US" altLang="ko-KR" dirty="0"/>
              <a:t>Semantic </a:t>
            </a:r>
            <a:r>
              <a:rPr lang="en-US" altLang="ko-KR" dirty="0" smtClean="0"/>
              <a:t>Segmentation</a:t>
            </a:r>
          </a:p>
          <a:p>
            <a:pPr lvl="1">
              <a:buSzPct val="100000"/>
            </a:pPr>
            <a:r>
              <a:rPr lang="en-US" altLang="ko-KR" dirty="0"/>
              <a:t>Paszke, A., </a:t>
            </a:r>
            <a:r>
              <a:rPr lang="en-US" altLang="ko-KR" dirty="0" err="1"/>
              <a:t>Chaurasia</a:t>
            </a:r>
            <a:r>
              <a:rPr lang="en-US" altLang="ko-KR" dirty="0"/>
              <a:t>, A., Kim, S., </a:t>
            </a:r>
            <a:r>
              <a:rPr lang="en-US" altLang="ko-KR" dirty="0" err="1"/>
              <a:t>Culurciello</a:t>
            </a:r>
            <a:r>
              <a:rPr lang="en-US" altLang="ko-KR" dirty="0"/>
              <a:t>, E.: </a:t>
            </a:r>
            <a:r>
              <a:rPr lang="en-US" altLang="ko-KR" dirty="0" err="1"/>
              <a:t>Enet</a:t>
            </a:r>
            <a:r>
              <a:rPr lang="en-US" altLang="ko-KR" dirty="0"/>
              <a:t>: A deep neural network architecture for real-time semantic segmentation. arXiv:1606.02147 (2016)  &amp;</a:t>
            </a:r>
            <a:br>
              <a:rPr lang="en-US" altLang="ko-KR" dirty="0"/>
            </a:br>
            <a:r>
              <a:rPr lang="en-US" altLang="ko-KR" dirty="0"/>
              <a:t>Romera, E., Alvarez, J.M., </a:t>
            </a:r>
            <a:r>
              <a:rPr lang="en-US" altLang="ko-KR" dirty="0" err="1"/>
              <a:t>Bergasa</a:t>
            </a:r>
            <a:r>
              <a:rPr lang="en-US" altLang="ko-KR" dirty="0"/>
              <a:t>, L.M., Arroyo, R.: </a:t>
            </a:r>
            <a:r>
              <a:rPr lang="en-US" altLang="ko-KR" dirty="0" smtClean="0"/>
              <a:t>Efficient </a:t>
            </a:r>
            <a:r>
              <a:rPr lang="en-US" altLang="ko-KR" dirty="0" err="1"/>
              <a:t>convnet</a:t>
            </a:r>
            <a:r>
              <a:rPr lang="en-US" altLang="ko-KR" dirty="0"/>
              <a:t> for </a:t>
            </a:r>
            <a:r>
              <a:rPr lang="en-US" altLang="ko-KR" dirty="0" smtClean="0"/>
              <a:t>real-time </a:t>
            </a:r>
            <a:r>
              <a:rPr lang="en-US" altLang="ko-KR" dirty="0"/>
              <a:t>semantic segmentation. In: Intelligent Vehicles Symposium (IV). (2017</a:t>
            </a:r>
            <a:r>
              <a:rPr lang="en-US" altLang="ko-KR" dirty="0" smtClean="0"/>
              <a:t>)</a:t>
            </a:r>
          </a:p>
          <a:p>
            <a:pPr lvl="2">
              <a:buSzPct val="100000"/>
            </a:pPr>
            <a:r>
              <a:rPr lang="en-US" altLang="ko-KR" dirty="0" smtClean="0"/>
              <a:t>Light-weight network</a:t>
            </a:r>
            <a:r>
              <a:rPr lang="ko-KR" altLang="en-US" dirty="0" smtClean="0"/>
              <a:t>를 고안하여 시간적 효율을 얻었으나 정확도에 대한 상당한 희생을 감수</a:t>
            </a:r>
            <a:endParaRPr lang="en-US" altLang="ko-KR" dirty="0"/>
          </a:p>
          <a:p>
            <a:pPr lvl="2">
              <a:buSzPct val="100000"/>
            </a:pP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Related works(II)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237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Network Architecture</a:t>
            </a:r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원본 이미지</a:t>
            </a:r>
            <a:r>
              <a:rPr lang="en-US" altLang="ko-KR" dirty="0" smtClean="0"/>
              <a:t>(full resolution)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½, ¼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down-sampling</a:t>
            </a:r>
            <a:r>
              <a:rPr lang="ko-KR" altLang="en-US" dirty="0" smtClean="0"/>
              <a:t>하여 </a:t>
            </a:r>
            <a:r>
              <a:rPr lang="en-US" altLang="ko-KR" dirty="0" smtClean="0"/>
              <a:t>cascade input image</a:t>
            </a:r>
            <a:r>
              <a:rPr lang="ko-KR" altLang="en-US" dirty="0" smtClean="0"/>
              <a:t>형성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높은 정확도를 산출하는 </a:t>
            </a:r>
            <a:r>
              <a:rPr lang="en-US" altLang="ko-KR" dirty="0" smtClean="0"/>
              <a:t>PSPNet</a:t>
            </a:r>
            <a:r>
              <a:rPr lang="ko-KR" altLang="en-US" dirty="0" smtClean="0"/>
              <a:t>에 </a:t>
            </a:r>
            <a:r>
              <a:rPr lang="en-US" altLang="ko-KR" dirty="0"/>
              <a:t>¼</a:t>
            </a:r>
            <a:r>
              <a:rPr lang="ko-KR" altLang="en-US" dirty="0"/>
              <a:t>의 저화질 이미지를 </a:t>
            </a:r>
            <a:r>
              <a:rPr lang="ko-KR" altLang="en-US" dirty="0" smtClean="0"/>
              <a:t>입력시켜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1/32</a:t>
            </a:r>
            <a:r>
              <a:rPr lang="ko-KR" altLang="en-US" dirty="0" smtClean="0"/>
              <a:t>크기로 줄여진 </a:t>
            </a:r>
            <a:r>
              <a:rPr lang="en-US" altLang="ko-KR" dirty="0" smtClean="0"/>
              <a:t>output feature map </a:t>
            </a:r>
            <a:r>
              <a:rPr lang="ko-KR" altLang="en-US" dirty="0" smtClean="0"/>
              <a:t>생성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Contributions(I)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7" y="1268760"/>
            <a:ext cx="7398965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552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1">
              <a:buSzPct val="100000"/>
            </a:pPr>
            <a:r>
              <a:rPr lang="ko-KR" altLang="en-US" dirty="0" smtClean="0"/>
              <a:t>정확한 </a:t>
            </a:r>
            <a:r>
              <a:rPr lang="en-US" altLang="ko-KR" dirty="0" smtClean="0"/>
              <a:t>segmentation </a:t>
            </a:r>
            <a:r>
              <a:rPr lang="ko-KR" altLang="en-US" dirty="0" smtClean="0"/>
              <a:t>결과를 얻기 위해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중간 화질</a:t>
            </a:r>
            <a:r>
              <a:rPr lang="en-US" altLang="ko-KR" dirty="0" smtClean="0"/>
              <a:t>(1/2)</a:t>
            </a:r>
            <a:r>
              <a:rPr lang="ko-KR" altLang="en-US" dirty="0" smtClean="0"/>
              <a:t>과 원본 이미지를 </a:t>
            </a:r>
            <a:r>
              <a:rPr lang="en-US" altLang="ko-KR" dirty="0" smtClean="0"/>
              <a:t>light weighted CNN(</a:t>
            </a:r>
            <a:r>
              <a:rPr lang="ko-KR" altLang="en-US" dirty="0" smtClean="0"/>
              <a:t>녹색 점선</a:t>
            </a:r>
            <a:r>
              <a:rPr lang="en-US" altLang="ko-KR" dirty="0" smtClean="0"/>
              <a:t>)</a:t>
            </a:r>
            <a:r>
              <a:rPr lang="ko-KR" altLang="en-US" dirty="0" smtClean="0"/>
              <a:t>에 입력시켜 도출한 </a:t>
            </a:r>
            <a:r>
              <a:rPr lang="en-US" altLang="ko-KR" dirty="0" smtClean="0"/>
              <a:t>output feature maps</a:t>
            </a:r>
            <a:r>
              <a:rPr lang="ko-KR" altLang="en-US" dirty="0" smtClean="0"/>
              <a:t>와 저화질 </a:t>
            </a:r>
            <a:r>
              <a:rPr lang="en-US" altLang="ko-KR" dirty="0" smtClean="0"/>
              <a:t>output feature map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Cascade-Feature-Fusion(CFF) unit</a:t>
            </a:r>
            <a:r>
              <a:rPr lang="ko-KR" altLang="en-US" dirty="0" smtClean="0"/>
              <a:t>으로 병합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원본 화질과 </a:t>
            </a:r>
            <a:r>
              <a:rPr lang="en-US" altLang="ko-KR" dirty="0" smtClean="0"/>
              <a:t>½</a:t>
            </a:r>
            <a:r>
              <a:rPr lang="ko-KR" altLang="en-US" dirty="0" smtClean="0"/>
              <a:t>의 중간화질의 이미지에 대해서도 </a:t>
            </a:r>
            <a:r>
              <a:rPr lang="en-US" altLang="ko-KR" dirty="0" smtClean="0"/>
              <a:t>parameter</a:t>
            </a:r>
            <a:r>
              <a:rPr lang="ko-KR" altLang="en-US" dirty="0" smtClean="0"/>
              <a:t>수를 줄이는 결과를 얻을 수 있음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저화질</a:t>
            </a:r>
            <a:r>
              <a:rPr lang="en-US" altLang="ko-KR" dirty="0" smtClean="0"/>
              <a:t>(top branch)</a:t>
            </a:r>
            <a:r>
              <a:rPr lang="ko-KR" altLang="en-US" dirty="0" smtClean="0"/>
              <a:t>와 중간 화질</a:t>
            </a:r>
            <a:r>
              <a:rPr lang="en-US" altLang="ko-KR" dirty="0" smtClean="0"/>
              <a:t>(middle branch)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convolution</a:t>
            </a:r>
            <a:r>
              <a:rPr lang="ko-KR" altLang="en-US" dirty="0" smtClean="0"/>
              <a:t>에서 가중치와 계산들이 공유가</a:t>
            </a:r>
            <a:r>
              <a:rPr lang="en-US" altLang="ko-KR" dirty="0" smtClean="0"/>
              <a:t> </a:t>
            </a:r>
            <a:r>
              <a:rPr lang="ko-KR" altLang="en-US" dirty="0" smtClean="0"/>
              <a:t>되므로 </a:t>
            </a:r>
            <a:r>
              <a:rPr lang="en-US" altLang="ko-KR" dirty="0" smtClean="0"/>
              <a:t>17 convolution layers</a:t>
            </a:r>
            <a:r>
              <a:rPr lang="ko-KR" altLang="en-US" dirty="0" smtClean="0"/>
              <a:t>를 거치고 </a:t>
            </a:r>
            <a:r>
              <a:rPr lang="en-US" altLang="ko-KR" dirty="0" smtClean="0"/>
              <a:t>outputs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fusion</a:t>
            </a:r>
            <a:r>
              <a:rPr lang="ko-KR" altLang="en-US" dirty="0" smtClean="0"/>
              <a:t>하는데 약 </a:t>
            </a:r>
            <a:r>
              <a:rPr lang="en-US" altLang="ko-KR" dirty="0" smtClean="0"/>
              <a:t>6ms</a:t>
            </a:r>
            <a:r>
              <a:rPr lang="ko-KR" altLang="en-US" dirty="0" smtClean="0"/>
              <a:t>가 소요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그림에서 </a:t>
            </a:r>
            <a:r>
              <a:rPr lang="en-US" altLang="ko-KR" dirty="0" smtClean="0"/>
              <a:t>Cascade Label Guidance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Ground Truth Labels</a:t>
            </a:r>
            <a:r>
              <a:rPr lang="ko-KR" altLang="en-US" dirty="0" smtClean="0"/>
              <a:t>가 모인 집합체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Contributions(II)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9954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684272" y="632189"/>
            <a:ext cx="3456384" cy="2652795"/>
            <a:chOff x="5684272" y="632189"/>
            <a:chExt cx="3456384" cy="265279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425"/>
            <a:stretch/>
          </p:blipFill>
          <p:spPr bwMode="auto">
            <a:xfrm>
              <a:off x="5684272" y="632189"/>
              <a:ext cx="3456384" cy="2652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7224568" y="2942926"/>
              <a:ext cx="72008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CFF</a:t>
              </a:r>
              <a:endParaRPr lang="ko-KR" altLang="en-US" sz="12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/>
              <p:cNvSpPr>
                <a:spLocks noGrp="1"/>
              </p:cNvSpPr>
              <p:nvPr>
                <p:ph sz="half" idx="10"/>
              </p:nvPr>
            </p:nvSpPr>
            <p:spPr/>
            <p:txBody>
              <a:bodyPr/>
              <a:lstStyle/>
              <a:p>
                <a:pPr>
                  <a:buSzPct val="100000"/>
                </a:pPr>
                <a:r>
                  <a:rPr lang="en-US" altLang="ko-KR" dirty="0" smtClean="0"/>
                  <a:t>Cascade Feature Fusion(CFF)</a:t>
                </a:r>
              </a:p>
              <a:p>
                <a:pPr lvl="1">
                  <a:buSzPct val="100000"/>
                </a:pPr>
                <a:r>
                  <a:rPr lang="en-US" altLang="ko-KR" dirty="0" smtClean="0"/>
                  <a:t>Size</a:t>
                </a:r>
              </a:p>
              <a:p>
                <a:pPr lvl="2">
                  <a:buSzPct val="100000"/>
                </a:pPr>
                <a:r>
                  <a:rPr lang="en-US" altLang="ko-KR" dirty="0" smtClean="0"/>
                  <a:t>Feature map F1</a:t>
                </a:r>
                <a:r>
                  <a:rPr lang="ko-KR" altLang="en-US" dirty="0" smtClean="0"/>
                  <a:t>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×</m:t>
                    </m:r>
                    <m:sSub>
                      <m:sSubPr>
                        <m:ctrlPr>
                          <a:rPr lang="en-US" altLang="ko-KR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×</m:t>
                    </m:r>
                    <m:sSub>
                      <m:sSubPr>
                        <m:ctrlPr>
                          <a:rPr lang="en-US" altLang="ko-KR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 smtClean="0"/>
                  <a:t>의 크기</a:t>
                </a:r>
                <a:endParaRPr lang="en-US" altLang="ko-KR" dirty="0"/>
              </a:p>
              <a:p>
                <a:pPr lvl="2">
                  <a:buSzPct val="100000"/>
                </a:pPr>
                <a:r>
                  <a:rPr lang="en-US" altLang="ko-KR" dirty="0" smtClean="0"/>
                  <a:t>Feature map F2</a:t>
                </a:r>
                <a:r>
                  <a:rPr lang="ko-KR" altLang="en-US" dirty="0" smtClean="0"/>
                  <a:t>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×</m:t>
                    </m:r>
                    <m:sSub>
                      <m:sSubPr>
                        <m:ctrlPr>
                          <a:rPr lang="en-US" altLang="ko-KR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×</m:t>
                    </m:r>
                    <m:sSub>
                      <m:sSubPr>
                        <m:ctrlPr>
                          <a:rPr lang="en-US" altLang="ko-KR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 smtClean="0"/>
                  <a:t>의 크기이며 </a:t>
                </a:r>
                <a:r>
                  <a:rPr lang="en-US" altLang="ko-KR" dirty="0" smtClean="0"/>
                  <a:t>F1</a:t>
                </a:r>
                <a:r>
                  <a:rPr lang="ko-KR" altLang="en-US" dirty="0" smtClean="0"/>
                  <a:t>의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en-US" altLang="ko-KR" dirty="0" smtClean="0"/>
                  <a:t>2</a:t>
                </a:r>
                <a:r>
                  <a:rPr lang="ko-KR" altLang="en-US" dirty="0" smtClean="0"/>
                  <a:t>배 크기</a:t>
                </a:r>
                <a:r>
                  <a:rPr lang="en-US" altLang="ko-KR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2×</m:t>
                    </m:r>
                    <m:sSub>
                      <m:sSubPr>
                        <m:ctrlPr>
                          <a:rPr lang="en-US" altLang="ko-KR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𝑊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=2×</m:t>
                    </m:r>
                    <m:sSub>
                      <m:sSubPr>
                        <m:ctrlPr>
                          <a:rPr lang="en-US" altLang="ko-KR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𝑊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2">
                  <a:buSzPct val="100000"/>
                </a:pPr>
                <a:r>
                  <a:rPr lang="en-US" altLang="ko-KR" dirty="0" smtClean="0"/>
                  <a:t>Ground Truth Label</a:t>
                </a:r>
                <a:r>
                  <a:rPr lang="ko-KR" altLang="en-US" dirty="0" smtClean="0"/>
                  <a:t>은 </a:t>
                </a:r>
                <a:r>
                  <a:rPr lang="en-US" altLang="ko-KR" dirty="0" smtClean="0"/>
                  <a:t>1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/>
                        <a:ea typeface="Cambria Math"/>
                      </a:rPr>
                      <m:t>×</m:t>
                    </m:r>
                    <m:sSub>
                      <m:sSubPr>
                        <m:ctrlPr>
                          <a:rPr lang="en-US" altLang="ko-KR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𝐻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×</m:t>
                    </m:r>
                    <m:sSub>
                      <m:sSubPr>
                        <m:ctrlPr>
                          <a:rPr lang="en-US" altLang="ko-KR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𝑊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 smtClean="0"/>
                  <a:t>의 크기</a:t>
                </a:r>
                <a:endParaRPr lang="en-US" altLang="ko-KR" dirty="0" smtClean="0"/>
              </a:p>
              <a:p>
                <a:pPr lvl="1">
                  <a:buSzPct val="100000"/>
                </a:pPr>
                <a:r>
                  <a:rPr lang="ko-KR" altLang="en-US" dirty="0" smtClean="0"/>
                  <a:t>먼저 </a:t>
                </a:r>
                <a:r>
                  <a:rPr lang="en-US" altLang="ko-KR" dirty="0" smtClean="0"/>
                  <a:t>F1</a:t>
                </a:r>
                <a:r>
                  <a:rPr lang="ko-KR" altLang="en-US" dirty="0" smtClean="0"/>
                  <a:t>을 </a:t>
                </a:r>
                <a:r>
                  <a:rPr lang="en-US" altLang="ko-KR" dirty="0" smtClean="0"/>
                  <a:t>F2</a:t>
                </a:r>
                <a:r>
                  <a:rPr lang="ko-KR" altLang="en-US" dirty="0" smtClean="0"/>
                  <a:t>와 같은 크기로 </a:t>
                </a:r>
                <a:r>
                  <a:rPr lang="en-US" altLang="ko-KR" dirty="0" smtClean="0"/>
                  <a:t>2</a:t>
                </a:r>
                <a:r>
                  <a:rPr lang="ko-KR" altLang="en-US" dirty="0" smtClean="0"/>
                  <a:t>배 </a:t>
                </a:r>
                <a:r>
                  <a:rPr lang="en-US" altLang="ko-KR" dirty="0" smtClean="0"/>
                  <a:t>upsampling(bilinear interpolation)</a:t>
                </a:r>
                <a:endParaRPr lang="en-US" altLang="ko-KR" dirty="0"/>
              </a:p>
              <a:p>
                <a:pPr lvl="1">
                  <a:buSzPct val="100000"/>
                </a:pPr>
                <a:r>
                  <a:rPr lang="en-US" altLang="ko-KR" dirty="0"/>
                  <a:t>U</a:t>
                </a:r>
                <a:r>
                  <a:rPr lang="en-US" altLang="ko-KR" dirty="0" smtClean="0"/>
                  <a:t>psampled feature map</a:t>
                </a:r>
                <a:r>
                  <a:rPr lang="ko-KR" altLang="en-US" dirty="0" smtClean="0"/>
                  <a:t>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3</m:t>
                    </m:r>
                    <m:r>
                      <a:rPr lang="en-US" altLang="ko-KR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3</m:t>
                    </m:r>
                  </m:oMath>
                </a14:m>
                <a:r>
                  <a:rPr lang="ko-KR" altLang="en-US" dirty="0" smtClean="0"/>
                  <a:t>의 </a:t>
                </a:r>
                <a:r>
                  <a:rPr lang="en-US" altLang="ko-KR" dirty="0" smtClean="0"/>
                  <a:t>kernel</a:t>
                </a:r>
                <a:r>
                  <a:rPr lang="ko-KR" altLang="en-US" dirty="0" smtClean="0"/>
                  <a:t>에 </a:t>
                </a:r>
                <a:r>
                  <a:rPr lang="en-US" altLang="ko-KR" dirty="0" smtClean="0"/>
                  <a:t>2 dilation</a:t>
                </a:r>
                <a:r>
                  <a:rPr lang="ko-KR" altLang="en-US" dirty="0" smtClean="0"/>
                  <a:t>으로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dilated convolution</a:t>
                </a:r>
                <a:r>
                  <a:rPr lang="ko-KR" altLang="en-US" dirty="0" smtClean="0"/>
                  <a:t>하여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×</m:t>
                    </m:r>
                    <m:sSub>
                      <m:sSubPr>
                        <m:ctrlPr>
                          <a:rPr lang="en-US" altLang="ko-KR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𝐻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×</m:t>
                    </m:r>
                    <m:sSub>
                      <m:sSubPr>
                        <m:ctrlPr>
                          <a:rPr lang="en-US" altLang="ko-KR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𝑊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 smtClean="0"/>
                  <a:t>의 </a:t>
                </a:r>
                <a:r>
                  <a:rPr lang="en-US" altLang="ko-KR" dirty="0" smtClean="0"/>
                  <a:t>feature map</a:t>
                </a:r>
                <a:r>
                  <a:rPr lang="ko-KR" altLang="en-US" dirty="0" smtClean="0"/>
                  <a:t>을 도출</a:t>
                </a:r>
                <a:endParaRPr lang="en-US" altLang="ko-KR" dirty="0" smtClean="0"/>
              </a:p>
              <a:p>
                <a:pPr lvl="1">
                  <a:buSzPct val="100000"/>
                </a:pPr>
                <a:r>
                  <a:rPr lang="en-US" altLang="ko-KR" dirty="0" smtClean="0"/>
                  <a:t>FCN</a:t>
                </a:r>
                <a:r>
                  <a:rPr lang="ko-KR" altLang="en-US" dirty="0" smtClean="0"/>
                  <a:t>의 </a:t>
                </a:r>
                <a:r>
                  <a:rPr lang="en-US" altLang="ko-KR" dirty="0" smtClean="0"/>
                  <a:t>Deconvolution(7x7)</a:t>
                </a:r>
                <a:r>
                  <a:rPr lang="ko-KR" altLang="en-US" dirty="0" smtClean="0"/>
                  <a:t>과 비교했을 </a:t>
                </a:r>
                <a:r>
                  <a:rPr lang="ko-KR" altLang="en-US" dirty="0"/>
                  <a:t>때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같은 크기의 </a:t>
                </a:r>
                <a:r>
                  <a:rPr lang="en-US" altLang="ko-KR" dirty="0" smtClean="0"/>
                  <a:t>receptive field</a:t>
                </a:r>
                <a:br>
                  <a:rPr lang="en-US" altLang="ko-KR" dirty="0" smtClean="0"/>
                </a:br>
                <a:r>
                  <a:rPr lang="en-US" altLang="ko-KR" dirty="0" smtClean="0"/>
                  <a:t>(7x7)</a:t>
                </a:r>
                <a:r>
                  <a:rPr lang="ko-KR" altLang="en-US" dirty="0" smtClean="0"/>
                  <a:t>를 생성하기 위한 </a:t>
                </a:r>
                <a:r>
                  <a:rPr lang="en-US" altLang="ko-KR" dirty="0" smtClean="0"/>
                  <a:t>filter</a:t>
                </a:r>
                <a:r>
                  <a:rPr lang="ko-KR" altLang="en-US" dirty="0" smtClean="0"/>
                  <a:t>의 크기가 </a:t>
                </a:r>
                <a:r>
                  <a:rPr lang="en-US" altLang="ko-KR" dirty="0" smtClean="0"/>
                  <a:t>Upsampling + dilated Conv(3x3)</a:t>
                </a:r>
                <a:br>
                  <a:rPr lang="en-US" altLang="ko-KR" dirty="0" smtClean="0"/>
                </a:br>
                <a:r>
                  <a:rPr lang="ko-KR" altLang="en-US" dirty="0" smtClean="0"/>
                  <a:t>에서 더 작기 때문에 계산량이 훨씬 적음</a:t>
                </a:r>
                <a:endParaRPr lang="ko-KR" altLang="en-US" dirty="0"/>
              </a:p>
            </p:txBody>
          </p:sp>
        </mc:Choice>
        <mc:Fallback>
          <p:sp>
            <p:nvSpPr>
              <p:cNvPr id="2" name="내용 개체 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0"/>
              </p:nvPr>
            </p:nvSpPr>
            <p:spPr>
              <a:blipFill rotWithShape="1">
                <a:blip r:embed="rId4"/>
                <a:stretch>
                  <a:fillRect l="-9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Contributions(III)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224568" y="5589240"/>
            <a:ext cx="17399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Dilated Convolution Filter with Dilation factor 2</a:t>
            </a:r>
            <a:endParaRPr lang="ko-KR" altLang="en-US" sz="1400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3874740"/>
            <a:ext cx="16668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860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684272" y="632189"/>
            <a:ext cx="3456384" cy="2652795"/>
            <a:chOff x="5684272" y="632189"/>
            <a:chExt cx="3456384" cy="265279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425"/>
            <a:stretch/>
          </p:blipFill>
          <p:spPr bwMode="auto">
            <a:xfrm>
              <a:off x="5684272" y="632189"/>
              <a:ext cx="3456384" cy="2652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7224568" y="2942926"/>
              <a:ext cx="72008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CFF</a:t>
              </a:r>
              <a:endParaRPr lang="ko-KR" altLang="en-US" sz="12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/>
              <p:cNvSpPr>
                <a:spLocks noGrp="1"/>
              </p:cNvSpPr>
              <p:nvPr>
                <p:ph sz="half" idx="10"/>
              </p:nvPr>
            </p:nvSpPr>
            <p:spPr/>
            <p:txBody>
              <a:bodyPr/>
              <a:lstStyle/>
              <a:p>
                <a:pPr lvl="1">
                  <a:buSzPct val="100000"/>
                </a:pPr>
                <a:r>
                  <a:rPr lang="en-US" altLang="ko-KR" dirty="0" smtClean="0"/>
                  <a:t>F2 feature map</a:t>
                </a:r>
                <a:r>
                  <a:rPr lang="ko-KR" altLang="en-US" dirty="0" smtClean="0"/>
                  <a:t>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altLang="ko-KR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ko-KR" altLang="en-US" dirty="0" smtClean="0"/>
                  <a:t> 크기의 </a:t>
                </a:r>
                <a:r>
                  <a:rPr lang="en-US" altLang="ko-KR" dirty="0" smtClean="0"/>
                  <a:t>filter</a:t>
                </a:r>
                <a:r>
                  <a:rPr lang="ko-KR" altLang="en-US" dirty="0" smtClean="0"/>
                  <a:t>와 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en-US" altLang="ko-KR" dirty="0" smtClean="0"/>
                  <a:t>convolution(Projection Conv)</a:t>
                </a:r>
                <a:r>
                  <a:rPr lang="ko-KR" altLang="en-US" dirty="0" smtClean="0"/>
                  <a:t>하여 </a:t>
                </a:r>
                <a:r>
                  <a:rPr lang="en-US" altLang="ko-KR" dirty="0" smtClean="0"/>
                  <a:t>F1</a:t>
                </a:r>
                <a:r>
                  <a:rPr lang="ko-KR" altLang="en-US" dirty="0" smtClean="0"/>
                  <a:t>의 </a:t>
                </a:r>
                <a:r>
                  <a:rPr lang="en-US" altLang="ko-KR" dirty="0" smtClean="0"/>
                  <a:t>output</a:t>
                </a:r>
                <a:r>
                  <a:rPr lang="ko-KR" altLang="en-US" dirty="0" smtClean="0"/>
                  <a:t>과 </a:t>
                </a:r>
                <a:r>
                  <a:rPr lang="ko-KR" altLang="en-US" dirty="0"/>
                  <a:t>같은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en-US" altLang="ko-KR" dirty="0" smtClean="0"/>
                  <a:t>channel</a:t>
                </a:r>
                <a:r>
                  <a:rPr lang="ko-KR" altLang="en-US" dirty="0" smtClean="0"/>
                  <a:t>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×</m:t>
                    </m:r>
                    <m:sSub>
                      <m:sSubPr>
                        <m:ctrlPr>
                          <a:rPr lang="en-US" altLang="ko-KR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𝐻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×</m:t>
                    </m:r>
                    <m:sSub>
                      <m:sSubPr>
                        <m:ctrlPr>
                          <a:rPr lang="en-US" altLang="ko-KR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𝑊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 smtClean="0"/>
                  <a:t>의 크기로 조정</a:t>
                </a:r>
                <a:endParaRPr lang="en-US" altLang="ko-KR" dirty="0" smtClean="0"/>
              </a:p>
              <a:p>
                <a:pPr lvl="1">
                  <a:buSzPct val="100000"/>
                </a:pPr>
                <a:r>
                  <a:rPr lang="en-US" altLang="ko-KR" dirty="0" smtClean="0"/>
                  <a:t>Batch Normalization</a:t>
                </a:r>
                <a:r>
                  <a:rPr lang="ko-KR" altLang="en-US" dirty="0" smtClean="0"/>
                  <a:t>과 </a:t>
                </a:r>
                <a:r>
                  <a:rPr lang="en-US" altLang="ko-KR" dirty="0" smtClean="0"/>
                  <a:t>SUM, ReLU</a:t>
                </a:r>
                <a:r>
                  <a:rPr lang="ko-KR" altLang="en-US" dirty="0" smtClean="0"/>
                  <a:t>를 통해 </a:t>
                </a:r>
                <a:r>
                  <a:rPr lang="en-US" altLang="ko-KR" dirty="0" smtClean="0"/>
                  <a:t>fused F2’</a:t>
                </a:r>
                <a:br>
                  <a:rPr lang="en-US" altLang="ko-KR" dirty="0" smtClean="0"/>
                </a:br>
                <a:r>
                  <a:rPr lang="ko-KR" altLang="en-US" dirty="0" smtClean="0"/>
                  <a:t>을 결과로 도출</a:t>
                </a:r>
                <a:endParaRPr lang="en-US" altLang="ko-KR" dirty="0" smtClean="0"/>
              </a:p>
              <a:p>
                <a:pPr lvl="1">
                  <a:buSzPct val="100000"/>
                </a:pPr>
                <a:r>
                  <a:rPr lang="en-US" altLang="ko-KR" dirty="0" smtClean="0"/>
                  <a:t>F1</a:t>
                </a:r>
                <a:r>
                  <a:rPr lang="ko-KR" altLang="en-US" dirty="0" smtClean="0"/>
                  <a:t>을 학습시키기 위해 </a:t>
                </a:r>
                <a:r>
                  <a:rPr lang="en-US" altLang="ko-KR" dirty="0" smtClean="0"/>
                  <a:t>Upsampled F1</a:t>
                </a:r>
                <a:r>
                  <a:rPr lang="ko-KR" altLang="en-US" dirty="0" smtClean="0"/>
                  <a:t>을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Ground Truth Label</a:t>
                </a:r>
                <a:r>
                  <a:rPr lang="ko-KR" altLang="en-US" dirty="0" smtClean="0"/>
                  <a:t>과 비교하여 </a:t>
                </a:r>
                <a:r>
                  <a:rPr lang="en-US" altLang="ko-KR" dirty="0" smtClean="0"/>
                  <a:t>loss</a:t>
                </a:r>
                <a:r>
                  <a:rPr lang="ko-KR" altLang="en-US" dirty="0" smtClean="0"/>
                  <a:t>값 산출</a:t>
                </a:r>
                <a:endParaRPr lang="ko-KR" altLang="en-US" dirty="0"/>
              </a:p>
            </p:txBody>
          </p:sp>
        </mc:Choice>
        <mc:Fallback>
          <p:sp>
            <p:nvSpPr>
              <p:cNvPr id="2" name="내용 개체 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0"/>
              </p:nvPr>
            </p:nvSpPr>
            <p:spPr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Contributions(IV)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0577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Structure Comparison and </a:t>
            </a:r>
            <a:r>
              <a:rPr lang="en-US" altLang="ko-KR" dirty="0" smtClean="0"/>
              <a:t>Analysis</a:t>
            </a:r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(a) : FCN / (b) : SegNet / (c) : Multi-scale prediction ensemble(PSPNet) / (d) : ICNet</a:t>
            </a:r>
          </a:p>
          <a:p>
            <a:pPr lvl="1">
              <a:buSzPct val="100000"/>
            </a:pPr>
            <a:r>
              <a:rPr lang="ko-KR" altLang="en-US" dirty="0" smtClean="0"/>
              <a:t>다른 </a:t>
            </a:r>
            <a:r>
              <a:rPr lang="en-US" altLang="ko-KR" dirty="0" smtClean="0"/>
              <a:t>framework</a:t>
            </a:r>
            <a:r>
              <a:rPr lang="ko-KR" altLang="en-US" dirty="0" smtClean="0"/>
              <a:t>는</a:t>
            </a:r>
            <a:r>
              <a:rPr lang="en-US" altLang="ko-KR" dirty="0"/>
              <a:t> </a:t>
            </a:r>
            <a:r>
              <a:rPr lang="ko-KR" altLang="en-US" dirty="0" smtClean="0"/>
              <a:t>고화질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에 상대적으로 집중적인 계산이 이루어지는 반면</a:t>
            </a:r>
            <a:r>
              <a:rPr lang="en-US" altLang="ko-KR" dirty="0" smtClean="0"/>
              <a:t>, ICNet</a:t>
            </a:r>
            <a:r>
              <a:rPr lang="ko-KR" altLang="en-US" dirty="0" smtClean="0"/>
              <a:t>은 저화질을 </a:t>
            </a:r>
            <a:r>
              <a:rPr lang="en-US" altLang="ko-KR" dirty="0" smtClean="0"/>
              <a:t>Heavy CNN</a:t>
            </a:r>
            <a:r>
              <a:rPr lang="ko-KR" altLang="en-US" dirty="0" smtClean="0"/>
              <a:t>에 입력하여 </a:t>
            </a:r>
            <a:r>
              <a:rPr lang="en-US" altLang="ko-KR" dirty="0" smtClean="0"/>
              <a:t>coarse feature map</a:t>
            </a:r>
            <a:r>
              <a:rPr lang="ko-KR" altLang="en-US" dirty="0" smtClean="0"/>
              <a:t>을 도출하고 고화질을 </a:t>
            </a:r>
            <a:r>
              <a:rPr lang="en-US" altLang="ko-KR" dirty="0" smtClean="0"/>
              <a:t>light CNN</a:t>
            </a:r>
            <a:r>
              <a:rPr lang="ko-KR" altLang="en-US" dirty="0" smtClean="0"/>
              <a:t>에 입력하여 저화질 </a:t>
            </a:r>
            <a:r>
              <a:rPr lang="en-US" altLang="ko-KR" dirty="0" smtClean="0"/>
              <a:t>output</a:t>
            </a:r>
            <a:r>
              <a:rPr lang="ko-KR" altLang="en-US" dirty="0" smtClean="0"/>
              <a:t>을 세밀화시키는데 사용하는 것이 주된 차이점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Contributions(V)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3488"/>
            <a:ext cx="9144000" cy="3090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555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Result</a:t>
            </a:r>
            <a:endParaRPr lang="en-US" altLang="ko-KR" dirty="0"/>
          </a:p>
          <a:p>
            <a:pPr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en-US" altLang="ko-KR" dirty="0" smtClean="0"/>
              <a:t>Baseline : ½ down-sampled input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PSPNet50</a:t>
            </a:r>
            <a:r>
              <a:rPr lang="ko-KR" altLang="en-US" dirty="0" smtClean="0"/>
              <a:t>에 인가했을 때 결과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Sub4, sub24, sub124 : </a:t>
            </a:r>
            <a:r>
              <a:rPr lang="ko-KR" altLang="en-US" dirty="0" smtClean="0"/>
              <a:t>각각 </a:t>
            </a:r>
            <a:r>
              <a:rPr lang="en-US" altLang="ko-KR" dirty="0" smtClean="0"/>
              <a:t>¼ down-sampled, ¼ down-sampled +  ½ down-sampled, ¼ down-sampled + ½ down-sampled + </a:t>
            </a:r>
            <a:r>
              <a:rPr lang="ko-KR" altLang="en-US" dirty="0" smtClean="0"/>
              <a:t>원본 이미지를 사용한 </a:t>
            </a:r>
            <a:r>
              <a:rPr lang="en-US" altLang="ko-KR" dirty="0" smtClean="0"/>
              <a:t>ICNet</a:t>
            </a:r>
            <a:r>
              <a:rPr lang="ko-KR" altLang="en-US" dirty="0" smtClean="0"/>
              <a:t>의 결과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Sub124</a:t>
            </a:r>
            <a:r>
              <a:rPr lang="ko-KR" altLang="en-US" dirty="0" smtClean="0"/>
              <a:t>가 비교대상인 </a:t>
            </a:r>
            <a:r>
              <a:rPr lang="en-US" altLang="ko-KR" dirty="0" smtClean="0"/>
              <a:t>PSPNet50</a:t>
            </a:r>
            <a:r>
              <a:rPr lang="ko-KR" altLang="en-US" dirty="0" smtClean="0"/>
              <a:t>과 비슷한 </a:t>
            </a:r>
            <a:r>
              <a:rPr lang="en-US" altLang="ko-KR" dirty="0" err="1" smtClean="0"/>
              <a:t>mIoU</a:t>
            </a:r>
            <a:r>
              <a:rPr lang="ko-KR" altLang="en-US" dirty="0" smtClean="0"/>
              <a:t>에</a:t>
            </a:r>
            <a:r>
              <a:rPr lang="en-US" altLang="ko-KR" dirty="0" smtClean="0"/>
              <a:t>, </a:t>
            </a:r>
            <a:r>
              <a:rPr lang="ko-KR" altLang="en-US" smtClean="0"/>
              <a:t>월등한 처리 속도를 가짐</a:t>
            </a:r>
            <a:endParaRPr lang="en-US" altLang="ko-KR" dirty="0" smtClean="0"/>
          </a:p>
          <a:p>
            <a:pPr lvl="1">
              <a:buSzPct val="100000"/>
            </a:pP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Contributions(V</a:t>
            </a:r>
            <a:r>
              <a:rPr lang="en-US" altLang="ko-KR" dirty="0"/>
              <a:t>I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96752"/>
            <a:ext cx="512445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728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ontrol_works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CWI Black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control_works</Template>
  <TotalTime>1860</TotalTime>
  <Words>716</Words>
  <Application>Microsoft Office PowerPoint</Application>
  <PresentationFormat>화면 슬라이드 쇼(4:3)</PresentationFormat>
  <Paragraphs>86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13" baseType="lpstr">
      <vt:lpstr>control_works</vt:lpstr>
      <vt:lpstr>2_CWI Black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NB09</dc:creator>
  <cp:lastModifiedBy>NB09</cp:lastModifiedBy>
  <cp:revision>85</cp:revision>
  <dcterms:created xsi:type="dcterms:W3CDTF">2020-01-06T00:01:51Z</dcterms:created>
  <dcterms:modified xsi:type="dcterms:W3CDTF">2020-01-13T07:27:39Z</dcterms:modified>
</cp:coreProperties>
</file>