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media/image2.png" ContentType="image/png"/>
  <Override PartName="/ppt/media/image1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79640" y="736560"/>
            <a:ext cx="8481960" cy="5387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848196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17964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2592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179640" y="3550320"/>
            <a:ext cx="8481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8481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640" y="3550320"/>
            <a:ext cx="8481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17964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2592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047400" y="73656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5915520" y="73656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179640" y="355032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047400" y="355032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5915520" y="355032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79640" y="736560"/>
            <a:ext cx="8481960" cy="5387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848196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17964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538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2592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79640" y="3550320"/>
            <a:ext cx="8481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8481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79640" y="3550320"/>
            <a:ext cx="8481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25920" y="73656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17964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25920" y="3550320"/>
            <a:ext cx="413892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79640" y="73656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3047400" y="73656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5915520" y="73656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179640" y="355032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3047400" y="355032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5915520" y="3550320"/>
            <a:ext cx="2730960" cy="2569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132000" y="6453360"/>
            <a:ext cx="6011640" cy="40428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/>
          <p:cNvSpPr/>
          <p:nvPr/>
        </p:nvSpPr>
        <p:spPr>
          <a:xfrm>
            <a:off x="0" y="6453360"/>
            <a:ext cx="3131640" cy="40428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0" y="6548040"/>
            <a:ext cx="2915280" cy="21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395760" y="4005000"/>
            <a:ext cx="2640600" cy="2189160"/>
          </a:xfrm>
          <a:prstGeom prst="rect">
            <a:avLst/>
          </a:prstGeom>
        </p:spPr>
        <p:txBody>
          <a:bodyPr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목차 </a:t>
            </a: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9640" y="3963960"/>
            <a:ext cx="5688360" cy="568800"/>
          </a:xfrm>
          <a:prstGeom prst="rect">
            <a:avLst/>
          </a:prstGeom>
        </p:spPr>
        <p:txBody>
          <a:bodyPr/>
          <a:p>
            <a:pPr algn="r">
              <a:lnSpc>
                <a:spcPct val="150000"/>
              </a:lnSpc>
              <a:spcBef>
                <a:spcPts val="575"/>
              </a:spcBef>
            </a:pPr>
            <a:r>
              <a:rPr b="1" lang="en-US" sz="2000" spc="-1" strike="noStrike">
                <a:solidFill>
                  <a:srgbClr val="000099"/>
                </a:solidFill>
                <a:latin typeface="HY헤드라인M"/>
                <a:ea typeface="HY헤드라인M"/>
              </a:rPr>
              <a:t>제목 </a:t>
            </a:r>
            <a:r>
              <a:rPr b="1" lang="en-US" sz="2000" spc="-1" strike="noStrike">
                <a:solidFill>
                  <a:srgbClr val="000099"/>
                </a:solidFill>
                <a:latin typeface="HY헤드라인M"/>
                <a:ea typeface="HY헤드라인M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Line 6"/>
          <p:cNvSpPr/>
          <p:nvPr/>
        </p:nvSpPr>
        <p:spPr>
          <a:xfrm>
            <a:off x="6300000" y="3933720"/>
            <a:ext cx="360" cy="2303280"/>
          </a:xfrm>
          <a:prstGeom prst="line">
            <a:avLst/>
          </a:prstGeom>
          <a:ln w="1584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" name="Picture 2" descr=""/>
          <p:cNvPicPr/>
          <p:nvPr/>
        </p:nvPicPr>
        <p:blipFill>
          <a:blip r:embed="rId2"/>
          <a:stretch/>
        </p:blipFill>
        <p:spPr>
          <a:xfrm>
            <a:off x="5382360" y="1268640"/>
            <a:ext cx="3510000" cy="584280"/>
          </a:xfrm>
          <a:prstGeom prst="rect">
            <a:avLst/>
          </a:prstGeom>
          <a:ln>
            <a:noFill/>
          </a:ln>
        </p:spPr>
      </p:pic>
      <p:sp>
        <p:nvSpPr>
          <p:cNvPr id="7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ko-KR" sz="1800" spc="-1" strike="noStrike">
                <a:solidFill>
                  <a:srgbClr val="000000"/>
                </a:solidFill>
                <a:latin typeface="Univers Com 45 Light"/>
              </a:rPr>
              <a:t>Click to edit the title text format</a:t>
            </a:r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3132000" y="6453360"/>
            <a:ext cx="6011640" cy="40428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2"/>
          <p:cNvSpPr/>
          <p:nvPr/>
        </p:nvSpPr>
        <p:spPr>
          <a:xfrm>
            <a:off x="0" y="6453360"/>
            <a:ext cx="3131640" cy="40428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CustomShape 3"/>
          <p:cNvSpPr/>
          <p:nvPr/>
        </p:nvSpPr>
        <p:spPr>
          <a:xfrm>
            <a:off x="0" y="6548040"/>
            <a:ext cx="2915280" cy="21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179640" y="736560"/>
            <a:ext cx="8481960" cy="5387040"/>
          </a:xfrm>
          <a:prstGeom prst="rect">
            <a:avLst/>
          </a:prstGeom>
        </p:spPr>
        <p:txBody>
          <a:bodyPr/>
          <a:p>
            <a:pPr marL="343080" indent="-342720">
              <a:lnSpc>
                <a:spcPct val="12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마스터 텍스트 스타일을 편집합니다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2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둘째 수준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480">
              <a:lnSpc>
                <a:spcPct val="120000"/>
              </a:lnSpc>
              <a:spcBef>
                <a:spcPts val="281"/>
              </a:spcBef>
              <a:buClr>
                <a:srgbClr val="000cf2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셋째 수준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598760" indent="-226800">
              <a:lnSpc>
                <a:spcPct val="120000"/>
              </a:lnSpc>
              <a:spcBef>
                <a:spcPts val="221"/>
              </a:spcBef>
              <a:buClr>
                <a:srgbClr val="000cf2"/>
              </a:buClr>
              <a:buFont typeface="Wingdings" charset="2"/>
              <a:buChar char="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맑은 고딕"/>
              </a:rPr>
              <a:t>넷째 수준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0" y="6491520"/>
            <a:ext cx="9143640" cy="37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ctr">
              <a:lnSpc>
                <a:spcPct val="100000"/>
              </a:lnSpc>
            </a:pPr>
            <a:fld id="{6DB067C0-8016-4611-9C14-6C4A7A3F7DD3}" type="slidenum">
              <a:rPr b="0" lang="en-US" sz="1100" spc="-1" strike="noStrike">
                <a:solidFill>
                  <a:srgbClr val="000099"/>
                </a:solidFill>
                <a:latin typeface="Arial"/>
                <a:ea typeface="Univers LT Std 45 Light"/>
              </a:rPr>
              <a:t>&lt;number&gt;</a:t>
            </a:fld>
            <a:endParaRPr b="0" lang="en-US" sz="1100" spc="-1" strike="noStrike">
              <a:latin typeface="Arial"/>
            </a:endParaRPr>
          </a:p>
        </p:txBody>
      </p:sp>
      <p:sp>
        <p:nvSpPr>
          <p:cNvPr id="49" name="CustomShape 6"/>
          <p:cNvSpPr/>
          <p:nvPr/>
        </p:nvSpPr>
        <p:spPr>
          <a:xfrm>
            <a:off x="4342320" y="6500160"/>
            <a:ext cx="45864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ctr">
              <a:lnSpc>
                <a:spcPct val="100000"/>
              </a:lnSpc>
            </a:pPr>
            <a:fld id="{8F68AA06-93B4-49E6-9E60-0BEC6FD22119}" type="slidenum">
              <a:rPr b="0" lang="en-US" sz="1000" spc="-1" strike="noStrike">
                <a:solidFill>
                  <a:srgbClr val="ffffff"/>
                </a:solidFill>
                <a:latin typeface="Arial"/>
                <a:ea typeface="맑은 고딕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body"/>
          </p:nvPr>
        </p:nvSpPr>
        <p:spPr>
          <a:xfrm>
            <a:off x="179280" y="0"/>
            <a:ext cx="8964360" cy="535680"/>
          </a:xfrm>
          <a:prstGeom prst="rect">
            <a:avLst/>
          </a:prstGeom>
        </p:spPr>
        <p:txBody>
          <a:bodyPr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마스터 텍스트 스타일을 편집합니다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Line 8"/>
          <p:cNvSpPr/>
          <p:nvPr/>
        </p:nvSpPr>
        <p:spPr>
          <a:xfrm>
            <a:off x="0" y="548640"/>
            <a:ext cx="9144000" cy="360"/>
          </a:xfrm>
          <a:prstGeom prst="line">
            <a:avLst/>
          </a:prstGeom>
          <a:ln w="3816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2" name="Picture 2" descr=""/>
          <p:cNvPicPr/>
          <p:nvPr/>
        </p:nvPicPr>
        <p:blipFill>
          <a:blip r:embed="rId2"/>
          <a:stretch/>
        </p:blipFill>
        <p:spPr>
          <a:xfrm>
            <a:off x="7488720" y="6536160"/>
            <a:ext cx="1546920" cy="257400"/>
          </a:xfrm>
          <a:prstGeom prst="rect">
            <a:avLst/>
          </a:prstGeom>
          <a:ln>
            <a:noFill/>
          </a:ln>
        </p:spPr>
      </p:pic>
      <p:sp>
        <p:nvSpPr>
          <p:cNvPr id="53" name="PlaceHolder 9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ko-KR" sz="1800" spc="-1" strike="noStrike">
                <a:solidFill>
                  <a:srgbClr val="000000"/>
                </a:solidFill>
                <a:latin typeface="Univers Com 45 Light"/>
              </a:rPr>
              <a:t>Click to edit the title text format</a:t>
            </a:r>
            <a:endParaRPr b="0" lang="ko-KR" sz="1800" spc="-1" strike="noStrike">
              <a:solidFill>
                <a:srgbClr val="000000"/>
              </a:solidFill>
              <a:latin typeface="Univers Com 45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6395760" y="4005000"/>
            <a:ext cx="2640600" cy="21891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Abstraction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Introduction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Related Works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0" lang="en-US" sz="1800" spc="-1" strike="noStrike">
                <a:solidFill>
                  <a:srgbClr val="000cf2"/>
                </a:solidFill>
                <a:latin typeface="HY헤드라인M"/>
                <a:ea typeface="HY헤드라인M"/>
              </a:rPr>
              <a:t>Contribution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539640" y="3933000"/>
            <a:ext cx="5688360" cy="56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r">
              <a:lnSpc>
                <a:spcPct val="150000"/>
              </a:lnSpc>
              <a:spcBef>
                <a:spcPts val="575"/>
              </a:spcBef>
            </a:pPr>
            <a:r>
              <a:rPr b="0" lang="en-US" sz="2000" spc="-1" strike="noStrike">
                <a:solidFill>
                  <a:srgbClr val="000099"/>
                </a:solidFill>
                <a:latin typeface="HY헤드라인M"/>
                <a:ea typeface="HY헤드라인M"/>
              </a:rPr>
              <a:t>Unifying terrain awareness through real-time semantic segmentation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179640" y="736560"/>
            <a:ext cx="8481960" cy="5387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Abstraction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컴퓨터 비전 분야에서 단일 센서가 발전되면서 상대적으로 적은 계산량으로 시각장애인용 보행보조장치와 자율주행 차량에 우수한 결과를 가져다 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그러나 모든 탐지기를 통합적으로 다루기엔 계산량이 많아지고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delay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가 발생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본 논문에서는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semantic segmentation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을 이용하여 통합된 방식의 항법 보조를 서술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물체나 지형인식을 단순히 인식할 뿐만 아니라 가까운 거리의 장애물이나 빠르게 접근하는 보행자를 인식하는 데에도 주안을 둠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본 논문의 목적은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Efficient Residual Factorized Network(ERFNet)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과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Pyramid Scene Parsing Network(PSPNet), 3D point cloud based segmentation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의 조합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179280" y="0"/>
            <a:ext cx="8964360" cy="535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Abstraction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179640" y="736560"/>
            <a:ext cx="8481960" cy="5387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Prior Method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시각 장애인용 보행보조장치는 다양한 계산을 동시에 처리해야 한다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여러 센서를 사용한 이전의 방법은 보행자가 보행하는 속도에 맞게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real-time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으로 처리하기엔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delay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가 발생하고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이를 줄이기 위해선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multi-threading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에 필요한 추가적인 장치가 필요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Stereo camera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나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RGB-D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센서를 사용하는 방식은 계산 시간이 길 뿐더러 여러 가정이 필요하고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이는 항법 보조 장치의 적용에 유연성을 떨어뜨린다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맑은 고딕"/>
              </a:rPr>
              <a:t>This method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기존 방식에서는 여러 물체를 인식할 때 각각을 인식하여 독립적으로 인식하지만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, CNN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은 통합된 방식으로 한번에 처리할 수 있다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3 Contributions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480">
              <a:lnSpc>
                <a:spcPct val="150000"/>
              </a:lnSpc>
              <a:spcBef>
                <a:spcPts val="281"/>
              </a:spcBef>
              <a:buClr>
                <a:srgbClr val="000cf2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지형 인식 방식의 통합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480">
              <a:lnSpc>
                <a:spcPct val="150000"/>
              </a:lnSpc>
              <a:spcBef>
                <a:spcPts val="281"/>
              </a:spcBef>
              <a:buClr>
                <a:srgbClr val="000cf2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real-time semantic segmentation with no assumptions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480">
              <a:lnSpc>
                <a:spcPct val="150000"/>
              </a:lnSpc>
              <a:spcBef>
                <a:spcPts val="281"/>
              </a:spcBef>
              <a:buClr>
                <a:srgbClr val="000cf2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Real-world navigational assistance framework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179280" y="0"/>
            <a:ext cx="8964360" cy="535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Introduction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179640" y="736560"/>
            <a:ext cx="8481960" cy="5387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P. Kwiatkowski, T. Jaeschke, D. Starke, L. Piotrowsky, H. Deis and N. Pohl, “A  oncept study for a radar-based navigation device with sector scan antenna for visually impaired people,” in Microwave Bio Conference (IMBIOC), 2017 First IEEE MTT-S International, IEEE,  2017, pp. 1-4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480">
              <a:lnSpc>
                <a:spcPct val="150000"/>
              </a:lnSpc>
              <a:spcBef>
                <a:spcPts val="281"/>
              </a:spcBef>
              <a:buClr>
                <a:srgbClr val="000cf2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보행자나 차량 충돌에 대해 경보를 울리는 통합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radar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를 사용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K. Saleh, R. A. Zeineldin, M. Hossny, S. Nahavandi and N. A. El- Fishawy,  Navigational Path Detection for the Visually Impaired using Fully Convolutional Networks,” in Systems, Man, and Cybernetics (SMC), 2017 IEEE International Conference on. IEEE, 2017, pp. 1399-1404..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480">
              <a:lnSpc>
                <a:spcPct val="150000"/>
              </a:lnSpc>
              <a:spcBef>
                <a:spcPts val="281"/>
              </a:spcBef>
              <a:buClr>
                <a:srgbClr val="000cf2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항법 보조시스템은 깊이 데이터가 중요하지만 현재 사용되는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3D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센서는 깊이 범위가 좁아 다양한 환경에서 안정성을 유지하지 못함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641520" indent="-185400">
              <a:lnSpc>
                <a:spcPct val="150000"/>
              </a:lnSpc>
              <a:spcBef>
                <a:spcPts val="320"/>
              </a:spcBef>
              <a:buClr>
                <a:srgbClr val="000cf2"/>
              </a:buClr>
              <a:buFont typeface="맑은 고딕"/>
              <a:buChar char="▶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맑은 고딕"/>
              </a:rPr>
              <a:t>E. Romera, J. Alvarez, L. M. Bergasa and R. Arroyo, “ERFNet: Efficient Residual Factorized ConvNet for Real-Time Semantic Segmentation,” IEEE Transactions on Intelligent Transportation Systems, 2017, 19(1), 263-272.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480">
              <a:lnSpc>
                <a:spcPct val="150000"/>
              </a:lnSpc>
              <a:spcBef>
                <a:spcPts val="281"/>
              </a:spcBef>
              <a:buClr>
                <a:srgbClr val="000cf2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본 논문이 참고한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ERFNet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맑은 고딕"/>
              </a:rPr>
              <a:t>논문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179280" y="0"/>
            <a:ext cx="8964360" cy="535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50000"/>
              </a:lnSpc>
              <a:spcBef>
                <a:spcPts val="575"/>
              </a:spcBef>
            </a:pPr>
            <a:r>
              <a:rPr b="1" lang="en-US" sz="2400" spc="-1" strike="noStrike">
                <a:solidFill>
                  <a:srgbClr val="000cf2"/>
                </a:solidFill>
                <a:latin typeface="Arial"/>
                <a:ea typeface="HY헤드라인M"/>
              </a:rPr>
              <a:t>Related works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3923</TotalTime>
  <Application>LibreOffice/6.0.7.3$Linux_AARCH64 LibreOffice_project/00m0$Build-3</Application>
  <Words>653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2020-01-06T00:01:51Z</dcterms:created>
  <dc:creator>NB09</dc:creator>
  <dc:description/>
  <dc:language>en-US</dc:language>
  <cp:lastModifiedBy/>
  <dcterms:modified xsi:type="dcterms:W3CDTF">2020-01-20T17:19:30Z</dcterms:modified>
  <cp:revision>141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화면 슬라이드 쇼(4:3)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11</vt:i4>
  </property>
</Properties>
</file>