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sldIdLst>
    <p:sldId id="256" r:id="rId3"/>
    <p:sldId id="257" r:id="rId4"/>
    <p:sldId id="258" r:id="rId5"/>
    <p:sldId id="259" r:id="rId6"/>
    <p:sldId id="261" r:id="rId7"/>
    <p:sldId id="262" r:id="rId8"/>
    <p:sldId id="263" r:id="rId9"/>
    <p:sldId id="265" r:id="rId10"/>
    <p:sldId id="264" r:id="rId11"/>
    <p:sldId id="266" r:id="rId12"/>
    <p:sldId id="267" r:id="rId13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86483" autoAdjust="0"/>
  </p:normalViewPr>
  <p:slideViewPr>
    <p:cSldViewPr>
      <p:cViewPr>
        <p:scale>
          <a:sx n="94" d="100"/>
          <a:sy n="94" d="100"/>
        </p:scale>
        <p:origin x="-1284" y="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Main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66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1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66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rgbClr val="000099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cxnSp>
        <p:nvCxnSpPr>
          <p:cNvPr id="12" name="직선 연결선 11"/>
          <p:cNvCxnSpPr/>
          <p:nvPr/>
        </p:nvCxnSpPr>
        <p:spPr>
          <a:xfrm>
            <a:off x="6300192" y="3933935"/>
            <a:ext cx="0" cy="2303379"/>
          </a:xfrm>
          <a:prstGeom prst="line">
            <a:avLst/>
          </a:prstGeom>
          <a:ln w="15875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C:\Users\2003201\Downloads\Work\CW\logo png\symbol+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5" y="1268761"/>
            <a:ext cx="3510457" cy="58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3419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734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8195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1140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257697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3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66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616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135"/>
          <p:cNvSpPr txBox="1"/>
          <p:nvPr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/>
        </p:nvSpPr>
        <p:spPr>
          <a:xfrm>
            <a:off x="5748345" y="5063464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/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/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186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6ADBC90-6130-4404-B8FE-3F165ECB9C65}" type="datetimeFigureOut">
              <a:rPr lang="ko-KR" altLang="en-US" smtClean="0"/>
              <a:t>2020-01-20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0557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35496" y="9966"/>
            <a:ext cx="9108504" cy="6832288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연결선 27"/>
          <p:cNvCxnSpPr/>
          <p:nvPr userDrawn="1"/>
        </p:nvCxnSpPr>
        <p:spPr>
          <a:xfrm>
            <a:off x="6315433" y="3933056"/>
            <a:ext cx="0" cy="2160242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70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3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70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15" name="직사각형 14"/>
          <p:cNvSpPr/>
          <p:nvPr userDrawn="1"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 userDrawn="1"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Shape 22"/>
          <p:cNvSpPr txBox="1"/>
          <p:nvPr userDrawn="1"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  <p:pic>
        <p:nvPicPr>
          <p:cNvPr id="2050" name="Picture 2" descr="C:\Users\2003201\Downloads\Work\CW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7" y="1268760"/>
            <a:ext cx="3510457" cy="587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3679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321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1543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584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1680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498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연결선 32"/>
          <p:cNvCxnSpPr/>
          <p:nvPr userDrawn="1"/>
        </p:nvCxnSpPr>
        <p:spPr>
          <a:xfrm>
            <a:off x="251520" y="548680"/>
            <a:ext cx="8640960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39" name="직사각형 38"/>
          <p:cNvSpPr/>
          <p:nvPr userDrawn="1"/>
        </p:nvSpPr>
        <p:spPr>
          <a:xfrm>
            <a:off x="262344" y="836712"/>
            <a:ext cx="8634791" cy="54006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</p:spPr>
        <p:txBody>
          <a:bodyPr/>
          <a:lstStyle>
            <a:lvl1pPr>
              <a:lnSpc>
                <a:spcPct val="160000"/>
              </a:lnSpc>
              <a:defRPr sz="18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>
              <a:lnSpc>
                <a:spcPct val="110000"/>
              </a:lnSpc>
              <a:defRPr sz="14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>
              <a:lnSpc>
                <a:spcPct val="110000"/>
              </a:lnSpc>
              <a:defRPr sz="11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>
              <a:defRPr sz="1400">
                <a:latin typeface="+mn-lt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</p:txBody>
      </p:sp>
      <p:sp>
        <p:nvSpPr>
          <p:cNvPr id="42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3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pic>
        <p:nvPicPr>
          <p:cNvPr id="11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191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" name="Shape 135"/>
          <p:cNvSpPr txBox="1"/>
          <p:nvPr userDrawn="1"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 userDrawn="1"/>
        </p:nvSpPr>
        <p:spPr>
          <a:xfrm>
            <a:off x="5748345" y="5063468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bg1"/>
                </a:solidFill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115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8995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1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>
              <a:lnSpc>
                <a:spcPct val="120000"/>
              </a:lnSpc>
              <a:buSzPct val="100000"/>
            </a:pPr>
            <a:r>
              <a:rPr lang="en-US" altLang="ko-KR" dirty="0" smtClean="0"/>
              <a:t>Master text styles</a:t>
            </a:r>
          </a:p>
          <a:p>
            <a:pPr lvl="1">
              <a:lnSpc>
                <a:spcPct val="110000"/>
              </a:lnSpc>
            </a:pPr>
            <a:r>
              <a:rPr lang="en-US" altLang="ko-KR" dirty="0" smtClean="0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 altLang="ko-KR" dirty="0" smtClean="0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 altLang="ko-KR" dirty="0" smtClean="0"/>
              <a:t>Fourth level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2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035537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lang="en-US" altLang="ko-KR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lang="en-US" altLang="ko-KR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lang="en-US" altLang="ko-KR" sz="14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lang="en-US" altLang="ko-KR" sz="11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2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 smtClean="0"/>
              <a:t>Master text styles</a:t>
            </a:r>
          </a:p>
          <a:p>
            <a:pPr lvl="1"/>
            <a:r>
              <a:rPr lang="en-US" altLang="ko-KR" dirty="0" smtClean="0"/>
              <a:t>Second level</a:t>
            </a:r>
          </a:p>
          <a:p>
            <a:pPr lvl="2"/>
            <a:r>
              <a:rPr lang="en-US" altLang="ko-KR" dirty="0" smtClean="0"/>
              <a:t>Third level</a:t>
            </a:r>
          </a:p>
          <a:p>
            <a:pPr lvl="3"/>
            <a:r>
              <a:rPr lang="en-US" altLang="ko-KR" dirty="0" smtClean="0"/>
              <a:t>Fourth level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7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sp>
        <p:nvSpPr>
          <p:cNvPr id="20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27847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forums.fast.ai/t/what-is-iiou-in-semantic-segmentation/5136/2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 smtClean="0"/>
              <a:t>Abstraction</a:t>
            </a:r>
          </a:p>
          <a:p>
            <a:r>
              <a:rPr lang="en-US" altLang="ko-KR" dirty="0" smtClean="0"/>
              <a:t>Introduction</a:t>
            </a:r>
          </a:p>
          <a:p>
            <a:r>
              <a:rPr lang="en-US" altLang="ko-KR" dirty="0" smtClean="0"/>
              <a:t>Related Works</a:t>
            </a:r>
          </a:p>
          <a:p>
            <a:r>
              <a:rPr lang="en-US" altLang="ko-KR" dirty="0" smtClean="0"/>
              <a:t>Contribution</a:t>
            </a:r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539552" y="3933056"/>
            <a:ext cx="5688632" cy="569219"/>
          </a:xfrm>
        </p:spPr>
        <p:txBody>
          <a:bodyPr/>
          <a:lstStyle/>
          <a:p>
            <a:r>
              <a:rPr lang="en-US" altLang="ko-KR" b="0" dirty="0"/>
              <a:t>Unifying terrain awareness through real-time semantic segmentation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8990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Abstraction</a:t>
            </a:r>
          </a:p>
          <a:p>
            <a:pPr lvl="1">
              <a:buSzPct val="100000"/>
            </a:pPr>
            <a:r>
              <a:rPr lang="ko-KR" altLang="en-US" dirty="0" smtClean="0"/>
              <a:t>컴퓨터 비전 분야에서 단일 센서가 발전되면서 상대적으로 적은 </a:t>
            </a:r>
            <a:r>
              <a:rPr lang="ko-KR" altLang="en-US" dirty="0" err="1" smtClean="0"/>
              <a:t>계산량으로</a:t>
            </a:r>
            <a:r>
              <a:rPr lang="ko-KR" altLang="en-US" dirty="0" smtClean="0"/>
              <a:t> 시각장애인용 보행보조장치와 자율주행 차량에 우수한 결과를 가져다 줌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그러나 모든 탐지기를 통합적으로 다루기엔 계산량이 많아지고 </a:t>
            </a:r>
            <a:r>
              <a:rPr lang="en-US" altLang="ko-KR" dirty="0" smtClean="0"/>
              <a:t>delay</a:t>
            </a:r>
            <a:r>
              <a:rPr lang="ko-KR" altLang="en-US" dirty="0" smtClean="0"/>
              <a:t>가 발생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본 논문에서는 </a:t>
            </a:r>
            <a:r>
              <a:rPr lang="en-US" altLang="ko-KR" dirty="0" smtClean="0"/>
              <a:t>semantic segmentation</a:t>
            </a:r>
            <a:r>
              <a:rPr lang="ko-KR" altLang="en-US" dirty="0" smtClean="0"/>
              <a:t>을 이용하여 통합된 방식의 항법 보조를 서술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물체나 지형인식을 단순히 인식할 뿐만 아니라 가까운 거리의 장애물</a:t>
            </a:r>
            <a:r>
              <a:rPr lang="ko-KR" altLang="en-US" dirty="0" smtClean="0"/>
              <a:t>이나 빠르게 접근하는 보행자를 인식하는 데에도 주안을 둠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본 논문의 목적은 </a:t>
            </a:r>
            <a:r>
              <a:rPr lang="en-US" altLang="ko-KR" dirty="0" smtClean="0"/>
              <a:t>Efficient Residual Factorized Network(</a:t>
            </a:r>
            <a:r>
              <a:rPr lang="en-US" altLang="ko-KR" dirty="0" err="1" smtClean="0"/>
              <a:t>ERFNet</a:t>
            </a:r>
            <a:r>
              <a:rPr lang="en-US" altLang="ko-KR" dirty="0" smtClean="0"/>
              <a:t>)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Pyramid Scene Parsing Network(PSPNet), 3D point cloud based segmentation</a:t>
            </a:r>
            <a:r>
              <a:rPr lang="ko-KR" altLang="en-US" dirty="0" smtClean="0"/>
              <a:t>의 조합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Abstraction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5565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Prior Method</a:t>
            </a:r>
          </a:p>
          <a:p>
            <a:pPr lvl="1">
              <a:buSzPct val="100000"/>
            </a:pPr>
            <a:r>
              <a:rPr lang="ko-KR" altLang="en-US" dirty="0" smtClean="0"/>
              <a:t>시각 장애인용 보행보조장치는 다양한 계산을 동시에 처리해야 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여러 센서를 사용한 이전의 방법은 보행자가 보행하는 속도에 맞게 </a:t>
            </a:r>
            <a:r>
              <a:rPr lang="en-US" altLang="ko-KR" dirty="0" smtClean="0"/>
              <a:t>real-time</a:t>
            </a:r>
            <a:r>
              <a:rPr lang="ko-KR" altLang="en-US" dirty="0" smtClean="0"/>
              <a:t>으로 처리하기엔 </a:t>
            </a:r>
            <a:r>
              <a:rPr lang="en-US" altLang="ko-KR" dirty="0" smtClean="0"/>
              <a:t>delay</a:t>
            </a:r>
            <a:r>
              <a:rPr lang="ko-KR" altLang="en-US" dirty="0" smtClean="0"/>
              <a:t>가 발생하고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이를 줄이기 위해선 </a:t>
            </a:r>
            <a:r>
              <a:rPr lang="en-US" altLang="ko-KR" dirty="0" smtClean="0"/>
              <a:t>multi-threading</a:t>
            </a:r>
            <a:r>
              <a:rPr lang="ko-KR" altLang="en-US" dirty="0" smtClean="0"/>
              <a:t>에 필요한 추가적인 장치가 필요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Stereo camera</a:t>
            </a:r>
            <a:r>
              <a:rPr lang="ko-KR" altLang="en-US" dirty="0" smtClean="0"/>
              <a:t>나 </a:t>
            </a:r>
            <a:r>
              <a:rPr lang="en-US" altLang="ko-KR" dirty="0" smtClean="0"/>
              <a:t>RGB-D </a:t>
            </a:r>
            <a:r>
              <a:rPr lang="ko-KR" altLang="en-US" dirty="0" smtClean="0"/>
              <a:t>센서를 사용하는 방식은 계산 시간이 길 뿐더러 여러 가정이 필요하고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이는 항법 보조 장치의 적용에 유연성을 떨어뜨린다</a:t>
            </a:r>
            <a:r>
              <a:rPr lang="en-US" altLang="ko-KR" dirty="0" smtClean="0"/>
              <a:t>.</a:t>
            </a:r>
          </a:p>
          <a:p>
            <a:pPr>
              <a:buSzPct val="100000"/>
            </a:pPr>
            <a:r>
              <a:rPr lang="en-US" altLang="ko-KR" dirty="0" smtClean="0"/>
              <a:t>This method</a:t>
            </a:r>
          </a:p>
          <a:p>
            <a:pPr lvl="1">
              <a:buSzPct val="100000"/>
            </a:pPr>
            <a:r>
              <a:rPr lang="ko-KR" altLang="en-US" dirty="0" smtClean="0"/>
              <a:t>기존 방식에서는 여러 물체를 인식할 때 각각을 인식하여 독립적으로 인식하지만</a:t>
            </a:r>
            <a:r>
              <a:rPr lang="en-US" altLang="ko-KR" dirty="0" smtClean="0"/>
              <a:t>, CNN</a:t>
            </a:r>
            <a:r>
              <a:rPr lang="ko-KR" altLang="en-US" dirty="0" smtClean="0"/>
              <a:t>은 통합된 방식으로 한번에 처리할 수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en-US" altLang="ko-KR" dirty="0" smtClean="0"/>
              <a:t>3 Contributions</a:t>
            </a:r>
          </a:p>
          <a:p>
            <a:pPr lvl="2">
              <a:buSzPct val="100000"/>
            </a:pPr>
            <a:r>
              <a:rPr lang="ko-KR" altLang="en-US" dirty="0" smtClean="0"/>
              <a:t>지형 인식 방식의 통합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real-time semantic segmentation with no assumptions</a:t>
            </a:r>
          </a:p>
          <a:p>
            <a:pPr lvl="2">
              <a:buSzPct val="100000"/>
            </a:pPr>
            <a:r>
              <a:rPr lang="en-US" altLang="ko-KR" dirty="0" smtClean="0"/>
              <a:t>Real-world navigational assistance framework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Introduction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43027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1">
              <a:buSzPct val="100000"/>
            </a:pPr>
            <a:r>
              <a:rPr lang="en-US" altLang="ko-KR" dirty="0"/>
              <a:t>P. Kwiatkowski, T. </a:t>
            </a:r>
            <a:r>
              <a:rPr lang="en-US" altLang="ko-KR" dirty="0" err="1"/>
              <a:t>Jaeschke</a:t>
            </a:r>
            <a:r>
              <a:rPr lang="en-US" altLang="ko-KR" dirty="0"/>
              <a:t>, D. Starke, L. </a:t>
            </a:r>
            <a:r>
              <a:rPr lang="en-US" altLang="ko-KR" dirty="0" err="1"/>
              <a:t>Piotrowsky</a:t>
            </a:r>
            <a:r>
              <a:rPr lang="en-US" altLang="ko-KR" dirty="0"/>
              <a:t>, H. </a:t>
            </a:r>
            <a:r>
              <a:rPr lang="en-US" altLang="ko-KR" dirty="0" err="1"/>
              <a:t>Deis</a:t>
            </a:r>
            <a:r>
              <a:rPr lang="en-US" altLang="ko-KR" dirty="0"/>
              <a:t> </a:t>
            </a:r>
            <a:r>
              <a:rPr lang="en-US" altLang="ko-KR" dirty="0" smtClean="0"/>
              <a:t>and N</a:t>
            </a:r>
            <a:r>
              <a:rPr lang="en-US" altLang="ko-KR" dirty="0"/>
              <a:t>. Pohl, “A 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oncept</a:t>
            </a:r>
            <a:r>
              <a:rPr lang="en-US" altLang="ko-KR" dirty="0" smtClean="0"/>
              <a:t> </a:t>
            </a:r>
            <a:r>
              <a:rPr lang="en-US" altLang="ko-KR" dirty="0"/>
              <a:t>study for a radar-based navigation device </a:t>
            </a:r>
            <a:r>
              <a:rPr lang="en-US" altLang="ko-KR" dirty="0" smtClean="0"/>
              <a:t>with sector </a:t>
            </a:r>
            <a:r>
              <a:rPr lang="en-US" altLang="ko-KR" dirty="0"/>
              <a:t>scan antenna for visually impaired people,” in Microwave </a:t>
            </a:r>
            <a:r>
              <a:rPr lang="en-US" altLang="ko-KR" dirty="0" smtClean="0"/>
              <a:t>Bio Conference </a:t>
            </a:r>
            <a:r>
              <a:rPr lang="en-US" altLang="ko-KR" dirty="0"/>
              <a:t>(IMBIOC), 2017 First IEEE MTT-S International, </a:t>
            </a:r>
            <a:r>
              <a:rPr lang="en-US" altLang="ko-KR" dirty="0" smtClean="0"/>
              <a:t>IEEE,  2017, pp</a:t>
            </a:r>
            <a:r>
              <a:rPr lang="en-US" altLang="ko-KR" dirty="0"/>
              <a:t>. </a:t>
            </a:r>
            <a:r>
              <a:rPr lang="en-US" altLang="ko-KR" dirty="0" smtClean="0"/>
              <a:t>1-4</a:t>
            </a:r>
          </a:p>
          <a:p>
            <a:pPr lvl="2">
              <a:buSzPct val="100000"/>
            </a:pPr>
            <a:r>
              <a:rPr lang="ko-KR" altLang="en-US" dirty="0" smtClean="0"/>
              <a:t>보행자나 차량 충돌에 대해 경보를 울리는 통합 </a:t>
            </a:r>
            <a:r>
              <a:rPr lang="en-US" altLang="ko-KR" dirty="0" smtClean="0"/>
              <a:t>radar</a:t>
            </a:r>
            <a:r>
              <a:rPr lang="ko-KR" altLang="en-US" dirty="0" smtClean="0"/>
              <a:t>를 사용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/>
              <a:t>K. Saleh, R. A. </a:t>
            </a:r>
            <a:r>
              <a:rPr lang="en-US" altLang="ko-KR" dirty="0" err="1"/>
              <a:t>Zeineldin</a:t>
            </a:r>
            <a:r>
              <a:rPr lang="en-US" altLang="ko-KR" dirty="0"/>
              <a:t>, M. </a:t>
            </a:r>
            <a:r>
              <a:rPr lang="en-US" altLang="ko-KR" dirty="0" err="1"/>
              <a:t>Hossny</a:t>
            </a:r>
            <a:r>
              <a:rPr lang="en-US" altLang="ko-KR" dirty="0"/>
              <a:t>, S. </a:t>
            </a:r>
            <a:r>
              <a:rPr lang="en-US" altLang="ko-KR" dirty="0" err="1"/>
              <a:t>Nahavandi</a:t>
            </a:r>
            <a:r>
              <a:rPr lang="en-US" altLang="ko-KR" dirty="0"/>
              <a:t> and N. A. </a:t>
            </a:r>
            <a:r>
              <a:rPr lang="en-US" altLang="ko-KR" dirty="0" smtClean="0"/>
              <a:t>El- </a:t>
            </a:r>
            <a:r>
              <a:rPr lang="en-US" altLang="ko-KR" dirty="0" err="1" smtClean="0"/>
              <a:t>Fishawy</a:t>
            </a:r>
            <a:r>
              <a:rPr lang="en-US" altLang="ko-KR" dirty="0"/>
              <a:t>, </a:t>
            </a:r>
            <a:r>
              <a:rPr lang="en-US" altLang="ko-KR" dirty="0" smtClean="0"/>
              <a:t> Navigational </a:t>
            </a:r>
            <a:r>
              <a:rPr lang="en-US" altLang="ko-KR" dirty="0"/>
              <a:t>Path Detection for the Visually Impaired </a:t>
            </a:r>
            <a:r>
              <a:rPr lang="en-US" altLang="ko-KR" dirty="0" smtClean="0"/>
              <a:t>using Fully </a:t>
            </a:r>
            <a:r>
              <a:rPr lang="en-US" altLang="ko-KR" dirty="0"/>
              <a:t>Convolutional Networks,” in Systems, Man, and </a:t>
            </a:r>
            <a:r>
              <a:rPr lang="en-US" altLang="ko-KR" dirty="0" smtClean="0"/>
              <a:t>Cybernetics (SMC</a:t>
            </a:r>
            <a:r>
              <a:rPr lang="en-US" altLang="ko-KR" dirty="0"/>
              <a:t>), 2017 IEEE International Conference on. IEEE, 2017, </a:t>
            </a:r>
            <a:r>
              <a:rPr lang="en-US" altLang="ko-KR" dirty="0" smtClean="0"/>
              <a:t>pp. 1399-1404..</a:t>
            </a:r>
          </a:p>
          <a:p>
            <a:pPr lvl="2">
              <a:buSzPct val="100000"/>
            </a:pPr>
            <a:r>
              <a:rPr lang="ko-KR" altLang="en-US" dirty="0" smtClean="0"/>
              <a:t>항법 보조시스템은 깊이 데이터가 중요하지만 현재 사용되는 </a:t>
            </a:r>
            <a:r>
              <a:rPr lang="en-US" altLang="ko-KR" dirty="0" smtClean="0"/>
              <a:t>3D</a:t>
            </a:r>
            <a:r>
              <a:rPr lang="ko-KR" altLang="en-US" dirty="0" smtClean="0"/>
              <a:t>센서는 깊이 범위가 좁아 다양한 환경에서 안정성을 유지하지 못함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/>
              <a:t>E. </a:t>
            </a:r>
            <a:r>
              <a:rPr lang="en-US" altLang="ko-KR" dirty="0" err="1"/>
              <a:t>Romera</a:t>
            </a:r>
            <a:r>
              <a:rPr lang="en-US" altLang="ko-KR" dirty="0"/>
              <a:t>, J. Alvarez, L. M. </a:t>
            </a:r>
            <a:r>
              <a:rPr lang="en-US" altLang="ko-KR" dirty="0" err="1"/>
              <a:t>Bergasa</a:t>
            </a:r>
            <a:r>
              <a:rPr lang="en-US" altLang="ko-KR" dirty="0"/>
              <a:t> and R. Arroyo, “</a:t>
            </a:r>
            <a:r>
              <a:rPr lang="en-US" altLang="ko-KR" dirty="0" smtClean="0"/>
              <a:t>ERFNet: Efficient </a:t>
            </a:r>
            <a:r>
              <a:rPr lang="en-US" altLang="ko-KR" dirty="0"/>
              <a:t>Residual Factorized </a:t>
            </a:r>
            <a:r>
              <a:rPr lang="en-US" altLang="ko-KR" dirty="0" err="1"/>
              <a:t>ConvNet</a:t>
            </a:r>
            <a:r>
              <a:rPr lang="en-US" altLang="ko-KR" dirty="0"/>
              <a:t> for Real-Time Semantic Segmentation</a:t>
            </a:r>
            <a:r>
              <a:rPr lang="en-US" altLang="ko-KR" dirty="0" smtClean="0"/>
              <a:t>,” IEEE </a:t>
            </a:r>
            <a:r>
              <a:rPr lang="en-US" altLang="ko-KR" dirty="0"/>
              <a:t>Transactions on Intelligent Transportation </a:t>
            </a:r>
            <a:r>
              <a:rPr lang="en-US" altLang="ko-KR" dirty="0" smtClean="0"/>
              <a:t>Systems, 2017</a:t>
            </a:r>
            <a:r>
              <a:rPr lang="en-US" altLang="ko-KR" dirty="0"/>
              <a:t>, 19(1), 263-272</a:t>
            </a:r>
            <a:r>
              <a:rPr lang="en-US" altLang="ko-KR" dirty="0" smtClean="0"/>
              <a:t>.</a:t>
            </a:r>
          </a:p>
          <a:p>
            <a:pPr lvl="2">
              <a:buSzPct val="100000"/>
            </a:pPr>
            <a:r>
              <a:rPr lang="ko-KR" altLang="en-US" dirty="0" smtClean="0"/>
              <a:t>본 논문이 참고한 </a:t>
            </a:r>
            <a:r>
              <a:rPr lang="en-US" altLang="ko-KR" dirty="0" smtClean="0"/>
              <a:t>ERFNet </a:t>
            </a:r>
            <a:r>
              <a:rPr lang="ko-KR" altLang="en-US" dirty="0" smtClean="0"/>
              <a:t>논문</a:t>
            </a: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Related works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4991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Decoding Methods(Meta-Architectures)</a:t>
            </a:r>
          </a:p>
          <a:p>
            <a:pPr lvl="1">
              <a:buSzPct val="100000"/>
            </a:pPr>
            <a:r>
              <a:rPr lang="en-US" altLang="ko-KR" dirty="0" err="1" smtClean="0"/>
              <a:t>SkipNet</a:t>
            </a:r>
            <a:r>
              <a:rPr lang="en-US" altLang="ko-KR" dirty="0" smtClean="0"/>
              <a:t> meta-architecture</a:t>
            </a:r>
          </a:p>
          <a:p>
            <a:pPr lvl="2">
              <a:buSzPct val="100000"/>
            </a:pPr>
            <a:r>
              <a:rPr lang="en-US" altLang="ko-KR" dirty="0" smtClean="0"/>
              <a:t>Deconvolution</a:t>
            </a:r>
            <a:r>
              <a:rPr lang="ko-KR" altLang="en-US" dirty="0" smtClean="0"/>
              <a:t>을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이 아닌 </a:t>
            </a:r>
            <a:r>
              <a:rPr lang="en-US" altLang="ko-KR" dirty="0" smtClean="0"/>
              <a:t>label space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heat map</a:t>
            </a:r>
            <a:r>
              <a:rPr lang="ko-KR" altLang="en-US" dirty="0" smtClean="0"/>
              <a:t>에 시행하여 다른 </a:t>
            </a:r>
            <a:r>
              <a:rPr lang="en-US" altLang="ko-KR" dirty="0" smtClean="0"/>
              <a:t>decoding method</a:t>
            </a:r>
            <a:r>
              <a:rPr lang="ko-KR" altLang="en-US" dirty="0" smtClean="0"/>
              <a:t>보다 계산 효율이 뛰어남</a:t>
            </a:r>
            <a:endParaRPr lang="en-US" altLang="ko-KR" dirty="0" smtClean="0"/>
          </a:p>
          <a:p>
            <a:pPr lvl="2">
              <a:buSzPct val="100000"/>
            </a:pPr>
            <a:r>
              <a:rPr lang="ko-KR" altLang="en-US" dirty="0" smtClean="0"/>
              <a:t>고화질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이 </a:t>
            </a:r>
            <a:r>
              <a:rPr lang="en-US" altLang="ko-KR" dirty="0" smtClean="0"/>
              <a:t>1x1 filter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convolution</a:t>
            </a:r>
            <a:r>
              <a:rPr lang="ko-KR" altLang="en-US" dirty="0" smtClean="0"/>
              <a:t>되어 </a:t>
            </a:r>
            <a:r>
              <a:rPr lang="en-US" altLang="ko-KR" dirty="0" smtClean="0"/>
              <a:t>labelling</a:t>
            </a:r>
            <a:br>
              <a:rPr lang="en-US" altLang="ko-KR" dirty="0" smtClean="0"/>
            </a:br>
            <a:r>
              <a:rPr lang="ko-KR" altLang="en-US" dirty="0" smtClean="0"/>
              <a:t>이 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 </a:t>
            </a:r>
            <a:r>
              <a:rPr lang="en-US" altLang="ko-KR" dirty="0" smtClean="0"/>
              <a:t>heat map</a:t>
            </a:r>
            <a:r>
              <a:rPr lang="ko-KR" altLang="en-US" dirty="0" smtClean="0"/>
              <a:t>이 </a:t>
            </a:r>
            <a:r>
              <a:rPr lang="en-US" altLang="ko-KR" dirty="0" smtClean="0"/>
              <a:t>1/32 </a:t>
            </a:r>
            <a:r>
              <a:rPr lang="en-US" altLang="ko-KR" dirty="0" err="1" smtClean="0"/>
              <a:t>downsampling</a:t>
            </a:r>
            <a:r>
              <a:rPr lang="ko-KR" altLang="en-US" dirty="0" smtClean="0"/>
              <a:t>되어 </a:t>
            </a:r>
            <a:r>
              <a:rPr lang="en-US" altLang="ko-KR" dirty="0" smtClean="0"/>
              <a:t>stride 2</a:t>
            </a:r>
            <a:r>
              <a:rPr lang="ko-KR" altLang="en-US" dirty="0" smtClean="0"/>
              <a:t>로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deconvolution</a:t>
            </a:r>
          </a:p>
          <a:p>
            <a:pPr lvl="2">
              <a:buSzPct val="100000"/>
            </a:pPr>
            <a:r>
              <a:rPr lang="en-US" altLang="ko-KR" dirty="0" err="1" smtClean="0"/>
              <a:t>Upsampled</a:t>
            </a:r>
            <a:r>
              <a:rPr lang="ko-KR" altLang="en-US" dirty="0" smtClean="0"/>
              <a:t>된 </a:t>
            </a:r>
            <a:r>
              <a:rPr lang="en-US" altLang="ko-KR" dirty="0" smtClean="0"/>
              <a:t>heat map</a:t>
            </a:r>
            <a:r>
              <a:rPr lang="ko-KR" altLang="en-US" dirty="0" smtClean="0"/>
              <a:t>은 이전에 얻은 고화질의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과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 병합되며 </a:t>
            </a:r>
            <a:r>
              <a:rPr lang="en-US" altLang="ko-KR" dirty="0" smtClean="0"/>
              <a:t>stride 8</a:t>
            </a:r>
            <a:r>
              <a:rPr lang="ko-KR" altLang="en-US" dirty="0" smtClean="0"/>
              <a:t>로 </a:t>
            </a:r>
            <a:r>
              <a:rPr lang="en-US" altLang="ko-KR" dirty="0" smtClean="0"/>
              <a:t>deconvolution</a:t>
            </a:r>
            <a:r>
              <a:rPr lang="ko-KR" altLang="en-US" dirty="0" smtClean="0"/>
              <a:t>하여 </a:t>
            </a:r>
            <a:r>
              <a:rPr lang="en-US" altLang="ko-KR" dirty="0" smtClean="0"/>
              <a:t>upsampling</a:t>
            </a:r>
            <a:r>
              <a:rPr lang="ko-KR" altLang="en-US" dirty="0" smtClean="0"/>
              <a:t>됨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Contributions(I)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598751" y="2866415"/>
            <a:ext cx="4415472" cy="267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35528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1">
              <a:buSzPct val="100000"/>
            </a:pPr>
            <a:r>
              <a:rPr lang="en-US" altLang="ko-KR" dirty="0" smtClean="0"/>
              <a:t>U-Net meta-architecture</a:t>
            </a:r>
          </a:p>
          <a:p>
            <a:pPr lvl="2">
              <a:buSzPct val="100000"/>
            </a:pPr>
            <a:r>
              <a:rPr lang="en-US" altLang="ko-KR" dirty="0" err="1" smtClean="0"/>
              <a:t>Downsamplig</a:t>
            </a:r>
            <a:r>
              <a:rPr lang="ko-KR" altLang="en-US" dirty="0" smtClean="0"/>
              <a:t>에 사용되었던 </a:t>
            </a:r>
            <a:r>
              <a:rPr lang="en-US" altLang="ko-KR" dirty="0" smtClean="0"/>
              <a:t>convolution filter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upsampling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deconvolution</a:t>
            </a:r>
            <a:r>
              <a:rPr lang="ko-KR" altLang="en-US" dirty="0" smtClean="0"/>
              <a:t>하여 대칭을 이루는 구조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Upsampling</a:t>
            </a:r>
            <a:r>
              <a:rPr lang="ko-KR" altLang="en-US" dirty="0" smtClean="0"/>
              <a:t>을 할 때</a:t>
            </a:r>
            <a:r>
              <a:rPr lang="en-US" altLang="ko-KR" dirty="0" smtClean="0"/>
              <a:t>, </a:t>
            </a:r>
            <a:r>
              <a:rPr lang="ko-KR" altLang="en-US" dirty="0" smtClean="0"/>
              <a:t>대응되는 동일한 화질을 가진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 </a:t>
            </a:r>
            <a:r>
              <a:rPr lang="en-US" altLang="ko-KR" dirty="0" smtClean="0"/>
              <a:t>encoder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을 병합하여 정확도 향상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err="1" smtClean="0"/>
              <a:t>Upsampled</a:t>
            </a:r>
            <a:r>
              <a:rPr lang="en-US" altLang="ko-KR" dirty="0" smtClean="0"/>
              <a:t> feature map</a:t>
            </a:r>
            <a:r>
              <a:rPr lang="ko-KR" altLang="en-US" dirty="0" smtClean="0"/>
              <a:t>은 마지막에 </a:t>
            </a:r>
            <a:r>
              <a:rPr lang="en-US" altLang="ko-KR" dirty="0" smtClean="0"/>
              <a:t>1x1 convolution</a:t>
            </a:r>
            <a:br>
              <a:rPr lang="en-US" altLang="ko-KR" dirty="0" smtClean="0"/>
            </a:br>
            <a:r>
              <a:rPr lang="ko-KR" altLang="en-US" dirty="0" smtClean="0"/>
              <a:t>을 거쳐 픽셀 단위의 </a:t>
            </a:r>
            <a:r>
              <a:rPr lang="en-US" altLang="ko-KR" dirty="0" smtClean="0"/>
              <a:t>labeling</a:t>
            </a:r>
            <a:r>
              <a:rPr lang="ko-KR" altLang="en-US" dirty="0" smtClean="0"/>
              <a:t>이 됨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/>
              <a:t>Dilation Frontend meta-architecture</a:t>
            </a:r>
          </a:p>
          <a:p>
            <a:pPr lvl="2">
              <a:buSzPct val="100000"/>
            </a:pPr>
            <a:r>
              <a:rPr lang="en-US" altLang="ko-KR" dirty="0"/>
              <a:t>Dilated convolution</a:t>
            </a:r>
            <a:r>
              <a:rPr lang="ko-KR" altLang="en-US" dirty="0"/>
              <a:t>로</a:t>
            </a:r>
            <a:r>
              <a:rPr lang="en-US" altLang="ko-KR" dirty="0"/>
              <a:t> feature map</a:t>
            </a:r>
            <a:r>
              <a:rPr lang="ko-KR" altLang="en-US" dirty="0"/>
              <a:t>의  몇몇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down </a:t>
            </a:r>
            <a:r>
              <a:rPr lang="en-US" altLang="ko-KR" dirty="0"/>
              <a:t>sampling</a:t>
            </a:r>
            <a:r>
              <a:rPr lang="ko-KR" altLang="en-US" dirty="0"/>
              <a:t>대체하여 화질을 적절하게 유지</a:t>
            </a:r>
            <a:endParaRPr lang="en-US" altLang="ko-KR" dirty="0"/>
          </a:p>
          <a:p>
            <a:pPr lvl="2">
              <a:buSzPct val="100000"/>
            </a:pPr>
            <a:r>
              <a:rPr lang="ko-KR" altLang="en-US" dirty="0"/>
              <a:t>화질 값이 크기 때문에 계산량이 늘어나는 </a:t>
            </a:r>
            <a:r>
              <a:rPr lang="ko-KR" altLang="en-US" dirty="0" smtClean="0"/>
              <a:t>단점을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 </a:t>
            </a:r>
            <a:r>
              <a:rPr lang="ko-KR" altLang="en-US" dirty="0"/>
              <a:t>지님</a:t>
            </a:r>
            <a:endParaRPr lang="en-US" altLang="ko-KR" dirty="0"/>
          </a:p>
          <a:p>
            <a:pPr lvl="2">
              <a:buSzPct val="100000"/>
            </a:pPr>
            <a:r>
              <a:rPr lang="en-US" altLang="ko-KR" dirty="0" err="1"/>
              <a:t>SkipNet</a:t>
            </a:r>
            <a:r>
              <a:rPr lang="ko-KR" altLang="en-US" dirty="0"/>
              <a:t>과 같은 </a:t>
            </a:r>
            <a:r>
              <a:rPr lang="en-US" altLang="ko-KR" dirty="0"/>
              <a:t>1/32 </a:t>
            </a:r>
            <a:r>
              <a:rPr lang="ko-KR" altLang="en-US" dirty="0"/>
              <a:t>로 </a:t>
            </a:r>
            <a:r>
              <a:rPr lang="en-US" altLang="ko-KR" dirty="0"/>
              <a:t>down sampling</a:t>
            </a:r>
            <a:r>
              <a:rPr lang="ko-KR" altLang="en-US" dirty="0"/>
              <a:t>하지 않고</a:t>
            </a:r>
            <a:r>
              <a:rPr lang="en-US" altLang="ko-KR" dirty="0"/>
              <a:t>,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1/8</a:t>
            </a:r>
            <a:r>
              <a:rPr lang="ko-KR" altLang="en-US" dirty="0" smtClean="0"/>
              <a:t> </a:t>
            </a:r>
            <a:r>
              <a:rPr lang="ko-KR" altLang="en-US" dirty="0"/>
              <a:t>로 </a:t>
            </a:r>
            <a:r>
              <a:rPr lang="en-US" altLang="ko-KR" dirty="0"/>
              <a:t>down sampling</a:t>
            </a:r>
          </a:p>
          <a:p>
            <a:pPr marL="455612" lvl="1" indent="0">
              <a:buSzPct val="100000"/>
              <a:buNone/>
            </a:pPr>
            <a:r>
              <a:rPr lang="ko-KR" altLang="en-US" dirty="0" smtClean="0"/>
              <a:t> 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Contributions(II)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4994928" y="2322999"/>
            <a:ext cx="4464496" cy="3220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5724128" y="6021288"/>
            <a:ext cx="3113105" cy="416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5612" lvl="1" defTabSz="455613" fontAlgn="base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0CF2"/>
              </a:buClr>
              <a:buSzPct val="100000"/>
            </a:pPr>
            <a:r>
              <a:rPr lang="en-US" altLang="ko-KR" sz="16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U-Net </a:t>
            </a:r>
            <a:r>
              <a:rPr lang="en-US" altLang="ko-KR" sz="1600" dirty="0" smtClean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meta-architecture</a:t>
            </a:r>
            <a:endParaRPr lang="ko-KR" altLang="en-US" sz="1200" dirty="0" smtClean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31757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Feature Extraction Architectures</a:t>
            </a:r>
          </a:p>
          <a:p>
            <a:pPr lvl="1">
              <a:buSzPct val="100000"/>
            </a:pPr>
            <a:r>
              <a:rPr lang="en-US" altLang="ko-KR" dirty="0" smtClean="0"/>
              <a:t>VGG16</a:t>
            </a:r>
          </a:p>
          <a:p>
            <a:pPr lvl="2">
              <a:buSzPct val="100000"/>
            </a:pPr>
            <a:r>
              <a:rPr lang="ko-KR" altLang="en-US" dirty="0" smtClean="0"/>
              <a:t>기존의 방식을 대표하는</a:t>
            </a:r>
            <a:r>
              <a:rPr lang="en-US" altLang="ko-KR" dirty="0" smtClean="0"/>
              <a:t>(none real-time) </a:t>
            </a:r>
            <a:r>
              <a:rPr lang="ko-KR" altLang="en-US" dirty="0" smtClean="0"/>
              <a:t>비교대상 </a:t>
            </a:r>
            <a:r>
              <a:rPr lang="en-US" altLang="ko-KR" dirty="0" smtClean="0"/>
              <a:t>architecture</a:t>
            </a:r>
            <a:endParaRPr lang="en-US" altLang="ko-KR" dirty="0"/>
          </a:p>
          <a:p>
            <a:pPr lvl="2">
              <a:buSzPct val="100000"/>
            </a:pPr>
            <a:endParaRPr lang="en-US" altLang="ko-KR" dirty="0" smtClean="0"/>
          </a:p>
          <a:p>
            <a:pPr lvl="2">
              <a:buSzPct val="100000"/>
            </a:pP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Contributions(III)</a:t>
            </a:r>
            <a:endParaRPr lang="ko-KR" altLang="en-US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1988840"/>
            <a:ext cx="5995893" cy="26593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93593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1">
              <a:buSzPct val="100000"/>
            </a:pPr>
            <a:r>
              <a:rPr lang="en-US" altLang="ko-KR" dirty="0" smtClean="0"/>
              <a:t>ResNet18</a:t>
            </a:r>
          </a:p>
          <a:p>
            <a:pPr lvl="2">
              <a:buSzPct val="100000"/>
            </a:pPr>
            <a:r>
              <a:rPr lang="ko-KR" altLang="en-US" dirty="0" smtClean="0"/>
              <a:t>오른쪽 그림과 같이</a:t>
            </a:r>
            <a:r>
              <a:rPr lang="en-US" altLang="ko-KR" dirty="0"/>
              <a:t> </a:t>
            </a:r>
            <a:r>
              <a:rPr lang="en-US" altLang="ko-KR" dirty="0" smtClean="0"/>
              <a:t>input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convolution layer</a:t>
            </a:r>
            <a:r>
              <a:rPr lang="ko-KR" altLang="en-US" dirty="0" smtClean="0"/>
              <a:t>를 거친 </a:t>
            </a:r>
            <a:r>
              <a:rPr lang="en-US" altLang="ko-KR" dirty="0" smtClean="0"/>
              <a:t>output</a:t>
            </a:r>
            <a:br>
              <a:rPr lang="en-US" altLang="ko-KR" dirty="0" smtClean="0"/>
            </a:br>
            <a:r>
              <a:rPr lang="ko-KR" altLang="en-US" dirty="0" smtClean="0"/>
              <a:t>을 더하여 다음 </a:t>
            </a:r>
            <a:r>
              <a:rPr lang="en-US" altLang="ko-KR" dirty="0" smtClean="0"/>
              <a:t>layer</a:t>
            </a:r>
            <a:r>
              <a:rPr lang="ko-KR" altLang="en-US" dirty="0" smtClean="0"/>
              <a:t>로 입력시키는 </a:t>
            </a:r>
            <a:r>
              <a:rPr lang="en-US" altLang="ko-KR" dirty="0" smtClean="0"/>
              <a:t>residual block</a:t>
            </a:r>
            <a:r>
              <a:rPr lang="ko-KR" altLang="en-US" dirty="0" smtClean="0"/>
              <a:t>을 사용</a:t>
            </a:r>
            <a:endParaRPr lang="en-US" altLang="ko-KR" dirty="0"/>
          </a:p>
          <a:p>
            <a:pPr lvl="1">
              <a:buSzPct val="100000"/>
            </a:pPr>
            <a:r>
              <a:rPr lang="en-US" altLang="ko-KR" dirty="0" err="1" smtClean="0"/>
              <a:t>MobileNet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Depth-wise separable convolution</a:t>
            </a:r>
            <a:r>
              <a:rPr lang="ko-KR" altLang="en-US" dirty="0" smtClean="0"/>
              <a:t>을 기초로 함</a:t>
            </a:r>
            <a:endParaRPr lang="en-US" altLang="ko-KR" dirty="0" smtClean="0"/>
          </a:p>
          <a:p>
            <a:pPr lvl="2">
              <a:buSzPct val="100000"/>
            </a:pPr>
            <a:r>
              <a:rPr lang="ko-KR" altLang="en-US" dirty="0" smtClean="0"/>
              <a:t>오른쪽 아래 그림과 같이 각 채널마다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을 따로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추출하는 것이 </a:t>
            </a:r>
            <a:r>
              <a:rPr lang="en-US" altLang="ko-KR" dirty="0" smtClean="0"/>
              <a:t>depth-wise convolution</a:t>
            </a:r>
          </a:p>
          <a:p>
            <a:pPr lvl="2">
              <a:buSzPct val="100000"/>
            </a:pPr>
            <a:r>
              <a:rPr lang="ko-KR" altLang="en-US" dirty="0" smtClean="0"/>
              <a:t>채널마다 </a:t>
            </a:r>
            <a:r>
              <a:rPr lang="en-US" altLang="ko-KR" dirty="0" smtClean="0"/>
              <a:t>filter</a:t>
            </a:r>
            <a:r>
              <a:rPr lang="ko-KR" altLang="en-US" dirty="0" smtClean="0"/>
              <a:t>가 각각 존재하므로 </a:t>
            </a:r>
            <a:r>
              <a:rPr lang="en-US" altLang="ko-KR" dirty="0" smtClean="0"/>
              <a:t>input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output</a:t>
            </a:r>
            <a:r>
              <a:rPr lang="ko-KR" altLang="en-US" dirty="0" smtClean="0"/>
              <a:t>의 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channel</a:t>
            </a:r>
            <a:r>
              <a:rPr lang="ko-KR" altLang="en-US" dirty="0"/>
              <a:t> </a:t>
            </a:r>
            <a:r>
              <a:rPr lang="ko-KR" altLang="en-US" dirty="0" smtClean="0"/>
              <a:t>수가 같음</a:t>
            </a:r>
            <a:endParaRPr lang="en-US" altLang="ko-KR" dirty="0" smtClean="0"/>
          </a:p>
          <a:p>
            <a:pPr lvl="2">
              <a:buSzPct val="100000"/>
            </a:pPr>
            <a:r>
              <a:rPr lang="ko-KR" altLang="en-US" dirty="0" smtClean="0"/>
              <a:t>그 후</a:t>
            </a:r>
            <a:r>
              <a:rPr lang="en-US" altLang="ko-KR" dirty="0" smtClean="0"/>
              <a:t>, </a:t>
            </a:r>
            <a:r>
              <a:rPr lang="ko-KR" altLang="en-US" dirty="0" smtClean="0"/>
              <a:t>모든 </a:t>
            </a:r>
            <a:r>
              <a:rPr lang="en-US" altLang="ko-KR" dirty="0" smtClean="0"/>
              <a:t>channel</a:t>
            </a:r>
            <a:r>
              <a:rPr lang="ko-KR" altLang="en-US" dirty="0" smtClean="0"/>
              <a:t>에 대해서 </a:t>
            </a:r>
            <a:r>
              <a:rPr lang="en-US" altLang="ko-KR" dirty="0" smtClean="0"/>
              <a:t>1x1 convolution</a:t>
            </a:r>
            <a:r>
              <a:rPr lang="ko-KR" altLang="en-US" dirty="0" smtClean="0"/>
              <a:t>하여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channel</a:t>
            </a:r>
            <a:r>
              <a:rPr lang="ko-KR" altLang="en-US" dirty="0" smtClean="0"/>
              <a:t>의 수를 조절</a:t>
            </a:r>
            <a:r>
              <a:rPr lang="en-US" altLang="ko-KR" dirty="0" smtClean="0"/>
              <a:t>(Point-wise convolution)</a:t>
            </a:r>
          </a:p>
          <a:p>
            <a:pPr lvl="2">
              <a:buSzPct val="100000"/>
            </a:pPr>
            <a:r>
              <a:rPr lang="en-US" altLang="ko-KR" dirty="0" smtClean="0"/>
              <a:t>Depth-wise separable convolution = </a:t>
            </a:r>
            <a:br>
              <a:rPr lang="en-US" altLang="ko-KR" dirty="0" smtClean="0"/>
            </a:br>
            <a:r>
              <a:rPr lang="en-US" altLang="ko-KR" dirty="0" smtClean="0"/>
              <a:t>depth-wise conv + point-wise conv</a:t>
            </a:r>
          </a:p>
          <a:p>
            <a:pPr lvl="2">
              <a:buSzPct val="100000"/>
            </a:pPr>
            <a:r>
              <a:rPr lang="en-US" altLang="ko-KR" dirty="0" smtClean="0"/>
              <a:t>Channel</a:t>
            </a:r>
            <a:r>
              <a:rPr lang="ko-KR" altLang="en-US" dirty="0" smtClean="0"/>
              <a:t>의 병렬처리로 인하여 일반적 </a:t>
            </a:r>
            <a:r>
              <a:rPr lang="en-US" altLang="ko-KR" dirty="0" smtClean="0"/>
              <a:t>CNN</a:t>
            </a:r>
            <a:r>
              <a:rPr lang="ko-KR" altLang="en-US" dirty="0" smtClean="0"/>
              <a:t>보다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계산량이 적음</a:t>
            </a:r>
            <a:endParaRPr lang="en-US" altLang="ko-KR" dirty="0" smtClean="0"/>
          </a:p>
          <a:p>
            <a:pPr lvl="2">
              <a:buSzPct val="100000"/>
            </a:pPr>
            <a:endParaRPr lang="en-US" altLang="ko-KR" dirty="0" smtClean="0"/>
          </a:p>
          <a:p>
            <a:pPr lvl="2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2">
              <a:buSzPct val="100000"/>
            </a:pPr>
            <a:endParaRPr lang="en-US" altLang="ko-KR" dirty="0" smtClean="0"/>
          </a:p>
          <a:p>
            <a:pPr lvl="2">
              <a:buSzPct val="100000"/>
            </a:pP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</a:t>
            </a:r>
            <a:r>
              <a:rPr lang="en-US" altLang="ko-KR" dirty="0"/>
              <a:t>I</a:t>
            </a:r>
            <a:r>
              <a:rPr lang="en-US" altLang="ko-KR" dirty="0" smtClean="0"/>
              <a:t>V)</a:t>
            </a:r>
            <a:endParaRPr lang="ko-KR" altLang="en-US" dirty="0"/>
          </a:p>
        </p:txBody>
      </p:sp>
      <p:grpSp>
        <p:nvGrpSpPr>
          <p:cNvPr id="5" name="그룹 4"/>
          <p:cNvGrpSpPr/>
          <p:nvPr/>
        </p:nvGrpSpPr>
        <p:grpSpPr>
          <a:xfrm>
            <a:off x="6348983" y="620688"/>
            <a:ext cx="2327473" cy="2376264"/>
            <a:chOff x="6276975" y="1328936"/>
            <a:chExt cx="2867025" cy="3740546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437"/>
            <a:stretch/>
          </p:blipFill>
          <p:spPr bwMode="auto">
            <a:xfrm>
              <a:off x="6276975" y="1328936"/>
              <a:ext cx="2867025" cy="35488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" name="TextBox 3"/>
            <p:cNvSpPr txBox="1"/>
            <p:nvPr/>
          </p:nvSpPr>
          <p:spPr>
            <a:xfrm>
              <a:off x="6774383" y="4730928"/>
              <a:ext cx="187220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Arial" panose="020B0604020202020204" pitchFamily="34" charset="0"/>
                  <a:cs typeface="Arial" panose="020B0604020202020204" pitchFamily="34" charset="0"/>
                </a:rPr>
                <a:t>Residual block</a:t>
              </a:r>
              <a:endParaRPr lang="ko-KR" altLang="en-US" sz="1600" dirty="0" smtClean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7" name="그룹 6"/>
          <p:cNvGrpSpPr/>
          <p:nvPr/>
        </p:nvGrpSpPr>
        <p:grpSpPr>
          <a:xfrm>
            <a:off x="6036555" y="3356992"/>
            <a:ext cx="2952328" cy="2828057"/>
            <a:chOff x="6036555" y="3356992"/>
            <a:chExt cx="2952328" cy="2828057"/>
          </a:xfrm>
        </p:grpSpPr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6555" y="3356992"/>
              <a:ext cx="2952328" cy="26188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6180571" y="5877272"/>
              <a:ext cx="28083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 smtClean="0">
                  <a:latin typeface="Arial" panose="020B0604020202020204" pitchFamily="34" charset="0"/>
                  <a:cs typeface="Arial" panose="020B0604020202020204" pitchFamily="34" charset="0"/>
                </a:rPr>
                <a:t>Depth-wise convolution</a:t>
              </a:r>
              <a:endParaRPr lang="ko-KR" altLang="en-US" sz="1400" dirty="0" smtClean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49936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1">
              <a:buSzPct val="100000"/>
            </a:pPr>
            <a:r>
              <a:rPr lang="en-US" altLang="ko-KR" dirty="0" err="1" smtClean="0"/>
              <a:t>ShuffleNet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Grouped convolution</a:t>
            </a:r>
            <a:r>
              <a:rPr lang="ko-KR" altLang="en-US" dirty="0" smtClean="0"/>
              <a:t>을 사용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Grouped convolution</a:t>
            </a:r>
            <a:r>
              <a:rPr lang="ko-KR" altLang="en-US" dirty="0" smtClean="0"/>
              <a:t>은 앞서 언급된 </a:t>
            </a:r>
            <a:r>
              <a:rPr lang="en-US" altLang="ko-KR" dirty="0" smtClean="0"/>
              <a:t>depth-wise separable convolution</a:t>
            </a:r>
            <a:r>
              <a:rPr lang="ko-KR" altLang="en-US" dirty="0" smtClean="0"/>
              <a:t>의 일반적 경우로</a:t>
            </a:r>
            <a:r>
              <a:rPr lang="en-US" altLang="ko-KR" dirty="0" smtClean="0"/>
              <a:t>,</a:t>
            </a:r>
            <a:r>
              <a:rPr lang="en-US" altLang="ko-KR" dirty="0"/>
              <a:t> </a:t>
            </a:r>
            <a:r>
              <a:rPr lang="en-US" altLang="ko-KR" dirty="0" smtClean="0"/>
              <a:t>input</a:t>
            </a:r>
            <a:r>
              <a:rPr lang="ko-KR" altLang="en-US" dirty="0" smtClean="0"/>
              <a:t>을 그룹으로 나누어 각 그룹마다 </a:t>
            </a:r>
            <a:r>
              <a:rPr lang="en-US" altLang="ko-KR" dirty="0" smtClean="0"/>
              <a:t>filter</a:t>
            </a:r>
            <a:r>
              <a:rPr lang="ko-KR" altLang="en-US" dirty="0" smtClean="0"/>
              <a:t>가 존재</a:t>
            </a:r>
            <a:r>
              <a:rPr lang="en-US" altLang="ko-KR" dirty="0" smtClean="0"/>
              <a:t>(depth-wise</a:t>
            </a:r>
            <a:r>
              <a:rPr lang="ko-KR" altLang="en-US" dirty="0" smtClean="0"/>
              <a:t>의 경우 </a:t>
            </a:r>
            <a:r>
              <a:rPr lang="en-US" altLang="ko-KR" dirty="0" smtClean="0"/>
              <a:t>1</a:t>
            </a:r>
            <a:r>
              <a:rPr lang="ko-KR" altLang="en-US" dirty="0" smtClean="0"/>
              <a:t>개의 </a:t>
            </a:r>
            <a:r>
              <a:rPr lang="en-US" altLang="ko-KR" dirty="0" smtClean="0"/>
              <a:t>channel</a:t>
            </a:r>
            <a:r>
              <a:rPr lang="ko-KR" altLang="en-US" dirty="0" smtClean="0"/>
              <a:t>마다 독립적 </a:t>
            </a:r>
            <a:r>
              <a:rPr lang="en-US" altLang="ko-KR" dirty="0" smtClean="0"/>
              <a:t>filter</a:t>
            </a:r>
            <a:r>
              <a:rPr lang="ko-KR" altLang="en-US" dirty="0" smtClean="0"/>
              <a:t>를 두었다면</a:t>
            </a:r>
            <a:r>
              <a:rPr lang="en-US" altLang="ko-KR" dirty="0" smtClean="0"/>
              <a:t>, grouped</a:t>
            </a:r>
            <a:r>
              <a:rPr lang="ko-KR" altLang="en-US" dirty="0" smtClean="0"/>
              <a:t>는 여러 개의 </a:t>
            </a:r>
            <a:r>
              <a:rPr lang="en-US" altLang="ko-KR" dirty="0" smtClean="0"/>
              <a:t>channel</a:t>
            </a:r>
            <a:r>
              <a:rPr lang="ko-KR" altLang="en-US" dirty="0" smtClean="0"/>
              <a:t>에 독립적 </a:t>
            </a:r>
            <a:r>
              <a:rPr lang="en-US" altLang="ko-KR" dirty="0" smtClean="0"/>
              <a:t>filter</a:t>
            </a:r>
            <a:r>
              <a:rPr lang="ko-KR" altLang="en-US" dirty="0" smtClean="0"/>
              <a:t>를 둠</a:t>
            </a:r>
            <a:r>
              <a:rPr lang="en-US" altLang="ko-KR" dirty="0" smtClean="0"/>
              <a:t>)</a:t>
            </a:r>
          </a:p>
          <a:p>
            <a:pPr lvl="2">
              <a:buSzPct val="100000"/>
            </a:pPr>
            <a:r>
              <a:rPr lang="ko-KR" altLang="en-US" dirty="0" smtClean="0"/>
              <a:t>병렬처리에 유리하고 일반적 </a:t>
            </a:r>
            <a:r>
              <a:rPr lang="en-US" altLang="ko-KR" dirty="0" smtClean="0"/>
              <a:t>CNN</a:t>
            </a:r>
            <a:r>
              <a:rPr lang="ko-KR" altLang="en-US" dirty="0" smtClean="0"/>
              <a:t>보다 </a:t>
            </a:r>
            <a:r>
              <a:rPr lang="en-US" altLang="ko-KR" dirty="0" smtClean="0"/>
              <a:t>parameter</a:t>
            </a:r>
            <a:r>
              <a:rPr lang="ko-KR" altLang="en-US" dirty="0" smtClean="0"/>
              <a:t>의 수가 적다는 장점을 지님</a:t>
            </a:r>
            <a:endParaRPr lang="en-US" altLang="ko-KR" dirty="0" smtClean="0"/>
          </a:p>
          <a:p>
            <a:pPr lvl="2">
              <a:buSzPct val="100000"/>
            </a:pPr>
            <a:endParaRPr lang="en-US" altLang="ko-KR" dirty="0" smtClean="0"/>
          </a:p>
          <a:p>
            <a:pPr lvl="2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2">
              <a:buSzPct val="100000"/>
            </a:pPr>
            <a:endParaRPr lang="en-US" altLang="ko-KR" dirty="0" smtClean="0"/>
          </a:p>
          <a:p>
            <a:pPr lvl="2">
              <a:buSzPct val="100000"/>
            </a:pP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Contributions(V)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1538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1">
              <a:buSzPct val="100000"/>
            </a:pPr>
            <a:r>
              <a:rPr lang="ko-KR" altLang="en-US" dirty="0" smtClean="0"/>
              <a:t>결과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err="1" smtClean="0"/>
              <a:t>UNet</a:t>
            </a:r>
            <a:r>
              <a:rPr lang="ko-KR" altLang="en-US" dirty="0" smtClean="0"/>
              <a:t>이 </a:t>
            </a:r>
            <a:r>
              <a:rPr lang="en-US" altLang="ko-KR" dirty="0" smtClean="0"/>
              <a:t>Dilation</a:t>
            </a:r>
            <a:r>
              <a:rPr lang="ko-KR" altLang="en-US" dirty="0" smtClean="0"/>
              <a:t>보다 정확도가 더 높음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err="1" smtClean="0"/>
              <a:t>UNet</a:t>
            </a:r>
            <a:r>
              <a:rPr lang="ko-KR" altLang="en-US" dirty="0" smtClean="0"/>
              <a:t>과 </a:t>
            </a:r>
            <a:r>
              <a:rPr lang="en-US" altLang="ko-KR" dirty="0" err="1" smtClean="0"/>
              <a:t>SkipNet</a:t>
            </a:r>
            <a:r>
              <a:rPr lang="ko-KR" altLang="en-US" dirty="0" smtClean="0"/>
              <a:t>은 비슷한 정확도를 가짐</a:t>
            </a:r>
            <a:endParaRPr lang="en-US" altLang="ko-KR" dirty="0" smtClean="0"/>
          </a:p>
          <a:p>
            <a:pPr lvl="2">
              <a:buSzPct val="100000"/>
            </a:pPr>
            <a:endParaRPr lang="en-US" altLang="ko-KR" dirty="0" smtClean="0"/>
          </a:p>
          <a:p>
            <a:pPr lvl="2">
              <a:buSzPct val="100000"/>
            </a:pPr>
            <a:endParaRPr lang="en-US" altLang="ko-KR" dirty="0"/>
          </a:p>
          <a:p>
            <a:pPr lvl="2">
              <a:buSzPct val="100000"/>
            </a:pPr>
            <a:endParaRPr lang="en-US" altLang="ko-KR" dirty="0" smtClean="0"/>
          </a:p>
          <a:p>
            <a:pPr marL="914400" lvl="2" indent="0">
              <a:buSzPct val="100000"/>
              <a:buNone/>
            </a:pP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Contributions(VI)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1196752"/>
            <a:ext cx="9144000" cy="22743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90962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marL="984250" lvl="1">
              <a:buSzPct val="100000"/>
            </a:pPr>
            <a:endParaRPr lang="en-US" altLang="ko-KR" dirty="0" smtClean="0"/>
          </a:p>
          <a:p>
            <a:pPr marL="1543050" lvl="2">
              <a:buSzPct val="100000"/>
            </a:pPr>
            <a:endParaRPr lang="en-US" altLang="ko-KR" dirty="0" smtClean="0"/>
          </a:p>
          <a:p>
            <a:pPr marL="1543050" lvl="2">
              <a:buSzPct val="100000"/>
            </a:pPr>
            <a:endParaRPr lang="en-US" altLang="ko-KR" dirty="0"/>
          </a:p>
          <a:p>
            <a:pPr marL="1543050" lvl="2">
              <a:buSzPct val="100000"/>
            </a:pPr>
            <a:endParaRPr lang="en-US" altLang="ko-KR" dirty="0" smtClean="0"/>
          </a:p>
          <a:p>
            <a:pPr marL="1543050" lvl="2">
              <a:buSzPct val="100000"/>
            </a:pPr>
            <a:r>
              <a:rPr lang="en-US" altLang="ko-KR" dirty="0" smtClean="0"/>
              <a:t>FLOPs : </a:t>
            </a:r>
            <a:r>
              <a:rPr lang="ko-KR" altLang="en-US" dirty="0" smtClean="0"/>
              <a:t>초당 부동소수점 </a:t>
            </a:r>
            <a:r>
              <a:rPr lang="ko-KR" altLang="en-US" dirty="0" err="1" smtClean="0"/>
              <a:t>연산량으로</a:t>
            </a:r>
            <a:r>
              <a:rPr lang="ko-KR" altLang="en-US" dirty="0" smtClean="0"/>
              <a:t> </a:t>
            </a:r>
            <a:r>
              <a:rPr lang="en-US" altLang="ko-KR" dirty="0" smtClean="0"/>
              <a:t>,1 GFLOPs</a:t>
            </a:r>
            <a:r>
              <a:rPr lang="ko-KR" altLang="en-US" dirty="0" smtClean="0"/>
              <a:t>는 초당 </a:t>
            </a:r>
            <a:r>
              <a:rPr lang="en-US" altLang="ko-KR" dirty="0" smtClean="0"/>
              <a:t>10</a:t>
            </a:r>
            <a:r>
              <a:rPr lang="ko-KR" altLang="en-US" dirty="0" err="1"/>
              <a:t>억</a:t>
            </a:r>
            <a:r>
              <a:rPr lang="ko-KR" altLang="en-US" dirty="0" err="1" smtClean="0"/>
              <a:t>개의</a:t>
            </a:r>
            <a:r>
              <a:rPr lang="ko-KR" altLang="en-US" dirty="0" smtClean="0"/>
              <a:t> 부동소수점을 처리</a:t>
            </a:r>
            <a:endParaRPr lang="en-US" altLang="ko-KR" dirty="0" smtClean="0"/>
          </a:p>
          <a:p>
            <a:pPr marL="1543050" lvl="2">
              <a:buSzPct val="100000"/>
            </a:pPr>
            <a:r>
              <a:rPr lang="en-US" altLang="ko-KR" dirty="0" smtClean="0"/>
              <a:t>*</a:t>
            </a:r>
            <a:r>
              <a:rPr lang="en-US" altLang="ko-KR" dirty="0" err="1" smtClean="0"/>
              <a:t>iIoU</a:t>
            </a:r>
            <a:r>
              <a:rPr lang="en-US" altLang="ko-KR" dirty="0" smtClean="0"/>
              <a:t> : </a:t>
            </a:r>
            <a:r>
              <a:rPr lang="ko-KR" altLang="en-US" dirty="0" smtClean="0"/>
              <a:t>기존 </a:t>
            </a:r>
            <a:r>
              <a:rPr lang="en-US" altLang="ko-KR" dirty="0" err="1" smtClean="0"/>
              <a:t>IoU</a:t>
            </a:r>
            <a:r>
              <a:rPr lang="en-US" altLang="ko-KR" dirty="0" smtClean="0"/>
              <a:t> </a:t>
            </a:r>
            <a:r>
              <a:rPr lang="ko-KR" altLang="en-US" dirty="0" smtClean="0"/>
              <a:t>는 </a:t>
            </a:r>
            <a:r>
              <a:rPr lang="en-US" altLang="ko-KR" dirty="0" err="1" smtClean="0"/>
              <a:t>iTP</a:t>
            </a:r>
            <a:r>
              <a:rPr lang="en-US" altLang="ko-KR" dirty="0" smtClean="0"/>
              <a:t> / (</a:t>
            </a:r>
            <a:r>
              <a:rPr lang="en-US" altLang="ko-KR" dirty="0" err="1" smtClean="0"/>
              <a:t>iTP+iFP+iFN</a:t>
            </a:r>
            <a:r>
              <a:rPr lang="en-US" altLang="ko-KR" dirty="0" smtClean="0"/>
              <a:t>)</a:t>
            </a:r>
            <a:r>
              <a:rPr lang="ko-KR" altLang="en-US" dirty="0" smtClean="0"/>
              <a:t>이고 </a:t>
            </a:r>
            <a:r>
              <a:rPr lang="en-US" altLang="ko-KR" dirty="0" err="1" smtClean="0"/>
              <a:t>iIoU</a:t>
            </a:r>
            <a:r>
              <a:rPr lang="ko-KR" altLang="en-US" dirty="0" smtClean="0"/>
              <a:t>는 </a:t>
            </a:r>
            <a:r>
              <a:rPr lang="en-US" altLang="ko-KR" dirty="0" err="1" smtClean="0"/>
              <a:t>iTP</a:t>
            </a:r>
            <a:r>
              <a:rPr lang="ko-KR" altLang="en-US" dirty="0" smtClean="0"/>
              <a:t>와 </a:t>
            </a:r>
            <a:r>
              <a:rPr lang="en-US" altLang="ko-KR" dirty="0" err="1" smtClean="0"/>
              <a:t>iFN</a:t>
            </a:r>
            <a:r>
              <a:rPr lang="ko-KR" altLang="en-US" dirty="0" smtClean="0"/>
              <a:t>을 계산할 때 각 픽셀에 가중치를 가중치를 둔 것</a:t>
            </a:r>
            <a:endParaRPr lang="en-US" altLang="ko-KR" dirty="0" smtClean="0"/>
          </a:p>
          <a:p>
            <a:pPr marL="1543050" lvl="2">
              <a:buSzPct val="100000"/>
            </a:pPr>
            <a:r>
              <a:rPr lang="en-US" altLang="ko-KR" dirty="0" err="1" smtClean="0"/>
              <a:t>iTP</a:t>
            </a:r>
            <a:r>
              <a:rPr lang="en-US" altLang="ko-KR" dirty="0" smtClean="0"/>
              <a:t> , </a:t>
            </a:r>
            <a:r>
              <a:rPr lang="en-US" altLang="ko-KR" dirty="0" err="1" smtClean="0"/>
              <a:t>iFP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iFN</a:t>
            </a:r>
            <a:r>
              <a:rPr lang="en-US" altLang="ko-KR" dirty="0" smtClean="0"/>
              <a:t> : </a:t>
            </a:r>
            <a:r>
              <a:rPr lang="ko-KR" altLang="en-US" dirty="0" smtClean="0"/>
              <a:t>각각 </a:t>
            </a:r>
            <a:r>
              <a:rPr lang="en-US" altLang="ko-KR" dirty="0" smtClean="0"/>
              <a:t>true positive, false positive, false negative</a:t>
            </a:r>
            <a:r>
              <a:rPr lang="ko-KR" altLang="en-US" dirty="0" smtClean="0"/>
              <a:t>으로 실제 양성을 양성이라고 판단</a:t>
            </a:r>
            <a:r>
              <a:rPr lang="en-US" altLang="ko-KR" dirty="0" smtClean="0"/>
              <a:t>, </a:t>
            </a:r>
            <a:r>
              <a:rPr lang="ko-KR" altLang="en-US" dirty="0" smtClean="0"/>
              <a:t>실제 양성을 음성이라고 판단</a:t>
            </a:r>
            <a:r>
              <a:rPr lang="en-US" altLang="ko-KR" dirty="0" smtClean="0"/>
              <a:t>, </a:t>
            </a:r>
            <a:r>
              <a:rPr lang="ko-KR" altLang="en-US" dirty="0" smtClean="0"/>
              <a:t>실제 음성을 양성이라고 판단한 </a:t>
            </a:r>
            <a:r>
              <a:rPr lang="en-US" altLang="ko-KR" dirty="0" smtClean="0"/>
              <a:t>pixel</a:t>
            </a:r>
            <a:r>
              <a:rPr lang="ko-KR" altLang="en-US" dirty="0" smtClean="0"/>
              <a:t>의 수</a:t>
            </a:r>
            <a:endParaRPr lang="en-US" altLang="ko-KR" dirty="0" smtClean="0"/>
          </a:p>
          <a:p>
            <a:pPr marL="1543050" lvl="2">
              <a:buSzPct val="100000"/>
            </a:pPr>
            <a:r>
              <a:rPr lang="en-US" altLang="ko-KR" dirty="0" err="1" smtClean="0"/>
              <a:t>SkipNet-MobileNet</a:t>
            </a:r>
            <a:r>
              <a:rPr lang="ko-KR" altLang="en-US" dirty="0" smtClean="0"/>
              <a:t>이 속도와 정확도에서 모두 </a:t>
            </a:r>
            <a:r>
              <a:rPr lang="en-US" altLang="ko-KR" dirty="0" err="1" smtClean="0"/>
              <a:t>ENet</a:t>
            </a:r>
            <a:r>
              <a:rPr lang="ko-KR" altLang="en-US" dirty="0" smtClean="0"/>
              <a:t>을 능가함</a:t>
            </a:r>
            <a:endParaRPr lang="en-US" altLang="ko-KR" dirty="0" smtClean="0"/>
          </a:p>
          <a:p>
            <a:pPr marL="1543050" lvl="2">
              <a:buSzPct val="100000"/>
            </a:pPr>
            <a:endParaRPr lang="en-US" altLang="ko-KR" dirty="0"/>
          </a:p>
          <a:p>
            <a:pPr marL="1543050" lvl="2">
              <a:buSzPct val="100000"/>
            </a:pPr>
            <a:endParaRPr lang="en-US" altLang="ko-KR" dirty="0"/>
          </a:p>
          <a:p>
            <a:pPr marL="984250" lvl="1">
              <a:buSzPct val="100000"/>
            </a:pPr>
            <a:endParaRPr lang="en-US" altLang="ko-KR" dirty="0" smtClean="0"/>
          </a:p>
          <a:p>
            <a:pPr marL="984250" lvl="1">
              <a:buSzPct val="100000"/>
            </a:pPr>
            <a:endParaRPr lang="en-US" altLang="ko-KR" dirty="0"/>
          </a:p>
          <a:p>
            <a:pPr marL="984250"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Contributions(VI</a:t>
            </a:r>
            <a:r>
              <a:rPr lang="en-US" altLang="ko-KR" dirty="0"/>
              <a:t>I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1701" y="620688"/>
            <a:ext cx="6924675" cy="159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179512" y="6237312"/>
            <a:ext cx="62646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dirty="0" smtClean="0">
                <a:latin typeface="+mn-ea"/>
              </a:rPr>
              <a:t>*</a:t>
            </a:r>
            <a:r>
              <a:rPr lang="ko-KR" altLang="en-US" sz="1050" dirty="0" smtClean="0">
                <a:latin typeface="+mn-ea"/>
              </a:rPr>
              <a:t>출처 </a:t>
            </a:r>
            <a:r>
              <a:rPr lang="en-US" altLang="ko-KR" sz="1050" dirty="0" smtClean="0">
                <a:latin typeface="+mn-ea"/>
              </a:rPr>
              <a:t>: </a:t>
            </a:r>
            <a:r>
              <a:rPr lang="en-US" altLang="ko-KR" sz="1050" dirty="0">
                <a:hlinkClick r:id="rId3"/>
              </a:rPr>
              <a:t>https://forums.fast.ai/t/what-is-iiou-in-semantic-segmentation/5136/2</a:t>
            </a:r>
            <a:endParaRPr lang="ko-KR" altLang="en-US" sz="1050" dirty="0" smtClean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37294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control_works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2_CWI Black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control_works</Template>
  <TotalTime>3923</TotalTime>
  <Words>653</Words>
  <Application>Microsoft Office PowerPoint</Application>
  <PresentationFormat>화면 슬라이드 쇼(4:3)</PresentationFormat>
  <Paragraphs>101</Paragraphs>
  <Slides>11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11</vt:i4>
      </vt:variant>
    </vt:vector>
  </HeadingPairs>
  <TitlesOfParts>
    <vt:vector size="13" baseType="lpstr">
      <vt:lpstr>control_works</vt:lpstr>
      <vt:lpstr>2_CWI Black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NB09</dc:creator>
  <cp:lastModifiedBy>NB09</cp:lastModifiedBy>
  <cp:revision>140</cp:revision>
  <dcterms:created xsi:type="dcterms:W3CDTF">2020-01-06T00:01:51Z</dcterms:created>
  <dcterms:modified xsi:type="dcterms:W3CDTF">2020-01-20T05:04:08Z</dcterms:modified>
</cp:coreProperties>
</file>