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61" r:id="rId4"/>
    <p:sldId id="262" r:id="rId5"/>
    <p:sldId id="272" r:id="rId6"/>
    <p:sldId id="27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-128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</a:p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works</a:t>
            </a:r>
          </a:p>
          <a:p>
            <a:r>
              <a:rPr lang="en-US" altLang="ko-KR" dirty="0" smtClean="0"/>
              <a:t>Contributions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sz="1400" b="0" dirty="0"/>
              <a:t>SegNet: </a:t>
            </a:r>
            <a:r>
              <a:rPr lang="en-US" altLang="ko-KR" sz="1400" b="0" dirty="0" smtClean="0"/>
              <a:t>A </a:t>
            </a:r>
            <a:r>
              <a:rPr lang="en-US" altLang="ko-KR" sz="1400" b="0" dirty="0"/>
              <a:t>Deep </a:t>
            </a:r>
            <a:r>
              <a:rPr lang="en-US" altLang="ko-KR" sz="1400" b="0" dirty="0" smtClean="0"/>
              <a:t>Convolutional Encoder-Decoder Architecture </a:t>
            </a:r>
          </a:p>
          <a:p>
            <a:r>
              <a:rPr lang="en-US" altLang="ko-KR" sz="1400" b="0" dirty="0" smtClean="0"/>
              <a:t>for Image Segmentation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Abstraction</a:t>
            </a:r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network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decoder network, classification layer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사용했던 </a:t>
            </a:r>
            <a:r>
              <a:rPr lang="en-US" altLang="ko-KR" dirty="0" smtClean="0"/>
              <a:t>pooling </a:t>
            </a:r>
            <a:r>
              <a:rPr lang="en-US" altLang="ko-KR" dirty="0" err="1" smtClean="0"/>
              <a:t>indice</a:t>
            </a:r>
            <a:r>
              <a:rPr lang="ko-KR" altLang="en-US" dirty="0" smtClean="0"/>
              <a:t>를 대응하는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할 때 사용하여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에서 학습이 </a:t>
            </a:r>
            <a:r>
              <a:rPr lang="ko-KR" altLang="en-US" dirty="0" err="1" smtClean="0"/>
              <a:t>필요없어짐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그 후</a:t>
            </a:r>
            <a:r>
              <a:rPr lang="en-US" altLang="ko-KR" dirty="0" smtClean="0"/>
              <a:t>, dense prediction (</a:t>
            </a:r>
            <a:r>
              <a:rPr lang="en-US" altLang="ko-KR" dirty="0"/>
              <a:t>predicting a label for each pixel in the image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위해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을 통하여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세밀화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다른 모델보다 훈련시킬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적어 계산속도가 빠르며 메모리 측면에서도 효율적인 강점을 가짐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Abstraction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39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Backgrounds and Features</a:t>
            </a:r>
          </a:p>
          <a:p>
            <a:pPr lvl="1">
              <a:buSzPct val="100000"/>
            </a:pPr>
            <a:r>
              <a:rPr lang="ko-KR" altLang="en-US" dirty="0" smtClean="0"/>
              <a:t>픽셀 </a:t>
            </a:r>
            <a:r>
              <a:rPr lang="ko-KR" altLang="en-US" dirty="0"/>
              <a:t>단위 예측에서 행하는 </a:t>
            </a:r>
            <a:r>
              <a:rPr lang="en-US" altLang="ko-KR" dirty="0"/>
              <a:t>sub-sampling</a:t>
            </a:r>
            <a:r>
              <a:rPr lang="ko-KR" altLang="en-US" dirty="0"/>
              <a:t>과 </a:t>
            </a:r>
            <a:r>
              <a:rPr lang="en-US" altLang="ko-KR" dirty="0"/>
              <a:t>max pooling</a:t>
            </a:r>
            <a:r>
              <a:rPr lang="ko-KR" altLang="en-US" dirty="0"/>
              <a:t>이 </a:t>
            </a:r>
            <a:r>
              <a:rPr lang="en-US" altLang="ko-KR" dirty="0"/>
              <a:t>output</a:t>
            </a:r>
            <a:r>
              <a:rPr lang="ko-KR" altLang="en-US" dirty="0"/>
              <a:t>의 </a:t>
            </a:r>
            <a:r>
              <a:rPr lang="en-US" altLang="ko-KR" dirty="0"/>
              <a:t>feature</a:t>
            </a:r>
            <a:r>
              <a:rPr lang="ko-KR" altLang="en-US" dirty="0"/>
              <a:t>를 </a:t>
            </a:r>
            <a:r>
              <a:rPr lang="ko-KR" altLang="en-US" dirty="0" smtClean="0"/>
              <a:t>저해상도로 만들기</a:t>
            </a:r>
            <a:r>
              <a:rPr lang="en-US" altLang="ko-KR" dirty="0" smtClean="0"/>
              <a:t> </a:t>
            </a:r>
            <a:r>
              <a:rPr lang="ko-KR" altLang="en-US" dirty="0" smtClean="0"/>
              <a:t>때문에</a:t>
            </a:r>
            <a:r>
              <a:rPr lang="en-US" altLang="ko-KR" dirty="0" smtClean="0"/>
              <a:t>, </a:t>
            </a:r>
            <a:r>
              <a:rPr lang="ko-KR" altLang="en-US" dirty="0"/>
              <a:t>이를 해결하고자 </a:t>
            </a:r>
            <a:r>
              <a:rPr lang="en-US" altLang="ko-KR" dirty="0" err="1"/>
              <a:t>SegNet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고안하게 됨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보행자 등의 다양한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를 가지는 도로 장면에서 작은 크기를 가진 객체들의 경계를 명확히 구분하는 능력이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에 요구됨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VGG16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convolutional layer</a:t>
            </a:r>
            <a:r>
              <a:rPr lang="ko-KR" altLang="en-US" dirty="0" smtClean="0"/>
              <a:t>와 </a:t>
            </a:r>
            <a:r>
              <a:rPr lang="ko-KR" altLang="en-US" dirty="0" smtClean="0"/>
              <a:t>구조적으로 </a:t>
            </a:r>
            <a:r>
              <a:rPr lang="ko-KR" altLang="en-US" dirty="0" smtClean="0"/>
              <a:t>동일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Introduction(</a:t>
            </a:r>
            <a:r>
              <a:rPr lang="en-US" altLang="ko-KR" dirty="0" smtClean="0"/>
              <a:t>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Introduction(</a:t>
            </a:r>
            <a:r>
              <a:rPr lang="en-US" altLang="ko-KR" dirty="0" smtClean="0"/>
              <a:t>II)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33940"/>
            <a:ext cx="5995893" cy="2659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539552" y="988017"/>
            <a:ext cx="5344269" cy="2368975"/>
            <a:chOff x="539552" y="764704"/>
            <a:chExt cx="5344269" cy="23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764704"/>
              <a:ext cx="4984229" cy="236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직사각형 1"/>
            <p:cNvSpPr/>
            <p:nvPr/>
          </p:nvSpPr>
          <p:spPr>
            <a:xfrm>
              <a:off x="539552" y="980728"/>
              <a:ext cx="2664296" cy="1728192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732240" y="191683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SegNet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Decoder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2240" y="450912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VGG16 Decoder</a:t>
            </a:r>
            <a:endParaRPr lang="ko-KR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3356992"/>
            <a:ext cx="4752528" cy="2880320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7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Method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논문은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decoding </a:t>
            </a:r>
            <a:r>
              <a:rPr lang="ko-KR" altLang="en-US" dirty="0" smtClean="0"/>
              <a:t>기법과 </a:t>
            </a:r>
            <a:r>
              <a:rPr lang="en-US" altLang="ko-KR" dirty="0" smtClean="0"/>
              <a:t>Fully Convolutional Network (FCN)</a:t>
            </a:r>
            <a:r>
              <a:rPr lang="ko-KR" altLang="en-US" dirty="0"/>
              <a:t> </a:t>
            </a:r>
            <a:r>
              <a:rPr lang="ko-KR" altLang="en-US" dirty="0" smtClean="0"/>
              <a:t>을 비교 분석하여 </a:t>
            </a:r>
            <a:r>
              <a:rPr lang="en-US" altLang="ko-KR" dirty="0" smtClean="0"/>
              <a:t>segmentation architecture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trade-off</a:t>
            </a:r>
            <a:r>
              <a:rPr lang="ko-KR" altLang="en-US" dirty="0" smtClean="0"/>
              <a:t>를 설명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성능을 나타내기 위해 </a:t>
            </a:r>
            <a:r>
              <a:rPr lang="en-US" altLang="ko-KR" dirty="0" err="1" smtClean="0"/>
              <a:t>CamVid</a:t>
            </a:r>
            <a:r>
              <a:rPr lang="en-US" altLang="ko-KR" dirty="0" smtClean="0"/>
              <a:t> </a:t>
            </a:r>
            <a:r>
              <a:rPr lang="en-US" altLang="ko-KR" dirty="0" smtClean="0"/>
              <a:t>Dataset </a:t>
            </a:r>
            <a:r>
              <a:rPr lang="ko-KR" altLang="en-US" dirty="0" smtClean="0"/>
              <a:t>도로 </a:t>
            </a:r>
            <a:r>
              <a:rPr lang="ko-KR" altLang="en-US" dirty="0" smtClean="0"/>
              <a:t>장면과 </a:t>
            </a:r>
            <a:r>
              <a:rPr lang="en-US" altLang="ko-KR" dirty="0" smtClean="0"/>
              <a:t>SUN RGB-D </a:t>
            </a:r>
            <a:r>
              <a:rPr lang="ko-KR" altLang="en-US" dirty="0" smtClean="0"/>
              <a:t>실내 장면을 사용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Introduction(III)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395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Related works</a:t>
            </a:r>
          </a:p>
          <a:p>
            <a:pPr lvl="1">
              <a:buSzPct val="100000"/>
            </a:pPr>
            <a:r>
              <a:rPr lang="en-US" altLang="ko-KR" dirty="0" smtClean="0"/>
              <a:t>Convolutional neural network</a:t>
            </a:r>
            <a:r>
              <a:rPr lang="ko-KR" altLang="en-US" dirty="0" smtClean="0"/>
              <a:t>가 객체 분류에 성공적인 결과를 도출 함에 따라</a:t>
            </a:r>
            <a:r>
              <a:rPr lang="en-US" altLang="ko-KR" dirty="0"/>
              <a:t> </a:t>
            </a:r>
            <a:r>
              <a:rPr lang="ko-KR" altLang="en-US" dirty="0" smtClean="0"/>
              <a:t>해당 신경망들을 </a:t>
            </a:r>
            <a:r>
              <a:rPr lang="en-US" altLang="ko-KR" dirty="0" smtClean="0"/>
              <a:t>segmentation</a:t>
            </a:r>
            <a:r>
              <a:rPr lang="ko-KR" altLang="en-US" dirty="0"/>
              <a:t> </a:t>
            </a:r>
            <a:r>
              <a:rPr lang="en-US" altLang="ko-KR" dirty="0" smtClean="0"/>
              <a:t>problem</a:t>
            </a:r>
            <a:r>
              <a:rPr lang="ko-KR" altLang="en-US" dirty="0" smtClean="0"/>
              <a:t>에 적용하려는 시도가 있었지만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결과로 나온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이 객체의 경계가 아닌 </a:t>
            </a:r>
            <a:r>
              <a:rPr lang="ko-KR" altLang="en-US" dirty="0" smtClean="0"/>
              <a:t>객체를 포함하는 블록의 </a:t>
            </a:r>
            <a:r>
              <a:rPr lang="ko-KR" altLang="en-US" dirty="0" smtClean="0"/>
              <a:t>경계를 가짐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upsampli</a:t>
            </a:r>
            <a:r>
              <a:rPr lang="en-US" altLang="ko-KR" dirty="0" err="1"/>
              <a:t>n</a:t>
            </a:r>
            <a:r>
              <a:rPr lang="en-US" altLang="ko-KR" dirty="0" err="1" smtClean="0"/>
              <a:t>g</a:t>
            </a:r>
            <a:r>
              <a:rPr lang="ko-KR" altLang="en-US" dirty="0" smtClean="0"/>
              <a:t>시 학습이 필요하고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신경망수가 늘어나 </a:t>
            </a:r>
            <a:r>
              <a:rPr lang="en-US" altLang="ko-KR" dirty="0" smtClean="0"/>
              <a:t>end-to-end </a:t>
            </a:r>
            <a:r>
              <a:rPr lang="ko-KR" altLang="en-US" dirty="0" smtClean="0"/>
              <a:t>학습에 시간이 다소 소요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또한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skip architecture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도출된 </a:t>
            </a:r>
            <a:r>
              <a:rPr lang="en-US" altLang="ko-KR" dirty="0" smtClean="0"/>
              <a:t>map</a:t>
            </a:r>
            <a:r>
              <a:rPr lang="ko-KR" altLang="en-US" dirty="0" smtClean="0"/>
              <a:t>을 저장했다가 재사용하기 때문에 </a:t>
            </a:r>
            <a:r>
              <a:rPr lang="en-US" altLang="ko-KR" dirty="0" smtClean="0"/>
              <a:t>memory </a:t>
            </a:r>
            <a:r>
              <a:rPr lang="ko-KR" altLang="en-US" dirty="0" smtClean="0"/>
              <a:t>측면에서 비효율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Recurrent Neural Network (RNN)</a:t>
            </a:r>
            <a:r>
              <a:rPr lang="ko-KR" altLang="en-US" dirty="0" smtClean="0"/>
              <a:t>을 더하여 세밀한 경계를 도출한 결과가 존재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Related works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454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구조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batch normalization, </a:t>
            </a:r>
            <a:r>
              <a:rPr lang="en-US" altLang="ko-KR" dirty="0" err="1" smtClean="0"/>
              <a:t>ReLU</a:t>
            </a:r>
            <a:r>
              <a:rPr lang="ko-KR" altLang="en-US" dirty="0"/>
              <a:t> </a:t>
            </a:r>
            <a:r>
              <a:rPr lang="ko-KR" altLang="en-US" dirty="0" smtClean="0"/>
              <a:t>적용</a:t>
            </a:r>
            <a:r>
              <a:rPr lang="en-US" altLang="ko-KR" dirty="0" smtClean="0"/>
              <a:t>, max-pooling</a:t>
            </a:r>
            <a:r>
              <a:rPr lang="ko-KR" altLang="en-US" dirty="0" smtClean="0"/>
              <a:t>이 순차적으로 일어남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filter bank</a:t>
            </a:r>
            <a:r>
              <a:rPr lang="ko-KR" altLang="en-US" dirty="0"/>
              <a:t> </a:t>
            </a:r>
            <a:r>
              <a:rPr lang="en-US" altLang="ko-KR" dirty="0" smtClean="0"/>
              <a:t>convolution, batch normalization</a:t>
            </a:r>
            <a:r>
              <a:rPr lang="ko-KR" altLang="en-US" dirty="0" smtClean="0"/>
              <a:t>의 과정을 거침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filter bank</a:t>
            </a:r>
            <a:r>
              <a:rPr lang="ko-KR" altLang="en-US" dirty="0" smtClean="0"/>
              <a:t>는 학</a:t>
            </a:r>
            <a:r>
              <a:rPr lang="ko-KR" altLang="en-US" dirty="0"/>
              <a:t>습</a:t>
            </a:r>
            <a:r>
              <a:rPr lang="ko-KR" altLang="en-US" dirty="0" smtClean="0"/>
              <a:t>을 통하여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가 변경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마지막 </a:t>
            </a:r>
            <a:r>
              <a:rPr lang="en-US" altLang="ko-KR" dirty="0" smtClean="0"/>
              <a:t>decoder layer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multi-channel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도출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최종적으로 </a:t>
            </a:r>
            <a:r>
              <a:rPr lang="en-US" altLang="ko-KR" dirty="0" smtClean="0"/>
              <a:t>multi-channel 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soft-max </a:t>
            </a:r>
            <a:r>
              <a:rPr lang="ko-KR" altLang="en-US" dirty="0" smtClean="0"/>
              <a:t>함수를 거쳐 지정했던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의 수만큼의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을 가진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결과로 나옴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18" y="4437112"/>
            <a:ext cx="6126766" cy="173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87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과의 차이점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 output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으로 전달할 때</a:t>
            </a:r>
            <a:r>
              <a:rPr lang="en-US" altLang="ko-KR" dirty="0" smtClean="0"/>
              <a:t>, channel</a:t>
            </a:r>
            <a:r>
              <a:rPr lang="ko-KR" altLang="en-US" dirty="0" smtClean="0"/>
              <a:t>의 차원수를 감소시키고  </a:t>
            </a:r>
            <a:r>
              <a:rPr lang="en-US" altLang="ko-KR" dirty="0" smtClean="0"/>
              <a:t>inverse convolution(deconvolution)</a:t>
            </a:r>
            <a:r>
              <a:rPr lang="ko-KR" altLang="en-US" dirty="0" smtClean="0"/>
              <a:t>으로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을 진행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에서 기억했던 </a:t>
            </a:r>
            <a:r>
              <a:rPr lang="en-US" altLang="ko-KR" dirty="0" smtClean="0"/>
              <a:t>pooling indices</a:t>
            </a:r>
            <a:r>
              <a:rPr lang="ko-KR" altLang="en-US" dirty="0" smtClean="0"/>
              <a:t>를 이용하여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한 후</a:t>
            </a:r>
            <a:r>
              <a:rPr lang="en-US" altLang="ko-KR" dirty="0" smtClean="0"/>
              <a:t>, </a:t>
            </a:r>
            <a:r>
              <a:rPr lang="ko-KR" altLang="en-US" dirty="0" err="1"/>
              <a:t>훈련가능한</a:t>
            </a:r>
            <a:r>
              <a:rPr lang="ko-KR" altLang="en-US" dirty="0"/>
              <a:t> </a:t>
            </a:r>
            <a:r>
              <a:rPr lang="en-US" altLang="ko-KR" dirty="0"/>
              <a:t>filter bank</a:t>
            </a:r>
            <a:r>
              <a:rPr lang="ko-KR" altLang="en-US" dirty="0"/>
              <a:t>를 </a:t>
            </a:r>
            <a:r>
              <a:rPr lang="ko-KR" altLang="en-US" dirty="0" smtClean="0"/>
              <a:t>사용하</a:t>
            </a:r>
            <a:r>
              <a:rPr lang="ko-KR" altLang="en-US" dirty="0"/>
              <a:t>여</a:t>
            </a:r>
            <a:r>
              <a:rPr lang="ko-KR" altLang="en-US" dirty="0" smtClean="0"/>
              <a:t>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하여 </a:t>
            </a:r>
            <a:r>
              <a:rPr lang="en-US" altLang="ko-KR" dirty="0" smtClean="0"/>
              <a:t>densifying</a:t>
            </a:r>
          </a:p>
          <a:p>
            <a:pPr lvl="2">
              <a:buSzPct val="100000"/>
            </a:pPr>
            <a:r>
              <a:rPr lang="ko-KR" altLang="en-US" dirty="0" smtClean="0"/>
              <a:t>기존 </a:t>
            </a:r>
            <a:r>
              <a:rPr lang="en-US" altLang="ko-KR" dirty="0" smtClean="0"/>
              <a:t>deconvolution 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parameter </a:t>
            </a:r>
            <a:r>
              <a:rPr lang="ko-KR" altLang="en-US" dirty="0" smtClean="0"/>
              <a:t>의 수를 적게 사용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284984"/>
            <a:ext cx="6558034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변화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본 논문에서는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 technique</a:t>
            </a:r>
            <a:r>
              <a:rPr lang="ko-KR" altLang="en-US" dirty="0" smtClean="0"/>
              <a:t>을 변화시켜 성능을 비교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소형화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7x7 kernel, 4 encoder, 4 decoder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내의 기능들은 앞서 언급된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과 동일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-Basic-</a:t>
            </a:r>
            <a:r>
              <a:rPr lang="en-US" altLang="ko-KR" dirty="0" err="1" smtClean="0"/>
              <a:t>SingleChannelDecoder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 filter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훈련시킬</a:t>
            </a:r>
            <a:r>
              <a:rPr lang="en-US" altLang="ko-KR" dirty="0"/>
              <a:t>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수가 줄어드는 장점</a:t>
            </a:r>
            <a:r>
              <a:rPr lang="ko-KR" altLang="en-US" dirty="0"/>
              <a:t>을</a:t>
            </a:r>
            <a:r>
              <a:rPr lang="ko-KR" altLang="en-US" dirty="0" smtClean="0"/>
              <a:t> 지님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-Basic-</a:t>
            </a:r>
            <a:r>
              <a:rPr lang="en-US" altLang="ko-KR" dirty="0" err="1" smtClean="0"/>
              <a:t>EncoderAddition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Encoder</a:t>
            </a:r>
            <a:r>
              <a:rPr lang="ko-KR" altLang="en-US" dirty="0" smtClean="0"/>
              <a:t>의 각 층마다 </a:t>
            </a:r>
            <a:r>
              <a:rPr lang="en-US" altLang="ko-KR" dirty="0" smtClean="0"/>
              <a:t>64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을 대응하는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층에 더함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upsampling</a:t>
            </a:r>
            <a:r>
              <a:rPr lang="ko-KR" altLang="en-US" dirty="0" smtClean="0"/>
              <a:t>하고 </a:t>
            </a:r>
            <a:r>
              <a:rPr lang="en-US" altLang="ko-KR" dirty="0" smtClean="0"/>
              <a:t>convolution</a:t>
            </a:r>
            <a:r>
              <a:rPr lang="ko-KR" altLang="en-US" dirty="0" smtClean="0"/>
              <a:t>이 진행된 후에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과 결합되는 형태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Contributions(III)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46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FCN-Basic</a:t>
            </a:r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  <a:r>
              <a:rPr lang="ko-KR" altLang="en-US" dirty="0" smtClean="0"/>
              <a:t>과 대응되도록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을 설계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FCN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와 변함이 없음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FCN-Basic-</a:t>
            </a:r>
            <a:r>
              <a:rPr lang="en-US" altLang="ko-KR" dirty="0" err="1" smtClean="0"/>
              <a:t>NoAddtion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Skip structure</a:t>
            </a:r>
            <a:r>
              <a:rPr lang="ko-KR" altLang="en-US" dirty="0" smtClean="0"/>
              <a:t>를 사용하지 않고 </a:t>
            </a:r>
            <a:r>
              <a:rPr lang="en-US" altLang="ko-KR" dirty="0" err="1" smtClean="0"/>
              <a:t>upsampling</a:t>
            </a:r>
            <a:r>
              <a:rPr lang="en-US" altLang="ko-KR" dirty="0" smtClean="0"/>
              <a:t> kernel</a:t>
            </a:r>
            <a:r>
              <a:rPr lang="ko-KR" altLang="en-US" dirty="0" smtClean="0"/>
              <a:t>만 훈련시키며 </a:t>
            </a:r>
            <a:r>
              <a:rPr lang="en-US" altLang="ko-KR" dirty="0" smtClean="0"/>
              <a:t>decoding</a:t>
            </a:r>
          </a:p>
          <a:p>
            <a:pPr lvl="1">
              <a:buSzPct val="100000"/>
            </a:pPr>
            <a:r>
              <a:rPr lang="en-US" altLang="ko-KR" dirty="0" smtClean="0"/>
              <a:t>FCN-Basic-</a:t>
            </a:r>
            <a:r>
              <a:rPr lang="en-US" altLang="ko-KR" dirty="0" err="1" smtClean="0"/>
              <a:t>NoDimReduction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일반적 </a:t>
            </a:r>
            <a:r>
              <a:rPr lang="en-US" altLang="ko-KR" dirty="0" smtClean="0"/>
              <a:t>FCN : </a:t>
            </a:r>
            <a:r>
              <a:rPr lang="ko-KR" altLang="en-US" dirty="0" smtClean="0"/>
              <a:t>마지막 </a:t>
            </a:r>
            <a:r>
              <a:rPr lang="en-US" altLang="ko-KR" dirty="0" smtClean="0"/>
              <a:t>encoder layer output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수를 줄임</a:t>
            </a:r>
            <a:endParaRPr lang="en-US" altLang="ko-KR" dirty="0" smtClean="0"/>
          </a:p>
          <a:p>
            <a:pPr lvl="2">
              <a:buSzPct val="100000"/>
            </a:pPr>
            <a:r>
              <a:rPr lang="ko-KR" altLang="en-US" dirty="0" smtClean="0"/>
              <a:t>본 </a:t>
            </a:r>
            <a:r>
              <a:rPr lang="en-US" altLang="ko-KR" dirty="0" smtClean="0"/>
              <a:t>decoder technique</a:t>
            </a:r>
            <a:r>
              <a:rPr lang="ko-KR" altLang="en-US" dirty="0" smtClean="0"/>
              <a:t>는 마지막 </a:t>
            </a:r>
            <a:r>
              <a:rPr lang="en-US" altLang="ko-KR" dirty="0" smtClean="0"/>
              <a:t>encoder feature map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수를 줄이지 않아 </a:t>
            </a:r>
            <a:r>
              <a:rPr lang="en-US" altLang="ko-KR" dirty="0" err="1" smtClean="0"/>
              <a:t>endcoder</a:t>
            </a:r>
            <a:r>
              <a:rPr lang="ko-KR" altLang="en-US" dirty="0" smtClean="0"/>
              <a:t>와 대응되는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channel</a:t>
            </a:r>
            <a:r>
              <a:rPr lang="ko-KR" altLang="en-US" dirty="0" smtClean="0"/>
              <a:t>수가 같음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Bilinear-Interpolation</a:t>
            </a:r>
          </a:p>
          <a:p>
            <a:pPr lvl="2">
              <a:buSzPct val="100000"/>
            </a:pPr>
            <a:r>
              <a:rPr lang="en-US" altLang="ko-KR" dirty="0" smtClean="0"/>
              <a:t>fixed-parameter</a:t>
            </a:r>
            <a:r>
              <a:rPr lang="ko-KR" altLang="en-US" dirty="0" smtClean="0"/>
              <a:t>를 가진 </a:t>
            </a:r>
            <a:r>
              <a:rPr lang="ko-KR" altLang="en-US" dirty="0" err="1" smtClean="0"/>
              <a:t>선형보간법을</a:t>
            </a:r>
            <a:r>
              <a:rPr lang="ko-KR" altLang="en-US" dirty="0" smtClean="0"/>
              <a:t> 이용하여 </a:t>
            </a:r>
            <a:r>
              <a:rPr lang="en-US" altLang="ko-KR" dirty="0" err="1" smtClean="0"/>
              <a:t>upsampling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Upsampling</a:t>
            </a:r>
            <a:r>
              <a:rPr lang="ko-KR" altLang="en-US" dirty="0" smtClean="0"/>
              <a:t>의 학습이 존재하지 않음</a:t>
            </a:r>
            <a:endParaRPr lang="en-US" altLang="ko-KR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Contributions(IV)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11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Contributions(V)</a:t>
            </a:r>
            <a:endParaRPr lang="ko-KR" altLang="en-US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179513" y="736601"/>
            <a:ext cx="8482356" cy="53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 marL="342900" indent="-342900" algn="l" defTabSz="455613" rtl="0" eaLnBrk="1" fontAlgn="base" latinLnBrk="1" hangingPunct="1">
              <a:lnSpc>
                <a:spcPct val="150000"/>
              </a:lnSpc>
              <a:spcBef>
                <a:spcPts val="575"/>
              </a:spcBef>
              <a:spcAft>
                <a:spcPct val="0"/>
              </a:spcAft>
              <a:buClr>
                <a:srgbClr val="000AF2"/>
              </a:buClr>
              <a:buSzPct val="70000"/>
              <a:buFont typeface="맑은 고딕" pitchFamily="50" charset="-127"/>
              <a:buChar char="■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1350" indent="-185738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맑은 고딕" pitchFamily="50" charset="-127"/>
              <a:buChar char="▶"/>
              <a:defRPr lang="ko-KR" alt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l"/>
              <a:defRPr lang="ko-KR" altLang="en-US" sz="1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8613" indent="-227013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Ø"/>
              <a:defRPr lang="ko-KR" altLang="en-US" sz="11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7213" algn="l" defTabSz="455613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70000"/>
              <a:buFont typeface="Arial" pitchFamily="34" charset="0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459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3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7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1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변화 결과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G : Global accuracy – </a:t>
            </a:r>
            <a:r>
              <a:rPr lang="ko-KR" altLang="en-US" dirty="0" smtClean="0"/>
              <a:t>전체 </a:t>
            </a:r>
            <a:r>
              <a:rPr lang="ko-KR" altLang="en-US" dirty="0" smtClean="0"/>
              <a:t>픽셀에서 </a:t>
            </a:r>
            <a:r>
              <a:rPr lang="ko-KR" altLang="en-US" dirty="0" smtClean="0"/>
              <a:t>올바르게 </a:t>
            </a:r>
            <a:r>
              <a:rPr lang="ko-KR" altLang="en-US" dirty="0" smtClean="0"/>
              <a:t>분류된 픽셀 비율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 : Class accuracy –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class</a:t>
            </a:r>
            <a:r>
              <a:rPr lang="ko-KR" altLang="en-US" dirty="0" smtClean="0"/>
              <a:t>의 예측 정확도의 평균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mIoU</a:t>
            </a:r>
            <a:r>
              <a:rPr lang="en-US" altLang="ko-KR" dirty="0" smtClean="0"/>
              <a:t> : Mean of intersection over union</a:t>
            </a:r>
          </a:p>
          <a:p>
            <a:pPr lvl="1">
              <a:buSzPct val="100000"/>
            </a:pPr>
            <a:r>
              <a:rPr lang="en-US" altLang="ko-KR" dirty="0" smtClean="0"/>
              <a:t>BF : Semantic contour measure using F1 - score</a:t>
            </a:r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FCN-Basic</a:t>
            </a:r>
          </a:p>
          <a:p>
            <a:pPr lvl="2">
              <a:buSzPct val="100000"/>
            </a:pPr>
            <a:r>
              <a:rPr lang="ko-KR" altLang="en-US" dirty="0" smtClean="0"/>
              <a:t>성능은 비슷한 수준이지만 </a:t>
            </a:r>
            <a:r>
              <a:rPr lang="en-US" altLang="ko-KR" dirty="0" smtClean="0"/>
              <a:t>parameter</a:t>
            </a:r>
            <a:r>
              <a:rPr lang="ko-KR" altLang="en-US" dirty="0" smtClean="0"/>
              <a:t>수에서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이 훨씬 적은 결과가 도출되었고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memory</a:t>
            </a:r>
            <a:r>
              <a:rPr lang="ko-KR" altLang="en-US" dirty="0" smtClean="0"/>
              <a:t>측면에서 </a:t>
            </a:r>
            <a:r>
              <a:rPr lang="en-US" altLang="ko-KR" dirty="0" err="1" smtClean="0"/>
              <a:t>SegNet</a:t>
            </a:r>
            <a:r>
              <a:rPr lang="ko-KR" altLang="en-US" dirty="0" smtClean="0"/>
              <a:t>의 효율이 높음</a:t>
            </a:r>
            <a:endParaRPr lang="en-US" altLang="ko-KR" dirty="0" smtClean="0"/>
          </a:p>
          <a:p>
            <a:pPr lvl="2">
              <a:buSzPct val="100000"/>
            </a:pP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14" y="4149080"/>
            <a:ext cx="7530571" cy="2023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93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Contributions(VI)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비교 결과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</a:t>
            </a:r>
            <a:r>
              <a:rPr lang="ko-KR" altLang="en-US" dirty="0" smtClean="0"/>
              <a:t> 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 </a:t>
            </a:r>
            <a:r>
              <a:rPr lang="en-US" altLang="ko-KR" dirty="0"/>
              <a:t>FCN-Basic</a:t>
            </a:r>
          </a:p>
          <a:p>
            <a:pPr lvl="2">
              <a:buSzPct val="100000"/>
            </a:pPr>
            <a:r>
              <a:rPr lang="ko-KR" altLang="en-US" dirty="0"/>
              <a:t>성능은 비슷한 수준이지만 </a:t>
            </a:r>
            <a:r>
              <a:rPr lang="en-US" altLang="ko-KR" dirty="0"/>
              <a:t>parameter</a:t>
            </a:r>
            <a:r>
              <a:rPr lang="ko-KR" altLang="en-US" dirty="0"/>
              <a:t>수에서 </a:t>
            </a:r>
            <a:r>
              <a:rPr lang="en-US" altLang="ko-KR" dirty="0" err="1"/>
              <a:t>SegNet</a:t>
            </a:r>
            <a:r>
              <a:rPr lang="ko-KR" altLang="en-US" dirty="0"/>
              <a:t>이 훨씬 적은 결과가 도출되었고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memory</a:t>
            </a:r>
            <a:r>
              <a:rPr lang="ko-KR" altLang="en-US" dirty="0"/>
              <a:t>측면에서 </a:t>
            </a:r>
            <a:r>
              <a:rPr lang="en-US" altLang="ko-KR" dirty="0" err="1"/>
              <a:t>SegNet</a:t>
            </a:r>
            <a:r>
              <a:rPr lang="ko-KR" altLang="en-US" dirty="0"/>
              <a:t>의 효율이 </a:t>
            </a:r>
            <a:r>
              <a:rPr lang="ko-KR" altLang="en-US" dirty="0" smtClean="0"/>
              <a:t>높음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64</a:t>
            </a:r>
            <a:r>
              <a:rPr lang="ko-KR" altLang="en-US" dirty="0" smtClean="0"/>
              <a:t>개이고 </a:t>
            </a:r>
            <a:r>
              <a:rPr lang="en-US" altLang="ko-KR" dirty="0" smtClean="0"/>
              <a:t>FCN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dimensionality Reduction</a:t>
            </a:r>
            <a:r>
              <a:rPr lang="ko-KR" altLang="en-US" dirty="0" smtClean="0"/>
              <a:t>을 사용하여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의 수가 적음</a:t>
            </a:r>
            <a:endParaRPr lang="en-US" altLang="ko-KR" dirty="0">
              <a:solidFill>
                <a:srgbClr val="FF0000"/>
              </a:solidFill>
            </a:endParaRPr>
          </a:p>
          <a:p>
            <a:pPr lvl="3">
              <a:buSzPct val="100000"/>
            </a:pPr>
            <a:r>
              <a:rPr lang="en-US" altLang="ko-KR" dirty="0" smtClean="0"/>
              <a:t>FCN-Basic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forward pass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inference</a:t>
            </a:r>
            <a:r>
              <a:rPr lang="ko-KR" altLang="en-US" dirty="0" smtClean="0"/>
              <a:t>에서 속도가 더 빠름</a:t>
            </a:r>
            <a:endParaRPr lang="en-US" altLang="ko-KR" dirty="0" smtClean="0"/>
          </a:p>
          <a:p>
            <a:pPr lvl="3">
              <a:buSzPct val="100000"/>
            </a:pPr>
            <a:r>
              <a:rPr lang="en-US" altLang="ko-KR" dirty="0" err="1" smtClean="0"/>
              <a:t>SegNet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decoder network</a:t>
            </a:r>
            <a:r>
              <a:rPr lang="ko-KR" altLang="en-US" dirty="0" smtClean="0"/>
              <a:t>가 더 크기 때문에 </a:t>
            </a:r>
            <a:r>
              <a:rPr lang="en-US" altLang="ko-KR" dirty="0" smtClean="0"/>
              <a:t>FCN-Basic</a:t>
            </a:r>
            <a:r>
              <a:rPr lang="ko-KR" altLang="en-US" dirty="0" smtClean="0"/>
              <a:t>보다 더 정확한 결과를 얻을  수 있음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SegNet</a:t>
            </a:r>
            <a:r>
              <a:rPr lang="en-US" altLang="ko-KR" dirty="0" smtClean="0"/>
              <a:t>-Basic &amp; FCN-Basic-</a:t>
            </a:r>
            <a:r>
              <a:rPr lang="en-US" altLang="ko-KR" dirty="0" err="1" smtClean="0"/>
              <a:t>NoAddition</a:t>
            </a:r>
            <a:r>
              <a:rPr lang="en-US" altLang="ko-KR" dirty="0" smtClean="0"/>
              <a:t>-</a:t>
            </a:r>
            <a:r>
              <a:rPr lang="en-US" altLang="ko-KR" dirty="0" err="1" smtClean="0"/>
              <a:t>NoDimReduction</a:t>
            </a:r>
            <a:endParaRPr lang="en-US" altLang="ko-KR" dirty="0" smtClean="0"/>
          </a:p>
          <a:p>
            <a:pPr lvl="2">
              <a:buSzPct val="100000"/>
            </a:pPr>
            <a:r>
              <a:rPr lang="en-US" altLang="ko-KR" dirty="0" smtClean="0"/>
              <a:t>Decoder </a:t>
            </a:r>
            <a:r>
              <a:rPr lang="ko-KR" altLang="en-US" dirty="0" smtClean="0"/>
              <a:t>크기가 후자가 전자보다 더 크지만 같은 </a:t>
            </a:r>
            <a:r>
              <a:rPr lang="ko-KR" altLang="en-US" dirty="0" err="1" smtClean="0"/>
              <a:t>에폭에서</a:t>
            </a:r>
            <a:r>
              <a:rPr lang="ko-KR" altLang="en-US" dirty="0" smtClean="0"/>
              <a:t> 전자의 정확도가 더 높음</a:t>
            </a:r>
            <a:endParaRPr lang="en-US" altLang="ko-KR" dirty="0" smtClean="0"/>
          </a:p>
          <a:p>
            <a:pPr lvl="3">
              <a:buSzPct val="100000"/>
            </a:pPr>
            <a:r>
              <a:rPr lang="ko-KR" altLang="en-US" dirty="0" smtClean="0"/>
              <a:t>큰 </a:t>
            </a:r>
            <a:r>
              <a:rPr lang="en-US" altLang="ko-KR" dirty="0" smtClean="0"/>
              <a:t>decoder</a:t>
            </a:r>
            <a:r>
              <a:rPr lang="ko-KR" altLang="en-US" dirty="0" smtClean="0"/>
              <a:t>가 항상 높은 정확도에 기여하는 것이 아니라</a:t>
            </a:r>
            <a:r>
              <a:rPr lang="en-US" altLang="ko-KR" dirty="0"/>
              <a:t> </a:t>
            </a:r>
            <a:r>
              <a:rPr lang="en-US" altLang="ko-KR" dirty="0" smtClean="0"/>
              <a:t>encoder</a:t>
            </a:r>
            <a:r>
              <a:rPr lang="ko-KR" altLang="en-US" dirty="0" smtClean="0"/>
              <a:t>의 결과 </a:t>
            </a:r>
            <a:r>
              <a:rPr lang="en-US" altLang="ko-KR" dirty="0" smtClean="0"/>
              <a:t>feature map</a:t>
            </a:r>
            <a:r>
              <a:rPr lang="ko-KR" altLang="en-US" dirty="0" smtClean="0"/>
              <a:t>이 올바르게 추출되는 것도 중요함</a:t>
            </a:r>
            <a:endParaRPr lang="en-US" altLang="ko-KR" dirty="0" smtClean="0"/>
          </a:p>
          <a:p>
            <a:pPr lvl="3">
              <a:buSzPct val="100000"/>
            </a:pPr>
            <a:r>
              <a:rPr lang="ko-KR" altLang="en-US" dirty="0"/>
              <a:t>이는 </a:t>
            </a:r>
            <a:r>
              <a:rPr lang="en-US" altLang="ko-KR" dirty="0"/>
              <a:t>FCN-Basic-</a:t>
            </a:r>
            <a:r>
              <a:rPr lang="en-US" altLang="ko-KR" dirty="0" err="1"/>
              <a:t>NoAddition</a:t>
            </a:r>
            <a:r>
              <a:rPr lang="ko-KR" altLang="en-US" dirty="0"/>
              <a:t>과 </a:t>
            </a:r>
            <a:r>
              <a:rPr lang="en-US" altLang="ko-KR" dirty="0"/>
              <a:t>FCN-Basic</a:t>
            </a:r>
            <a:r>
              <a:rPr lang="ko-KR" altLang="en-US" dirty="0"/>
              <a:t>을 비교했을 때</a:t>
            </a:r>
            <a:r>
              <a:rPr lang="en-US" altLang="ko-KR" dirty="0"/>
              <a:t>, FCN-Basic</a:t>
            </a:r>
            <a:r>
              <a:rPr lang="ko-KR" altLang="en-US" dirty="0"/>
              <a:t>의 정확도가 더 좋은 결과의 원인에도 </a:t>
            </a:r>
            <a:r>
              <a:rPr lang="ko-KR" altLang="en-US" dirty="0" smtClean="0"/>
              <a:t>해당함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 lvl="1">
              <a:buSzPct val="100000"/>
            </a:pPr>
            <a:endParaRPr lang="en-US" altLang="ko-KR" dirty="0" smtClean="0"/>
          </a:p>
          <a:p>
            <a:pPr lvl="2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310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Contributions(VII)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1">
              <a:buSzPct val="100000"/>
            </a:pPr>
            <a:r>
              <a:rPr lang="en-US" altLang="ko-KR" dirty="0" smtClean="0"/>
              <a:t>Class balancing</a:t>
            </a:r>
          </a:p>
          <a:p>
            <a:pPr lvl="2">
              <a:buSzPct val="100000"/>
            </a:pPr>
            <a:r>
              <a:rPr lang="en-US" altLang="ko-KR" dirty="0" smtClean="0"/>
              <a:t>*Median </a:t>
            </a:r>
            <a:r>
              <a:rPr lang="en-US" altLang="ko-KR" dirty="0" smtClean="0"/>
              <a:t>frequency balancing</a:t>
            </a:r>
            <a:r>
              <a:rPr lang="ko-KR" altLang="en-US" dirty="0" smtClean="0"/>
              <a:t>으로 </a:t>
            </a:r>
            <a:r>
              <a:rPr lang="en-US" altLang="ko-KR" dirty="0" smtClean="0"/>
              <a:t>class balancing</a:t>
            </a:r>
            <a:r>
              <a:rPr lang="ko-KR" altLang="en-US" dirty="0" smtClean="0"/>
              <a:t>한 결과보다 </a:t>
            </a:r>
            <a:r>
              <a:rPr lang="en-US" altLang="ko-KR" dirty="0" smtClean="0"/>
              <a:t>balancing</a:t>
            </a:r>
            <a:r>
              <a:rPr lang="ko-KR" altLang="en-US" dirty="0" smtClean="0"/>
              <a:t>하지 않은</a:t>
            </a:r>
            <a:r>
              <a:rPr lang="en-US" altLang="ko-KR" dirty="0"/>
              <a:t> </a:t>
            </a:r>
            <a:r>
              <a:rPr lang="en-US" altLang="ko-KR" dirty="0" smtClean="0"/>
              <a:t>(Natural frequency balancing) </a:t>
            </a:r>
            <a:r>
              <a:rPr lang="ko-KR" altLang="en-US" dirty="0" smtClean="0"/>
              <a:t>결과가 현저히 낮음을 보임 </a:t>
            </a:r>
            <a:r>
              <a:rPr lang="en-US" altLang="ko-KR" dirty="0" smtClean="0"/>
              <a:t>(Global accuracy </a:t>
            </a:r>
            <a:r>
              <a:rPr lang="ko-KR" altLang="en-US" dirty="0" smtClean="0"/>
              <a:t>제외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2">
              <a:buSzPct val="100000"/>
            </a:pPr>
            <a:r>
              <a:rPr lang="en-US" altLang="ko-KR" dirty="0" smtClean="0"/>
              <a:t>natural frequency balancing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global accuracy</a:t>
            </a:r>
            <a:r>
              <a:rPr lang="ko-KR" altLang="en-US" dirty="0" smtClean="0"/>
              <a:t>가 높은 이유는 도로 이미지에서 하늘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건물과 같은 크기가 큰 물체의 픽셀이 대부분을 차지하고 </a:t>
            </a:r>
            <a:r>
              <a:rPr lang="ko-KR" altLang="en-US" dirty="0" smtClean="0"/>
              <a:t>있기 때문</a:t>
            </a:r>
            <a:endParaRPr lang="en-US" altLang="ko-KR" dirty="0" smtClean="0"/>
          </a:p>
          <a:p>
            <a:pPr lvl="2">
              <a:buSzPct val="100000"/>
            </a:pP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1187624" y="3068960"/>
            <a:ext cx="6120680" cy="1831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*Median frequency balancing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: image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의 각 픽셀</a:t>
            </a:r>
            <a:r>
              <a:rPr lang="ko-KR" altLang="en-US" sz="1400" dirty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의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weight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를</a:t>
            </a:r>
            <a:endParaRPr lang="en-US" altLang="ko-KR" sz="1400" dirty="0" smtClean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  <a:p>
            <a:r>
              <a:rPr lang="el-GR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α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_c </a:t>
            </a:r>
            <a:r>
              <a:rPr lang="en-US" altLang="ko-KR" sz="1400" dirty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= </a:t>
            </a:r>
            <a:r>
              <a:rPr lang="en-US" altLang="ko-KR" sz="1400" dirty="0" err="1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median_freq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/</a:t>
            </a:r>
            <a:r>
              <a:rPr lang="en-US" altLang="ko-KR" sz="1400" dirty="0" err="1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freq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(c) 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로 둔다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.</a:t>
            </a:r>
          </a:p>
          <a:p>
            <a:endParaRPr lang="en-US" altLang="ko-KR" sz="1400" dirty="0" smtClean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  <a:p>
            <a:r>
              <a:rPr lang="en-US" altLang="ko-KR" sz="1400" dirty="0" err="1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freq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(c) = class c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를 가진 픽셀의 수 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/ 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전체 픽셀 수</a:t>
            </a:r>
            <a:endParaRPr lang="en-US" altLang="ko-KR" sz="1400" dirty="0" smtClean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  <a:p>
            <a:r>
              <a:rPr lang="en-US" altLang="ko-KR" sz="1400" dirty="0" err="1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Medain_freq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= 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모든 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class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에 대한 </a:t>
            </a:r>
            <a:r>
              <a:rPr lang="en-US" altLang="ko-KR" sz="1400" dirty="0" err="1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freq</a:t>
            </a:r>
            <a:r>
              <a:rPr lang="en-US" altLang="ko-KR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(c)</a:t>
            </a:r>
            <a:r>
              <a:rPr lang="ko-KR" altLang="en-US" sz="1400" dirty="0" smtClean="0"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들의 중앙값</a:t>
            </a:r>
            <a:endParaRPr lang="en-US" altLang="ko-KR" sz="1400" dirty="0" smtClean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  <a:p>
            <a:endParaRPr lang="en-US" altLang="ko-KR" sz="160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  <a:p>
            <a:r>
              <a:rPr lang="en-US" altLang="ko-KR" sz="900" dirty="0"/>
              <a:t>D. Eigen and R. Fergus, “Predicting depth, surface </a:t>
            </a:r>
            <a:r>
              <a:rPr lang="en-US" altLang="ko-KR" sz="900" dirty="0" err="1"/>
              <a:t>normals</a:t>
            </a:r>
            <a:r>
              <a:rPr lang="en-US" altLang="ko-KR" sz="900" dirty="0"/>
              <a:t> and semantic</a:t>
            </a:r>
          </a:p>
          <a:p>
            <a:r>
              <a:rPr lang="en-US" altLang="ko-KR" sz="900" dirty="0"/>
              <a:t>labels with a common multi-scale convolutional architecture,” in ICCV,</a:t>
            </a:r>
          </a:p>
          <a:p>
            <a:r>
              <a:rPr lang="en-US" altLang="ko-KR" sz="900" dirty="0"/>
              <a:t>pp. 2650–2658, 2015.</a:t>
            </a:r>
            <a:endParaRPr lang="en-US" altLang="ko-KR" sz="900" dirty="0" smtClean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9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2520</TotalTime>
  <Words>891</Words>
  <Application>Microsoft Office PowerPoint</Application>
  <PresentationFormat>화면 슬라이드 쇼(4:3)</PresentationFormat>
  <Paragraphs>100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88</cp:revision>
  <dcterms:created xsi:type="dcterms:W3CDTF">2020-01-06T00:01:51Z</dcterms:created>
  <dcterms:modified xsi:type="dcterms:W3CDTF">2020-01-13T00:25:40Z</dcterms:modified>
</cp:coreProperties>
</file>