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media/image7.png" ContentType="image/png"/>
  <Override PartName="/ppt/media/image2.png" ContentType="image/png"/>
  <Override PartName="/ppt/media/image1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entation.xml" ContentType="application/vnd.openxmlformats-officedocument.presentationml.presentation.main+xml"/>
  <Override PartName="/ppt/theme/theme2.xml" ContentType="application/vnd.openxmlformats-officedocument.theme+xml"/>
  <Override PartName="/ppt/theme/theme1.xml" ContentType="application/vnd.openxmlformats-officedocument.theme+xml"/>
  <Override PartName="/ppt/slideLayouts/_rels/slideLayout2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6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s/slide13.xml" ContentType="application/vnd.openxmlformats-officedocument.presentationml.slide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2.xml.rels" ContentType="application/vnd.openxmlformats-package.relationships+xml"/>
  <Override PartName="/ppt/slides/_rels/slide9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6858000"/>
  <p:notesSz cx="7772400" cy="100584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179640" y="736560"/>
            <a:ext cx="8481960" cy="53870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179640" y="736560"/>
            <a:ext cx="8481960" cy="5387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179640" y="736560"/>
            <a:ext cx="4138920" cy="5387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525920" y="736560"/>
            <a:ext cx="4138920" cy="5387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179640" y="73656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525920" y="736560"/>
            <a:ext cx="4138920" cy="5387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179640" y="355032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179640" y="736560"/>
            <a:ext cx="4138920" cy="5387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525920" y="73656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4525920" y="355032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179640" y="73656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25920" y="73656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179640" y="3550320"/>
            <a:ext cx="8481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640" y="736560"/>
            <a:ext cx="8481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640" y="3550320"/>
            <a:ext cx="8481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179640" y="73656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25920" y="73656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179640" y="355032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525920" y="355032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179640" y="736560"/>
            <a:ext cx="2730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3047400" y="736560"/>
            <a:ext cx="2730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5915520" y="736560"/>
            <a:ext cx="2730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179640" y="3550320"/>
            <a:ext cx="2730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body"/>
          </p:nvPr>
        </p:nvSpPr>
        <p:spPr>
          <a:xfrm>
            <a:off x="3047400" y="3550320"/>
            <a:ext cx="2730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body"/>
          </p:nvPr>
        </p:nvSpPr>
        <p:spPr>
          <a:xfrm>
            <a:off x="5915520" y="3550320"/>
            <a:ext cx="2730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ubTitle"/>
          </p:nvPr>
        </p:nvSpPr>
        <p:spPr>
          <a:xfrm>
            <a:off x="179640" y="736560"/>
            <a:ext cx="8481960" cy="53870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179640" y="736560"/>
            <a:ext cx="8481960" cy="5387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179640" y="736560"/>
            <a:ext cx="4138920" cy="5387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4525920" y="736560"/>
            <a:ext cx="4138920" cy="5387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179640" y="73656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525920" y="736560"/>
            <a:ext cx="4138920" cy="5387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179640" y="355032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179640" y="736560"/>
            <a:ext cx="4138920" cy="5387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body"/>
          </p:nvPr>
        </p:nvSpPr>
        <p:spPr>
          <a:xfrm>
            <a:off x="4525920" y="73656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body"/>
          </p:nvPr>
        </p:nvSpPr>
        <p:spPr>
          <a:xfrm>
            <a:off x="4525920" y="355032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179640" y="73656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4525920" y="73656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179640" y="3550320"/>
            <a:ext cx="8481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179640" y="736560"/>
            <a:ext cx="8481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body"/>
          </p:nvPr>
        </p:nvSpPr>
        <p:spPr>
          <a:xfrm>
            <a:off x="179640" y="3550320"/>
            <a:ext cx="8481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179640" y="73656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525920" y="73656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body"/>
          </p:nvPr>
        </p:nvSpPr>
        <p:spPr>
          <a:xfrm>
            <a:off x="179640" y="355032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body"/>
          </p:nvPr>
        </p:nvSpPr>
        <p:spPr>
          <a:xfrm>
            <a:off x="4525920" y="3550320"/>
            <a:ext cx="413892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179640" y="736560"/>
            <a:ext cx="2730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body"/>
          </p:nvPr>
        </p:nvSpPr>
        <p:spPr>
          <a:xfrm>
            <a:off x="3047400" y="736560"/>
            <a:ext cx="2730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body"/>
          </p:nvPr>
        </p:nvSpPr>
        <p:spPr>
          <a:xfrm>
            <a:off x="5915520" y="736560"/>
            <a:ext cx="2730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 type="body"/>
          </p:nvPr>
        </p:nvSpPr>
        <p:spPr>
          <a:xfrm>
            <a:off x="179640" y="3550320"/>
            <a:ext cx="2730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 type="body"/>
          </p:nvPr>
        </p:nvSpPr>
        <p:spPr>
          <a:xfrm>
            <a:off x="3047400" y="3550320"/>
            <a:ext cx="2730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7"/>
          <p:cNvSpPr>
            <a:spLocks noGrp="1"/>
          </p:cNvSpPr>
          <p:nvPr>
            <p:ph type="body"/>
          </p:nvPr>
        </p:nvSpPr>
        <p:spPr>
          <a:xfrm>
            <a:off x="5915520" y="3550320"/>
            <a:ext cx="2730960" cy="25693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3132000" y="6453360"/>
            <a:ext cx="6011640" cy="404280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CustomShape 2"/>
          <p:cNvSpPr/>
          <p:nvPr/>
        </p:nvSpPr>
        <p:spPr>
          <a:xfrm>
            <a:off x="0" y="6453360"/>
            <a:ext cx="3131640" cy="404280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" name="CustomShape 3"/>
          <p:cNvSpPr/>
          <p:nvPr/>
        </p:nvSpPr>
        <p:spPr>
          <a:xfrm>
            <a:off x="0" y="6548040"/>
            <a:ext cx="2915280" cy="214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  <a:ea typeface="Khand"/>
              </a:rPr>
              <a:t>Copyright</a:t>
            </a:r>
            <a:r>
              <a:rPr b="0" lang="en-US" sz="1000" spc="-1" strike="noStrike">
                <a:solidFill>
                  <a:srgbClr val="ffffff"/>
                </a:solidFill>
                <a:latin typeface="Arial"/>
                <a:ea typeface="Khand Medium"/>
              </a:rPr>
              <a:t>ⓒ ControlWorks. </a:t>
            </a:r>
            <a:r>
              <a:rPr b="0" lang="en-US" sz="1000" spc="-1" strike="noStrike">
                <a:solidFill>
                  <a:srgbClr val="ffffff"/>
                </a:solidFill>
                <a:latin typeface="Arial"/>
                <a:ea typeface="Khand"/>
              </a:rPr>
              <a:t>All rights reserved.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395760" y="4005000"/>
            <a:ext cx="2640600" cy="2189160"/>
          </a:xfrm>
          <a:prstGeom prst="rect">
            <a:avLst/>
          </a:prstGeom>
        </p:spPr>
        <p:txBody>
          <a:bodyPr/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0" lang="en-US" sz="1800" spc="-1" strike="noStrike">
                <a:solidFill>
                  <a:srgbClr val="000cf2"/>
                </a:solidFill>
                <a:latin typeface="HY헤드라인M"/>
                <a:ea typeface="HY헤드라인M"/>
              </a:rPr>
              <a:t>목차 </a:t>
            </a:r>
            <a:r>
              <a:rPr b="0" lang="en-US" sz="1800" spc="-1" strike="noStrike">
                <a:solidFill>
                  <a:srgbClr val="000cf2"/>
                </a:solidFill>
                <a:latin typeface="HY헤드라인M"/>
                <a:ea typeface="HY헤드라인M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39640" y="3963960"/>
            <a:ext cx="5688360" cy="568800"/>
          </a:xfrm>
          <a:prstGeom prst="rect">
            <a:avLst/>
          </a:prstGeom>
        </p:spPr>
        <p:txBody>
          <a:bodyPr/>
          <a:p>
            <a:pPr algn="r">
              <a:lnSpc>
                <a:spcPct val="150000"/>
              </a:lnSpc>
              <a:spcBef>
                <a:spcPts val="575"/>
              </a:spcBef>
            </a:pPr>
            <a:r>
              <a:rPr b="1" lang="en-US" sz="2000" spc="-1" strike="noStrike">
                <a:solidFill>
                  <a:srgbClr val="000099"/>
                </a:solidFill>
                <a:latin typeface="HY헤드라인M"/>
                <a:ea typeface="HY헤드라인M"/>
              </a:rPr>
              <a:t>제목 </a:t>
            </a:r>
            <a:r>
              <a:rPr b="1" lang="en-US" sz="2000" spc="-1" strike="noStrike">
                <a:solidFill>
                  <a:srgbClr val="000099"/>
                </a:solidFill>
                <a:latin typeface="HY헤드라인M"/>
                <a:ea typeface="HY헤드라인M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Line 6"/>
          <p:cNvSpPr/>
          <p:nvPr/>
        </p:nvSpPr>
        <p:spPr>
          <a:xfrm>
            <a:off x="6300000" y="3933720"/>
            <a:ext cx="360" cy="2303280"/>
          </a:xfrm>
          <a:prstGeom prst="line">
            <a:avLst/>
          </a:prstGeom>
          <a:ln w="15840">
            <a:solidFill>
              <a:srgbClr val="000099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6" name="Picture 2" descr=""/>
          <p:cNvPicPr/>
          <p:nvPr/>
        </p:nvPicPr>
        <p:blipFill>
          <a:blip r:embed="rId2"/>
          <a:stretch/>
        </p:blipFill>
        <p:spPr>
          <a:xfrm>
            <a:off x="5382360" y="1268640"/>
            <a:ext cx="3510000" cy="584280"/>
          </a:xfrm>
          <a:prstGeom prst="rect">
            <a:avLst/>
          </a:prstGeom>
          <a:ln>
            <a:noFill/>
          </a:ln>
        </p:spPr>
      </p:pic>
      <p:sp>
        <p:nvSpPr>
          <p:cNvPr id="7" name="PlaceHolder 7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r>
              <a:rPr b="0" lang="ko-KR" sz="1800" spc="-1" strike="noStrike">
                <a:solidFill>
                  <a:srgbClr val="000000"/>
                </a:solidFill>
                <a:latin typeface="Univers Com 45 Light"/>
              </a:rPr>
              <a:t>Click to edit the title text format</a:t>
            </a:r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CustomShape 1"/>
          <p:cNvSpPr/>
          <p:nvPr/>
        </p:nvSpPr>
        <p:spPr>
          <a:xfrm>
            <a:off x="3132000" y="6453360"/>
            <a:ext cx="6011640" cy="404280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5" name="CustomShape 2"/>
          <p:cNvSpPr/>
          <p:nvPr/>
        </p:nvSpPr>
        <p:spPr>
          <a:xfrm>
            <a:off x="0" y="6453360"/>
            <a:ext cx="3131640" cy="404280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6" name="CustomShape 3"/>
          <p:cNvSpPr/>
          <p:nvPr/>
        </p:nvSpPr>
        <p:spPr>
          <a:xfrm>
            <a:off x="0" y="6548040"/>
            <a:ext cx="2915280" cy="214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  <a:ea typeface="Khand"/>
              </a:rPr>
              <a:t>Copyright</a:t>
            </a:r>
            <a:r>
              <a:rPr b="0" lang="en-US" sz="1000" spc="-1" strike="noStrike">
                <a:solidFill>
                  <a:srgbClr val="ffffff"/>
                </a:solidFill>
                <a:latin typeface="Arial"/>
                <a:ea typeface="Khand Medium"/>
              </a:rPr>
              <a:t>ⓒ ControlWorks. </a:t>
            </a:r>
            <a:r>
              <a:rPr b="0" lang="en-US" sz="1000" spc="-1" strike="noStrike">
                <a:solidFill>
                  <a:srgbClr val="ffffff"/>
                </a:solidFill>
                <a:latin typeface="Arial"/>
                <a:ea typeface="Khand"/>
              </a:rPr>
              <a:t>All rights reserved.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179640" y="736560"/>
            <a:ext cx="8481960" cy="5387040"/>
          </a:xfrm>
          <a:prstGeom prst="rect">
            <a:avLst/>
          </a:prstGeom>
        </p:spPr>
        <p:txBody>
          <a:bodyPr/>
          <a:p>
            <a:pPr marL="343080" indent="-342720">
              <a:lnSpc>
                <a:spcPct val="120000"/>
              </a:lnSpc>
              <a:spcBef>
                <a:spcPts val="575"/>
              </a:spcBef>
              <a:buClr>
                <a:srgbClr val="000af2"/>
              </a:buClr>
              <a:buFont typeface="맑은 고딕"/>
              <a:buChar char="■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맑은 고딕"/>
              </a:rPr>
              <a:t>마스터 텍스트 스타일을 편집합니다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2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둘째 수준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2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셋째 수준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598760" indent="-226800">
              <a:lnSpc>
                <a:spcPct val="120000"/>
              </a:lnSpc>
              <a:spcBef>
                <a:spcPts val="221"/>
              </a:spcBef>
              <a:buClr>
                <a:srgbClr val="000cf2"/>
              </a:buClr>
              <a:buFont typeface="Wingdings" charset="2"/>
              <a:buChar char="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넷째 수준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5"/>
          <p:cNvSpPr/>
          <p:nvPr/>
        </p:nvSpPr>
        <p:spPr>
          <a:xfrm>
            <a:off x="0" y="6491520"/>
            <a:ext cx="9143640" cy="377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anchor="ctr"/>
          <a:p>
            <a:pPr algn="ctr">
              <a:lnSpc>
                <a:spcPct val="100000"/>
              </a:lnSpc>
            </a:pPr>
            <a:fld id="{4D3B81C2-4036-4BA5-8185-20F8D41C5C25}" type="slidenum">
              <a:rPr b="0" lang="en-US" sz="1100" spc="-1" strike="noStrike">
                <a:solidFill>
                  <a:srgbClr val="000099"/>
                </a:solidFill>
                <a:latin typeface="Arial"/>
                <a:ea typeface="Univers LT Std 45 Light"/>
              </a:rPr>
              <a:t>&lt;number&gt;</a:t>
            </a:fld>
            <a:endParaRPr b="0" lang="en-US" sz="1100" spc="-1" strike="noStrike">
              <a:latin typeface="Arial"/>
            </a:endParaRPr>
          </a:p>
        </p:txBody>
      </p:sp>
      <p:sp>
        <p:nvSpPr>
          <p:cNvPr id="49" name="CustomShape 6"/>
          <p:cNvSpPr/>
          <p:nvPr/>
        </p:nvSpPr>
        <p:spPr>
          <a:xfrm>
            <a:off x="4342320" y="6500160"/>
            <a:ext cx="458640" cy="310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anchor="ctr"/>
          <a:p>
            <a:pPr algn="ctr">
              <a:lnSpc>
                <a:spcPct val="100000"/>
              </a:lnSpc>
            </a:pPr>
            <a:fld id="{C54D861B-037C-4F72-8CDF-5674E0229A2B}" type="slidenum">
              <a:rPr b="0" lang="en-US" sz="1000" spc="-1" strike="noStrike">
                <a:solidFill>
                  <a:srgbClr val="ffffff"/>
                </a:solidFill>
                <a:latin typeface="Arial"/>
                <a:ea typeface="맑은 고딕"/>
              </a:rPr>
              <a:t>&lt;number&gt;</a:t>
            </a:fld>
            <a:endParaRPr b="0" lang="en-US" sz="1000" spc="-1" strike="noStrike">
              <a:latin typeface="Arial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body"/>
          </p:nvPr>
        </p:nvSpPr>
        <p:spPr>
          <a:xfrm>
            <a:off x="179280" y="0"/>
            <a:ext cx="8964360" cy="535680"/>
          </a:xfrm>
          <a:prstGeom prst="rect">
            <a:avLst/>
          </a:prstGeom>
        </p:spPr>
        <p:txBody>
          <a:bodyPr anchor="ctr"/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1" lang="en-US" sz="2400" spc="-1" strike="noStrike">
                <a:solidFill>
                  <a:srgbClr val="000cf2"/>
                </a:solidFill>
                <a:latin typeface="Arial"/>
                <a:ea typeface="HY헤드라인M"/>
              </a:rPr>
              <a:t>마스터 텍스트 스타일을 편집합니다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Line 8"/>
          <p:cNvSpPr/>
          <p:nvPr/>
        </p:nvSpPr>
        <p:spPr>
          <a:xfrm>
            <a:off x="0" y="548640"/>
            <a:ext cx="9144000" cy="360"/>
          </a:xfrm>
          <a:prstGeom prst="line">
            <a:avLst/>
          </a:prstGeom>
          <a:ln w="38160">
            <a:solidFill>
              <a:srgbClr val="000099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52" name="Picture 2" descr=""/>
          <p:cNvPicPr/>
          <p:nvPr/>
        </p:nvPicPr>
        <p:blipFill>
          <a:blip r:embed="rId2"/>
          <a:stretch/>
        </p:blipFill>
        <p:spPr>
          <a:xfrm>
            <a:off x="7488720" y="6536160"/>
            <a:ext cx="1546920" cy="257400"/>
          </a:xfrm>
          <a:prstGeom prst="rect">
            <a:avLst/>
          </a:prstGeom>
          <a:ln>
            <a:noFill/>
          </a:ln>
        </p:spPr>
      </p:pic>
      <p:sp>
        <p:nvSpPr>
          <p:cNvPr id="53" name="PlaceHolder 9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r>
              <a:rPr b="0" lang="ko-KR" sz="1800" spc="-1" strike="noStrike">
                <a:solidFill>
                  <a:srgbClr val="000000"/>
                </a:solidFill>
                <a:latin typeface="Univers Com 45 Light"/>
              </a:rPr>
              <a:t>Click to edit the title text format</a:t>
            </a:r>
            <a:endParaRPr b="0" lang="ko-KR" sz="1800" spc="-1" strike="noStrike">
              <a:solidFill>
                <a:srgbClr val="000000"/>
              </a:solidFill>
              <a:latin typeface="Univers Com 45 Ligh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Shape 1"/>
          <p:cNvSpPr txBox="1"/>
          <p:nvPr/>
        </p:nvSpPr>
        <p:spPr>
          <a:xfrm>
            <a:off x="6395760" y="4005000"/>
            <a:ext cx="2640600" cy="218916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0" lang="en-US" sz="1800" spc="-1" strike="noStrike">
                <a:solidFill>
                  <a:srgbClr val="000cf2"/>
                </a:solidFill>
                <a:latin typeface="HY헤드라인M"/>
                <a:ea typeface="HY헤드라인M"/>
              </a:rPr>
              <a:t>Abstraction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0" lang="en-US" sz="1800" spc="-1" strike="noStrike">
                <a:solidFill>
                  <a:srgbClr val="000cf2"/>
                </a:solidFill>
                <a:latin typeface="HY헤드라인M"/>
                <a:ea typeface="HY헤드라인M"/>
              </a:rPr>
              <a:t>Introduction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0" lang="en-US" sz="1800" spc="-1" strike="noStrike">
                <a:solidFill>
                  <a:srgbClr val="000cf2"/>
                </a:solidFill>
                <a:latin typeface="HY헤드라인M"/>
                <a:ea typeface="HY헤드라인M"/>
              </a:rPr>
              <a:t>Related works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0" lang="en-US" sz="1800" spc="-1" strike="noStrike">
                <a:solidFill>
                  <a:srgbClr val="000cf2"/>
                </a:solidFill>
                <a:latin typeface="HY헤드라인M"/>
                <a:ea typeface="HY헤드라인M"/>
              </a:rPr>
              <a:t>Contributions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Shape 2"/>
          <p:cNvSpPr txBox="1"/>
          <p:nvPr/>
        </p:nvSpPr>
        <p:spPr>
          <a:xfrm>
            <a:off x="539640" y="3933000"/>
            <a:ext cx="5688360" cy="56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algn="r">
              <a:lnSpc>
                <a:spcPct val="150000"/>
              </a:lnSpc>
              <a:spcBef>
                <a:spcPts val="575"/>
              </a:spcBef>
            </a:pPr>
            <a:r>
              <a:rPr b="0" lang="en-US" sz="1400" spc="-1" strike="noStrike">
                <a:solidFill>
                  <a:srgbClr val="000099"/>
                </a:solidFill>
                <a:latin typeface="HY헤드라인M"/>
                <a:ea typeface="HY헤드라인M"/>
              </a:rPr>
              <a:t>SegNet: A Deep Convolutional Encoder-Decoder Architecture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r">
              <a:lnSpc>
                <a:spcPct val="150000"/>
              </a:lnSpc>
              <a:spcBef>
                <a:spcPts val="575"/>
              </a:spcBef>
            </a:pPr>
            <a:r>
              <a:rPr b="0" lang="en-US" sz="1400" spc="-1" strike="noStrike">
                <a:solidFill>
                  <a:srgbClr val="000099"/>
                </a:solidFill>
                <a:latin typeface="HY헤드라인M"/>
                <a:ea typeface="HY헤드라인M"/>
              </a:rPr>
              <a:t>for Image Segmentation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fade/>
  </p:transition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Shape 1"/>
          <p:cNvSpPr txBox="1"/>
          <p:nvPr/>
        </p:nvSpPr>
        <p:spPr>
          <a:xfrm>
            <a:off x="179640" y="736560"/>
            <a:ext cx="8481960" cy="538704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343080" indent="-342720">
              <a:lnSpc>
                <a:spcPct val="150000"/>
              </a:lnSpc>
              <a:spcBef>
                <a:spcPts val="575"/>
              </a:spcBef>
              <a:buClr>
                <a:srgbClr val="000af2"/>
              </a:buClr>
              <a:buFont typeface="맑은 고딕"/>
              <a:buChar char="■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맑은 고딕"/>
              </a:rPr>
              <a:t>Abstraction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은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encoder network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와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decoder network, classification layer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로 구성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encoder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에서 사용했던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pooling indice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를 대응하는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decoder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에서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upsampling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할 때 사용하여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upsampling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에서 학습이 필요없어짐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그 후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, dense prediction (predicting a label for each pixel in the image)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을 위해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convolution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을 통하여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output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을 세밀화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은 다른 모델보다 훈련시킬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parameter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가 적어 계산속도가 빠르며 메모리 측면에서도 효율적인 강점을 가짐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Shape 2"/>
          <p:cNvSpPr txBox="1"/>
          <p:nvPr/>
        </p:nvSpPr>
        <p:spPr>
          <a:xfrm>
            <a:off x="179280" y="0"/>
            <a:ext cx="8964360" cy="535680"/>
          </a:xfrm>
          <a:prstGeom prst="rect">
            <a:avLst/>
          </a:prstGeom>
          <a:noFill/>
          <a:ln>
            <a:noFill/>
          </a:ln>
        </p:spPr>
        <p:txBody>
          <a:bodyPr anchor="ctr"/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1" lang="en-US" sz="2400" spc="-1" strike="noStrike">
                <a:solidFill>
                  <a:srgbClr val="000cf2"/>
                </a:solidFill>
                <a:latin typeface="Arial"/>
                <a:ea typeface="HY헤드라인M"/>
              </a:rPr>
              <a:t>Abstraction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fade/>
  </p:transition>
  <p:timing>
    <p:tnLst>
      <p:par>
        <p:cTn id="3" dur="indefinite" restart="never" nodeType="tmRoot">
          <p:childTnLst>
            <p:seq>
              <p:cTn id="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Shape 1"/>
          <p:cNvSpPr txBox="1"/>
          <p:nvPr/>
        </p:nvSpPr>
        <p:spPr>
          <a:xfrm>
            <a:off x="179640" y="736560"/>
            <a:ext cx="8481960" cy="538704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343080" indent="-342720">
              <a:lnSpc>
                <a:spcPct val="150000"/>
              </a:lnSpc>
              <a:spcBef>
                <a:spcPts val="575"/>
              </a:spcBef>
              <a:buClr>
                <a:srgbClr val="000af2"/>
              </a:buClr>
              <a:buFont typeface="맑은 고딕"/>
              <a:buChar char="■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맑은 고딕"/>
              </a:rPr>
              <a:t>Backgrounds and Features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픽셀 단위 예측에서 행하는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sub-sampling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과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max pooling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이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output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feature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를 저해상도로 만들기 때문에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,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이를 해결하고자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을 고안하게 됨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길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,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건물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,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차량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,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보행자 등의 다양한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class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를 가지는 도로 장면에서 작은 크기를 가진 객체들의 경계를 명확히 구분하는 능력이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에 요구됨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encoder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는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VGG16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convolutional layer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와 구조적으로 동일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Shape 2"/>
          <p:cNvSpPr txBox="1"/>
          <p:nvPr/>
        </p:nvSpPr>
        <p:spPr>
          <a:xfrm>
            <a:off x="179280" y="0"/>
            <a:ext cx="8964360" cy="535680"/>
          </a:xfrm>
          <a:prstGeom prst="rect">
            <a:avLst/>
          </a:prstGeom>
          <a:noFill/>
          <a:ln>
            <a:noFill/>
          </a:ln>
        </p:spPr>
        <p:txBody>
          <a:bodyPr anchor="ctr"/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1" lang="en-US" sz="2400" spc="-1" strike="noStrike">
                <a:solidFill>
                  <a:srgbClr val="000cf2"/>
                </a:solidFill>
                <a:latin typeface="Arial"/>
                <a:ea typeface="HY헤드라인M"/>
              </a:rPr>
              <a:t>Introduction(I)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fade/>
  </p:transition>
  <p:timing>
    <p:tnLst>
      <p:par>
        <p:cTn id="5" dur="indefinite" restart="never" nodeType="tmRoot">
          <p:childTnLst>
            <p:seq>
              <p:cTn id="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Shape 1"/>
          <p:cNvSpPr txBox="1"/>
          <p:nvPr/>
        </p:nvSpPr>
        <p:spPr>
          <a:xfrm>
            <a:off x="179640" y="736560"/>
            <a:ext cx="8481960" cy="5387040"/>
          </a:xfrm>
          <a:prstGeom prst="rect">
            <a:avLst/>
          </a:prstGeom>
          <a:noFill/>
          <a:ln>
            <a:noFill/>
          </a:ln>
        </p:spPr>
        <p:txBody>
          <a:bodyPr/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Shape 2"/>
          <p:cNvSpPr txBox="1"/>
          <p:nvPr/>
        </p:nvSpPr>
        <p:spPr>
          <a:xfrm>
            <a:off x="179280" y="0"/>
            <a:ext cx="8964360" cy="535680"/>
          </a:xfrm>
          <a:prstGeom prst="rect">
            <a:avLst/>
          </a:prstGeom>
          <a:noFill/>
          <a:ln>
            <a:noFill/>
          </a:ln>
        </p:spPr>
        <p:txBody>
          <a:bodyPr anchor="ctr"/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1" lang="en-US" sz="2400" spc="-1" strike="noStrike">
                <a:solidFill>
                  <a:srgbClr val="000cf2"/>
                </a:solidFill>
                <a:latin typeface="Arial"/>
                <a:ea typeface="HY헤드라인M"/>
              </a:rPr>
              <a:t>Introduction(II)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" name="Picture 2" descr=""/>
          <p:cNvPicPr/>
          <p:nvPr/>
        </p:nvPicPr>
        <p:blipFill>
          <a:blip r:embed="rId1"/>
          <a:stretch/>
        </p:blipFill>
        <p:spPr>
          <a:xfrm>
            <a:off x="539640" y="3434040"/>
            <a:ext cx="5995440" cy="2658960"/>
          </a:xfrm>
          <a:prstGeom prst="rect">
            <a:avLst/>
          </a:prstGeom>
          <a:ln>
            <a:noFill/>
          </a:ln>
        </p:spPr>
      </p:pic>
      <p:grpSp>
        <p:nvGrpSpPr>
          <p:cNvPr id="99" name="Group 3"/>
          <p:cNvGrpSpPr/>
          <p:nvPr/>
        </p:nvGrpSpPr>
        <p:grpSpPr>
          <a:xfrm>
            <a:off x="539640" y="987840"/>
            <a:ext cx="5343840" cy="2368440"/>
            <a:chOff x="539640" y="987840"/>
            <a:chExt cx="5343840" cy="2368440"/>
          </a:xfrm>
        </p:grpSpPr>
        <p:pic>
          <p:nvPicPr>
            <p:cNvPr id="100" name="Picture 2" descr=""/>
            <p:cNvPicPr/>
            <p:nvPr/>
          </p:nvPicPr>
          <p:blipFill>
            <a:blip r:embed="rId2"/>
            <a:stretch/>
          </p:blipFill>
          <p:spPr>
            <a:xfrm>
              <a:off x="899640" y="987840"/>
              <a:ext cx="4983840" cy="2368440"/>
            </a:xfrm>
            <a:prstGeom prst="rect">
              <a:avLst/>
            </a:prstGeom>
            <a:ln>
              <a:noFill/>
            </a:ln>
          </p:spPr>
        </p:pic>
        <p:sp>
          <p:nvSpPr>
            <p:cNvPr id="101" name="CustomShape 4"/>
            <p:cNvSpPr/>
            <p:nvPr/>
          </p:nvSpPr>
          <p:spPr>
            <a:xfrm>
              <a:off x="539640" y="1204200"/>
              <a:ext cx="2664000" cy="1728000"/>
            </a:xfrm>
            <a:prstGeom prst="rect">
              <a:avLst/>
            </a:prstGeom>
            <a:noFill/>
            <a:ln w="28440">
              <a:solidFill>
                <a:srgbClr val="ff0000"/>
              </a:solidFill>
              <a:round/>
            </a:ln>
            <a:effectLst>
              <a:outerShdw blurRad="40000" dir="5400000" dist="20000" rotWithShape="0">
                <a:srgbClr val="000000">
                  <a:alpha val="38000"/>
                </a:srgbClr>
              </a:outerShdw>
            </a:effectLst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/>
          </p:style>
        </p:sp>
      </p:grpSp>
      <p:sp>
        <p:nvSpPr>
          <p:cNvPr id="102" name="CustomShape 5"/>
          <p:cNvSpPr/>
          <p:nvPr/>
        </p:nvSpPr>
        <p:spPr>
          <a:xfrm>
            <a:off x="6732360" y="1917000"/>
            <a:ext cx="1944000" cy="36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맑은 고딕"/>
              </a:rPr>
              <a:t>SegNet Encoder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3" name="CustomShape 6"/>
          <p:cNvSpPr/>
          <p:nvPr/>
        </p:nvSpPr>
        <p:spPr>
          <a:xfrm>
            <a:off x="6732360" y="4509000"/>
            <a:ext cx="1944000" cy="36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맑은 고딕"/>
              </a:rPr>
              <a:t>VGG16 Encoder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4" name="CustomShape 7"/>
          <p:cNvSpPr/>
          <p:nvPr/>
        </p:nvSpPr>
        <p:spPr>
          <a:xfrm>
            <a:off x="899640" y="3357000"/>
            <a:ext cx="4752000" cy="2880000"/>
          </a:xfrm>
          <a:prstGeom prst="rect">
            <a:avLst/>
          </a:prstGeom>
          <a:noFill/>
          <a:ln w="28440">
            <a:solidFill>
              <a:srgbClr val="ff0000"/>
            </a:solidFill>
            <a:round/>
          </a:ln>
          <a:effectLst>
            <a:outerShdw blurRad="40000" dir="5400000" dist="20000" rotWithShape="0">
              <a:srgbClr val="000000">
                <a:alpha val="38000"/>
              </a:srgbClr>
            </a:outerShdw>
          </a:effectLst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/>
        </p:style>
      </p:sp>
    </p:spTree>
  </p:cSld>
  <p:transition>
    <p:fade/>
  </p:transition>
  <p:timing>
    <p:tnLst>
      <p:par>
        <p:cTn id="7" dur="indefinite" restart="never" nodeType="tmRoot">
          <p:childTnLst>
            <p:seq>
              <p:cTn id="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Shape 1"/>
          <p:cNvSpPr txBox="1"/>
          <p:nvPr/>
        </p:nvSpPr>
        <p:spPr>
          <a:xfrm>
            <a:off x="179640" y="736560"/>
            <a:ext cx="8481960" cy="538704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343080" indent="-342720">
              <a:lnSpc>
                <a:spcPct val="150000"/>
              </a:lnSpc>
              <a:spcBef>
                <a:spcPts val="575"/>
              </a:spcBef>
              <a:buClr>
                <a:srgbClr val="000af2"/>
              </a:buClr>
              <a:buFont typeface="맑은 고딕"/>
              <a:buChar char="■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맑은 고딕"/>
              </a:rPr>
              <a:t>Method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본 논문은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decoding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기법과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Fully Convolutional Network (FCN)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을 비교 분석하여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segmentation architecture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trade-off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를 설명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본 논문에서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의 성능을 나타내기 위해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CamVid Dataset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도로 장면과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SUN RGB-D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실내 장면을 사용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Shape 2"/>
          <p:cNvSpPr txBox="1"/>
          <p:nvPr/>
        </p:nvSpPr>
        <p:spPr>
          <a:xfrm>
            <a:off x="179280" y="0"/>
            <a:ext cx="8964360" cy="535680"/>
          </a:xfrm>
          <a:prstGeom prst="rect">
            <a:avLst/>
          </a:prstGeom>
          <a:noFill/>
          <a:ln>
            <a:noFill/>
          </a:ln>
        </p:spPr>
        <p:txBody>
          <a:bodyPr anchor="ctr"/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1" lang="en-US" sz="2400" spc="-1" strike="noStrike">
                <a:solidFill>
                  <a:srgbClr val="000cf2"/>
                </a:solidFill>
                <a:latin typeface="Arial"/>
                <a:ea typeface="HY헤드라인M"/>
              </a:rPr>
              <a:t>Introduction(III)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fade/>
  </p:transition>
  <p:timing>
    <p:tnLst>
      <p:par>
        <p:cTn id="9" dur="indefinite" restart="never" nodeType="tmRoot">
          <p:childTnLst>
            <p:seq>
              <p:cTn id="1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Shape 1"/>
          <p:cNvSpPr txBox="1"/>
          <p:nvPr/>
        </p:nvSpPr>
        <p:spPr>
          <a:xfrm>
            <a:off x="179640" y="736560"/>
            <a:ext cx="8481960" cy="538704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343080" indent="-342720">
              <a:lnSpc>
                <a:spcPct val="150000"/>
              </a:lnSpc>
              <a:spcBef>
                <a:spcPts val="575"/>
              </a:spcBef>
              <a:buClr>
                <a:srgbClr val="000af2"/>
              </a:buClr>
              <a:buFont typeface="맑은 고딕"/>
              <a:buChar char="■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맑은 고딕"/>
              </a:rPr>
              <a:t>Related works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Convolutional neural network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가 객체 분류에 성공적인 결과를 도출 함에 따라 해당 신경망들을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segmentation problem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에 적용하려는 시도가 있었지만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,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결과로 나온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segmentation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이 객체의 경계가 아닌 객체를 포함하는 블록의 경계를 가짐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FCN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에서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decoder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는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upsampling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시 학습이 필요하고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,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신경망수가 늘어나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end-to-end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학습에 시간이 다소 소요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또한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FCN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에서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skip architecture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는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encoder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에서 도출된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map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을 저장했다가 재사용하기 때문에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memory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측면에서 비효율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FCN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에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Recurrent Neural Network (RNN)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을 더하여 세밀한 경계를 도출한 결과가 존재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Shape 2"/>
          <p:cNvSpPr txBox="1"/>
          <p:nvPr/>
        </p:nvSpPr>
        <p:spPr>
          <a:xfrm>
            <a:off x="179280" y="0"/>
            <a:ext cx="8964360" cy="535680"/>
          </a:xfrm>
          <a:prstGeom prst="rect">
            <a:avLst/>
          </a:prstGeom>
          <a:noFill/>
          <a:ln>
            <a:noFill/>
          </a:ln>
        </p:spPr>
        <p:txBody>
          <a:bodyPr anchor="ctr"/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1" lang="en-US" sz="2400" spc="-1" strike="noStrike">
                <a:solidFill>
                  <a:srgbClr val="000cf2"/>
                </a:solidFill>
                <a:latin typeface="Arial"/>
                <a:ea typeface="HY헤드라인M"/>
              </a:rPr>
              <a:t>Related works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fade/>
  </p:transition>
  <p:timing>
    <p:tnLst>
      <p:par>
        <p:cTn id="11" dur="indefinite" restart="never" nodeType="tmRoot">
          <p:childTnLst>
            <p:seq>
              <p:cTn id="1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Shape 1"/>
          <p:cNvSpPr txBox="1"/>
          <p:nvPr/>
        </p:nvSpPr>
        <p:spPr>
          <a:xfrm>
            <a:off x="179640" y="736560"/>
            <a:ext cx="8481960" cy="538704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343080" indent="-342720">
              <a:lnSpc>
                <a:spcPct val="150000"/>
              </a:lnSpc>
              <a:spcBef>
                <a:spcPts val="575"/>
              </a:spcBef>
              <a:buClr>
                <a:srgbClr val="000af2"/>
              </a:buClr>
              <a:buFont typeface="맑은 고딕"/>
              <a:buChar char="■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맑은 고딕"/>
              </a:rPr>
              <a:t>구조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Encoder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에서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input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을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filter bank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로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convolution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한 후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, batch normalization, ReLU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적용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, max-pooling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이 순차적으로 일어남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Decoder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에서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input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을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upsampling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한 후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, filter bank convolution, batch normalization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의 과정을 거침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Decoder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filter bank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는 학습을 통하여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parameter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가 변경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마지막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decoder layer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output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은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multi-channel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을 가진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feature map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을 도출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최종적으로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multi-channel feature map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이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soft-max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함수를 거쳐 지정했던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class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의 수만큼의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channel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을 가진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feature map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이 결과로 나옴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Shape 2"/>
          <p:cNvSpPr txBox="1"/>
          <p:nvPr/>
        </p:nvSpPr>
        <p:spPr>
          <a:xfrm>
            <a:off x="179280" y="0"/>
            <a:ext cx="8964360" cy="535680"/>
          </a:xfrm>
          <a:prstGeom prst="rect">
            <a:avLst/>
          </a:prstGeom>
          <a:noFill/>
          <a:ln>
            <a:noFill/>
          </a:ln>
        </p:spPr>
        <p:txBody>
          <a:bodyPr anchor="ctr"/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1" lang="en-US" sz="2400" spc="-1" strike="noStrike">
                <a:solidFill>
                  <a:srgbClr val="000cf2"/>
                </a:solidFill>
                <a:latin typeface="Arial"/>
                <a:ea typeface="HY헤드라인M"/>
              </a:rPr>
              <a:t>Contributions(I)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1" name="Picture 2" descr=""/>
          <p:cNvPicPr/>
          <p:nvPr/>
        </p:nvPicPr>
        <p:blipFill>
          <a:blip r:embed="rId1"/>
          <a:stretch/>
        </p:blipFill>
        <p:spPr>
          <a:xfrm>
            <a:off x="1577520" y="4437000"/>
            <a:ext cx="6126480" cy="1730880"/>
          </a:xfrm>
          <a:prstGeom prst="rect">
            <a:avLst/>
          </a:prstGeom>
          <a:ln>
            <a:noFill/>
          </a:ln>
        </p:spPr>
      </p:pic>
    </p:spTree>
  </p:cSld>
  <p:transition>
    <p:fade/>
  </p:transition>
  <p:timing>
    <p:tnLst>
      <p:par>
        <p:cTn id="13" dur="indefinite" restart="never" nodeType="tmRoot">
          <p:childTnLst>
            <p:seq>
              <p:cTn id="1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Shape 1"/>
          <p:cNvSpPr txBox="1"/>
          <p:nvPr/>
        </p:nvSpPr>
        <p:spPr>
          <a:xfrm>
            <a:off x="179640" y="736560"/>
            <a:ext cx="8481960" cy="538704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343080" indent="-342720">
              <a:lnSpc>
                <a:spcPct val="150000"/>
              </a:lnSpc>
              <a:spcBef>
                <a:spcPts val="575"/>
              </a:spcBef>
              <a:buClr>
                <a:srgbClr val="000af2"/>
              </a:buClr>
              <a:buFont typeface="맑은 고딕"/>
              <a:buChar char="■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맑은 고딕"/>
              </a:rPr>
              <a:t>FCN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맑은 고딕"/>
              </a:rPr>
              <a:t>과의 차이점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FCN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은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encoder output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을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decoder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input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으로 전달할 때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, channel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의 차원수를 감소시키고 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inverse convolution(deconvolution)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으로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upsampling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을 진행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은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encoder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에서 기억했던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pooling indices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를 이용하여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upsampling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한 후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,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훈련가능한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filter bank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를 사용하여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convolution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하여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densifying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기존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deconvolution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보다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parameter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수를 적게 사용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Shape 2"/>
          <p:cNvSpPr txBox="1"/>
          <p:nvPr/>
        </p:nvSpPr>
        <p:spPr>
          <a:xfrm>
            <a:off x="179280" y="0"/>
            <a:ext cx="8964360" cy="535680"/>
          </a:xfrm>
          <a:prstGeom prst="rect">
            <a:avLst/>
          </a:prstGeom>
          <a:noFill/>
          <a:ln>
            <a:noFill/>
          </a:ln>
        </p:spPr>
        <p:txBody>
          <a:bodyPr anchor="ctr"/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1" lang="en-US" sz="2400" spc="-1" strike="noStrike">
                <a:solidFill>
                  <a:srgbClr val="000cf2"/>
                </a:solidFill>
                <a:latin typeface="Arial"/>
                <a:ea typeface="HY헤드라인M"/>
              </a:rPr>
              <a:t>Contributions(II)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" name="Picture 2" descr=""/>
          <p:cNvPicPr/>
          <p:nvPr/>
        </p:nvPicPr>
        <p:blipFill>
          <a:blip r:embed="rId1"/>
          <a:stretch/>
        </p:blipFill>
        <p:spPr>
          <a:xfrm>
            <a:off x="1331640" y="3285000"/>
            <a:ext cx="6557760" cy="3024000"/>
          </a:xfrm>
          <a:prstGeom prst="rect">
            <a:avLst/>
          </a:prstGeom>
          <a:ln>
            <a:noFill/>
          </a:ln>
        </p:spPr>
      </p:pic>
    </p:spTree>
  </p:cSld>
  <p:transition>
    <p:fade/>
  </p:transition>
  <p:timing>
    <p:tnLst>
      <p:par>
        <p:cTn id="15" dur="indefinite" restart="never" nodeType="tmRoot">
          <p:childTnLst>
            <p:seq>
              <p:cTn id="1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Shape 1"/>
          <p:cNvSpPr txBox="1"/>
          <p:nvPr/>
        </p:nvSpPr>
        <p:spPr>
          <a:xfrm>
            <a:off x="179640" y="736560"/>
            <a:ext cx="8481960" cy="538704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343080" indent="-342720">
              <a:lnSpc>
                <a:spcPct val="150000"/>
              </a:lnSpc>
              <a:spcBef>
                <a:spcPts val="575"/>
              </a:spcBef>
              <a:buClr>
                <a:srgbClr val="000af2"/>
              </a:buClr>
              <a:buFont typeface="맑은 고딕"/>
              <a:buChar char="■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맑은 고딕"/>
              </a:rPr>
              <a:t>Decoder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맑은 고딕"/>
              </a:rPr>
              <a:t>변화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본 논문에서는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FCN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과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decoder technique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을 변화시켜 성능을 비교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SegNet-Basic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소형화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7x7 kernel, 4 encoder, 4 decoder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사용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Encoder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와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decoder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내의 기능들은 앞서 언급된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과 동일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SegNet-Basic-SingleChannelDecoder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Decoder filter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channel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이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1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개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훈련시킬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parameter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수가 줄어드는 장점을 지님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SegNet-Basic-EncoderAddition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Encoder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각 층마다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64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개의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feature map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을 대응하는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decoder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층에 더함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Decoder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에서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upsampling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하고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convolution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이 진행된 후에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encoder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feature map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과 결합되는 형태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Shape 2"/>
          <p:cNvSpPr txBox="1"/>
          <p:nvPr/>
        </p:nvSpPr>
        <p:spPr>
          <a:xfrm>
            <a:off x="179280" y="0"/>
            <a:ext cx="8964360" cy="535680"/>
          </a:xfrm>
          <a:prstGeom prst="rect">
            <a:avLst/>
          </a:prstGeom>
          <a:noFill/>
          <a:ln>
            <a:noFill/>
          </a:ln>
        </p:spPr>
        <p:txBody>
          <a:bodyPr anchor="ctr"/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1" lang="en-US" sz="2400" spc="-1" strike="noStrike">
                <a:solidFill>
                  <a:srgbClr val="000cf2"/>
                </a:solidFill>
                <a:latin typeface="Arial"/>
                <a:ea typeface="HY헤드라인M"/>
              </a:rPr>
              <a:t>Contributions(III)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fade/>
  </p:transition>
  <p:timing>
    <p:tnLst>
      <p:par>
        <p:cTn id="17" dur="indefinite" restart="never" nodeType="tmRoot">
          <p:childTnLst>
            <p:seq>
              <p:cTn id="1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Shape 1"/>
          <p:cNvSpPr txBox="1"/>
          <p:nvPr/>
        </p:nvSpPr>
        <p:spPr>
          <a:xfrm>
            <a:off x="179640" y="736560"/>
            <a:ext cx="8481960" cy="538704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FCN-Basic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SegNet-Basic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과 대응되도록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FCN-Basic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을 설계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FCN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decoder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와 변함이 없음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FCN-Basic-NoAddtion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Skip structure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를 사용하지 않고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upsampling kernel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만 훈련시키며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decoding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FCN-Basic-NoDimReduction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일반적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FCN :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마지막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encoder layer output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channel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수를 줄임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본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decoder technique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는 마지막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encoder feature map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channel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수를 줄이지 않아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endcoder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와 대응되는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decoder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feature map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channel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수가 같음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Bilinear-Interpolation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fixed-parameter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를 가진 선형보간법을 이용하여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upsampling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Upsampling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학습이 존재하지 않음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Shape 2"/>
          <p:cNvSpPr txBox="1"/>
          <p:nvPr/>
        </p:nvSpPr>
        <p:spPr>
          <a:xfrm>
            <a:off x="179280" y="0"/>
            <a:ext cx="8964360" cy="535680"/>
          </a:xfrm>
          <a:prstGeom prst="rect">
            <a:avLst/>
          </a:prstGeom>
          <a:noFill/>
          <a:ln>
            <a:noFill/>
          </a:ln>
        </p:spPr>
        <p:txBody>
          <a:bodyPr anchor="ctr"/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1" lang="en-US" sz="2400" spc="-1" strike="noStrike">
                <a:solidFill>
                  <a:srgbClr val="000cf2"/>
                </a:solidFill>
                <a:latin typeface="Arial"/>
                <a:ea typeface="HY헤드라인M"/>
              </a:rPr>
              <a:t>Contributions(IV)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fade/>
  </p:transition>
  <p:timing>
    <p:tnLst>
      <p:par>
        <p:cTn id="19" dur="indefinite" restart="never" nodeType="tmRoot">
          <p:childTnLst>
            <p:seq>
              <p:cTn id="2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Shape 1"/>
          <p:cNvSpPr txBox="1"/>
          <p:nvPr/>
        </p:nvSpPr>
        <p:spPr>
          <a:xfrm>
            <a:off x="179280" y="0"/>
            <a:ext cx="8964360" cy="535680"/>
          </a:xfrm>
          <a:prstGeom prst="rect">
            <a:avLst/>
          </a:prstGeom>
          <a:noFill/>
          <a:ln>
            <a:noFill/>
          </a:ln>
        </p:spPr>
        <p:txBody>
          <a:bodyPr anchor="ctr"/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1" lang="en-US" sz="2400" spc="-1" strike="noStrike">
                <a:solidFill>
                  <a:srgbClr val="000cf2"/>
                </a:solidFill>
                <a:latin typeface="Arial"/>
                <a:ea typeface="HY헤드라인M"/>
              </a:rPr>
              <a:t>Contributions(V)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CustomShape 2"/>
          <p:cNvSpPr/>
          <p:nvPr/>
        </p:nvSpPr>
        <p:spPr>
          <a:xfrm>
            <a:off x="179640" y="736560"/>
            <a:ext cx="8481960" cy="5387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/>
          <a:p>
            <a:pPr marL="343080" indent="-342720">
              <a:lnSpc>
                <a:spcPct val="150000"/>
              </a:lnSpc>
              <a:spcBef>
                <a:spcPts val="575"/>
              </a:spcBef>
              <a:buClr>
                <a:srgbClr val="000af2"/>
              </a:buClr>
              <a:buFont typeface="맑은 고딕"/>
              <a:buChar char="■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맑은 고딕"/>
              </a:rPr>
              <a:t>Decoder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맑은 고딕"/>
              </a:rPr>
              <a:t>변화 결과</a:t>
            </a:r>
            <a:endParaRPr b="0" lang="en-US" sz="2000" spc="-1" strike="noStrike"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G : Global accuracy –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전체 픽셀에서 올바르게 분류된 픽셀 비율</a:t>
            </a:r>
            <a:endParaRPr b="0" lang="en-US" sz="1600" spc="-1" strike="noStrike"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C : Class accuracy –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각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class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의 예측 정확도의 평균</a:t>
            </a:r>
            <a:endParaRPr b="0" lang="en-US" sz="1600" spc="-1" strike="noStrike"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mIoU : Mean of intersection over union</a:t>
            </a:r>
            <a:endParaRPr b="0" lang="en-US" sz="1600" spc="-1" strike="noStrike"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BF : Semantic contour measure using F1 - score</a:t>
            </a:r>
            <a:endParaRPr b="0" lang="en-US" sz="1600" spc="-1" strike="noStrike"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SegNet-Basic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과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FCN-Basic</a:t>
            </a:r>
            <a:endParaRPr b="0" lang="en-US" sz="1600" spc="-1" strike="noStrike"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성능은 비슷한 수준이지만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parameter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수에서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이 훨씬 적은 결과가 도출되었고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, memory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측면에서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효율이 높음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50000"/>
              </a:lnSpc>
              <a:spcBef>
                <a:spcPts val="281"/>
              </a:spcBef>
            </a:pPr>
            <a:endParaRPr b="0" lang="en-US" sz="1400" spc="-1" strike="noStrike">
              <a:latin typeface="Arial"/>
            </a:endParaRPr>
          </a:p>
        </p:txBody>
      </p:sp>
      <p:pic>
        <p:nvPicPr>
          <p:cNvPr id="121" name="Picture 2" descr=""/>
          <p:cNvPicPr/>
          <p:nvPr/>
        </p:nvPicPr>
        <p:blipFill>
          <a:blip r:embed="rId1"/>
          <a:stretch/>
        </p:blipFill>
        <p:spPr>
          <a:xfrm>
            <a:off x="894960" y="4149000"/>
            <a:ext cx="7530120" cy="2022840"/>
          </a:xfrm>
          <a:prstGeom prst="rect">
            <a:avLst/>
          </a:prstGeom>
          <a:ln>
            <a:noFill/>
          </a:ln>
        </p:spPr>
      </p:pic>
    </p:spTree>
  </p:cSld>
  <p:transition>
    <p:fade/>
  </p:transition>
  <p:timing>
    <p:tnLst>
      <p:par>
        <p:cTn id="21" dur="indefinite" restart="never" nodeType="tmRoot">
          <p:childTnLst>
            <p:seq>
              <p:cTn id="2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Shape 1"/>
          <p:cNvSpPr txBox="1"/>
          <p:nvPr/>
        </p:nvSpPr>
        <p:spPr>
          <a:xfrm>
            <a:off x="179280" y="0"/>
            <a:ext cx="8964360" cy="535680"/>
          </a:xfrm>
          <a:prstGeom prst="rect">
            <a:avLst/>
          </a:prstGeom>
          <a:noFill/>
          <a:ln>
            <a:noFill/>
          </a:ln>
        </p:spPr>
        <p:txBody>
          <a:bodyPr anchor="ctr"/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1" lang="en-US" sz="2400" spc="-1" strike="noStrike">
                <a:solidFill>
                  <a:srgbClr val="000cf2"/>
                </a:solidFill>
                <a:latin typeface="Arial"/>
                <a:ea typeface="HY헤드라인M"/>
              </a:rPr>
              <a:t>Contributions(VI)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Shape 2"/>
          <p:cNvSpPr txBox="1"/>
          <p:nvPr/>
        </p:nvSpPr>
        <p:spPr>
          <a:xfrm>
            <a:off x="179640" y="736560"/>
            <a:ext cx="8481960" cy="538704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343080" indent="-342720">
              <a:lnSpc>
                <a:spcPct val="150000"/>
              </a:lnSpc>
              <a:spcBef>
                <a:spcPts val="575"/>
              </a:spcBef>
              <a:buClr>
                <a:srgbClr val="000af2"/>
              </a:buClr>
              <a:buFont typeface="맑은 고딕"/>
              <a:buChar char="■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맑은 고딕"/>
              </a:rPr>
              <a:t>비교 결과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SegNet-Basic &amp; FCN-Basic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성능은 비슷한 수준이지만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parameter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수에서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이 훨씬 적은 결과가 도출되었고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, memory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측면에서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효율이 높음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은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decoder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feature map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이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64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개이고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FCN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은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dimensionality Reduction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을 사용하여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feature map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의 수가 적음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598760" indent="-226800">
              <a:lnSpc>
                <a:spcPct val="150000"/>
              </a:lnSpc>
              <a:spcBef>
                <a:spcPts val="221"/>
              </a:spcBef>
              <a:buClr>
                <a:srgbClr val="000cf2"/>
              </a:buClr>
              <a:buFont typeface="Wingdings" charset="2"/>
              <a:buChar char="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FCN-Basic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이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forward pass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인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inference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에서 속도가 더 빠름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3" marL="1598760" indent="-226800">
              <a:lnSpc>
                <a:spcPct val="150000"/>
              </a:lnSpc>
              <a:spcBef>
                <a:spcPts val="221"/>
              </a:spcBef>
              <a:buClr>
                <a:srgbClr val="000cf2"/>
              </a:buClr>
              <a:buFont typeface="Wingdings" charset="2"/>
              <a:buChar char="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SegNet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의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decoder network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가 더 크기 때문에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FCN-Basic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보다 더 정확한 결과를 얻을  수 있음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SegNet-Basic &amp; FCN-Basic-NoAddition-NoDimReduction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Decoder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크기가 후자가 전자보다 더 크지만 같은 에폭에서 전자의 정확도가 더 높음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598760" indent="-226800">
              <a:lnSpc>
                <a:spcPct val="150000"/>
              </a:lnSpc>
              <a:spcBef>
                <a:spcPts val="221"/>
              </a:spcBef>
              <a:buClr>
                <a:srgbClr val="000cf2"/>
              </a:buClr>
              <a:buFont typeface="Wingdings" charset="2"/>
              <a:buChar char="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큰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decoder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가 항상 높은 정확도에 기여하는 것이 아니라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encoder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의 결과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feature map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이 올바르게 추출되는 것도 중요함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3" marL="1598760" indent="-226800">
              <a:lnSpc>
                <a:spcPct val="150000"/>
              </a:lnSpc>
              <a:spcBef>
                <a:spcPts val="221"/>
              </a:spcBef>
              <a:buClr>
                <a:srgbClr val="000cf2"/>
              </a:buClr>
              <a:buFont typeface="Wingdings" charset="2"/>
              <a:buChar char="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이는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FCN-Basic-NoAddition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과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FCN-Basic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을 비교했을 때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, FCN-Basic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맑은 고딕"/>
              </a:rPr>
              <a:t>의 정확도가 더 좋은 결과의 원인에도 해당함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fade/>
  </p:transition>
  <p:timing>
    <p:tnLst>
      <p:par>
        <p:cTn id="23" dur="indefinite" restart="never" nodeType="tmRoot">
          <p:childTnLst>
            <p:seq>
              <p:cTn id="2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Shape 1"/>
          <p:cNvSpPr txBox="1"/>
          <p:nvPr/>
        </p:nvSpPr>
        <p:spPr>
          <a:xfrm>
            <a:off x="179280" y="0"/>
            <a:ext cx="8964360" cy="535680"/>
          </a:xfrm>
          <a:prstGeom prst="rect">
            <a:avLst/>
          </a:prstGeom>
          <a:noFill/>
          <a:ln>
            <a:noFill/>
          </a:ln>
        </p:spPr>
        <p:txBody>
          <a:bodyPr anchor="ctr"/>
          <a:p>
            <a:pPr>
              <a:lnSpc>
                <a:spcPct val="150000"/>
              </a:lnSpc>
              <a:spcBef>
                <a:spcPts val="575"/>
              </a:spcBef>
            </a:pPr>
            <a:r>
              <a:rPr b="1" lang="en-US" sz="2400" spc="-1" strike="noStrike">
                <a:solidFill>
                  <a:srgbClr val="000cf2"/>
                </a:solidFill>
                <a:latin typeface="Arial"/>
                <a:ea typeface="HY헤드라인M"/>
              </a:rPr>
              <a:t>Contributions(VII)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Shape 2"/>
          <p:cNvSpPr txBox="1"/>
          <p:nvPr/>
        </p:nvSpPr>
        <p:spPr>
          <a:xfrm>
            <a:off x="179640" y="736560"/>
            <a:ext cx="8481960" cy="538704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lvl="1" marL="641520" indent="-185400">
              <a:lnSpc>
                <a:spcPct val="150000"/>
              </a:lnSpc>
              <a:spcBef>
                <a:spcPts val="320"/>
              </a:spcBef>
              <a:buClr>
                <a:srgbClr val="000cf2"/>
              </a:buClr>
              <a:buFont typeface="맑은 고딕"/>
              <a:buChar char="▶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맑은 고딕"/>
              </a:rPr>
              <a:t>Class balancing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*Median frequency balancing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으로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class balancing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한 결과보다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balancing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하지 않은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(Natural frequency balancing)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결과가 현저히 낮음을 보임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(Global accuracy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제외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480">
              <a:lnSpc>
                <a:spcPct val="150000"/>
              </a:lnSpc>
              <a:spcBef>
                <a:spcPts val="281"/>
              </a:spcBef>
              <a:buClr>
                <a:srgbClr val="000cf2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natural frequency balancing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에서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global accuracy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가 높은 이유는 도로 이미지에서 하늘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,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도로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,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맑은 고딕"/>
              </a:rPr>
              <a:t>건물과 같은 크기가 큰 물체의 픽셀이 대부분을 차지하고 있기 때문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CustomShape 3"/>
          <p:cNvSpPr/>
          <p:nvPr/>
        </p:nvSpPr>
        <p:spPr>
          <a:xfrm>
            <a:off x="1187640" y="3069000"/>
            <a:ext cx="6120360" cy="18108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*Median frequency balancing : image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의 각 픽셀의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weight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를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α_c = median_freq/freq(c)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로 둔다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.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freq(c) = class c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를 가진 픽셀의 수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/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전체 픽셀 수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Medain_freq =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모든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class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에 대한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freq(c)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 Unicode MS"/>
              </a:rPr>
              <a:t>들의 중앙값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000000"/>
                </a:solidFill>
                <a:latin typeface="Univers Com 45 Light"/>
                <a:ea typeface="맑은 고딕"/>
              </a:rPr>
              <a:t>D. Eigen and R. Fergus, “Predicting depth, surface normals and semantic</a:t>
            </a:r>
            <a:endParaRPr b="0" lang="en-US" sz="9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000000"/>
                </a:solidFill>
                <a:latin typeface="Univers Com 45 Light"/>
                <a:ea typeface="맑은 고딕"/>
              </a:rPr>
              <a:t>labels with a common multi-scale convolutional architecture,” in ICCV,</a:t>
            </a:r>
            <a:endParaRPr b="0" lang="en-US" sz="9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000000"/>
                </a:solidFill>
                <a:latin typeface="Univers Com 45 Light"/>
                <a:ea typeface="맑은 고딕"/>
              </a:rPr>
              <a:t>pp. 2650–2658, 2015.</a:t>
            </a:r>
            <a:endParaRPr b="0" lang="en-US" sz="900" spc="-1" strike="noStrike">
              <a:latin typeface="Arial"/>
            </a:endParaRPr>
          </a:p>
        </p:txBody>
      </p:sp>
    </p:spTree>
  </p:cSld>
  <p:transition>
    <p:fade/>
  </p:transition>
  <p:timing>
    <p:tnLst>
      <p:par>
        <p:cTn id="25" dur="indefinite" restart="never" nodeType="tmRoot">
          <p:childTnLst>
            <p:seq>
              <p:cTn id="2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control_works</Template>
  <TotalTime>2633</TotalTime>
  <Application>LibreOffice/6.0.7.3$Linux_AARCH64 LibreOffice_project/00m0$Build-3</Application>
  <Words>891</Words>
  <Paragraphs>100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2020-01-06T00:01:51Z</dcterms:created>
  <dc:creator>NB09</dc:creator>
  <dc:description/>
  <dc:language>en-US</dc:language>
  <cp:lastModifiedBy/>
  <dcterms:modified xsi:type="dcterms:W3CDTF">2020-01-31T16:16:08Z</dcterms:modified>
  <cp:revision>90</cp:revision>
  <dc:subject/>
  <dc:title>PowerPoint 프레젠테이션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14.0000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화면 슬라이드 쇼(4:3)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13</vt:i4>
  </property>
</Properties>
</file>