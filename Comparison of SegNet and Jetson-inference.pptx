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media/image10.png" ContentType="image/png"/>
  <Override PartName="/ppt/media/image9.png" ContentType="image/png"/>
  <Override PartName="/ppt/media/image8.png" ContentType="image/png"/>
  <Override PartName="/ppt/media/image7.png" ContentType="image/png"/>
  <Override PartName="/ppt/media/image2.png" ContentType="image/png"/>
  <Override PartName="/ppt/media/image1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entation.xml" ContentType="application/vnd.openxmlformats-officedocument.presentationml.presentation.main+xml"/>
  <Override PartName="/ppt/theme/theme2.xml" ContentType="application/vnd.openxmlformats-officedocument.theme+xml"/>
  <Override PartName="/ppt/theme/theme1.xml" ContentType="application/vnd.openxmlformats-officedocument.theme+xml"/>
  <Override PartName="/ppt/slideLayouts/_rels/slideLayout24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6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7772400" cy="100584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4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5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6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7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CustomShape 1"/>
          <p:cNvSpPr/>
          <p:nvPr/>
        </p:nvSpPr>
        <p:spPr>
          <a:xfrm>
            <a:off x="3132000" y="6453360"/>
            <a:ext cx="6010920" cy="403560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" name="CustomShape 2"/>
          <p:cNvSpPr/>
          <p:nvPr/>
        </p:nvSpPr>
        <p:spPr>
          <a:xfrm>
            <a:off x="0" y="6453360"/>
            <a:ext cx="3130920" cy="403560"/>
          </a:xfrm>
          <a:prstGeom prst="rect">
            <a:avLst/>
          </a:prstGeom>
          <a:solidFill>
            <a:srgbClr val="000a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" name="CustomShape 3"/>
          <p:cNvSpPr/>
          <p:nvPr/>
        </p:nvSpPr>
        <p:spPr>
          <a:xfrm>
            <a:off x="0" y="6548040"/>
            <a:ext cx="2914560" cy="214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Khand"/>
              </a:rPr>
              <a:t>Copyright</a:t>
            </a: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Khand Medium"/>
              </a:rPr>
              <a:t>ⓒ ControlWorks. </a:t>
            </a: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Khand"/>
              </a:rPr>
              <a:t>All rights reserved.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" name="Line 4"/>
          <p:cNvSpPr/>
          <p:nvPr/>
        </p:nvSpPr>
        <p:spPr>
          <a:xfrm>
            <a:off x="6300000" y="3933720"/>
            <a:ext cx="360" cy="2303280"/>
          </a:xfrm>
          <a:prstGeom prst="line">
            <a:avLst/>
          </a:prstGeom>
          <a:ln w="15840">
            <a:solidFill>
              <a:srgbClr val="000099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4" name="Picture 2" descr=""/>
          <p:cNvPicPr/>
          <p:nvPr/>
        </p:nvPicPr>
        <p:blipFill>
          <a:blip r:embed="rId2"/>
          <a:stretch/>
        </p:blipFill>
        <p:spPr>
          <a:xfrm>
            <a:off x="5382360" y="1268640"/>
            <a:ext cx="3509280" cy="583560"/>
          </a:xfrm>
          <a:prstGeom prst="rect">
            <a:avLst/>
          </a:prstGeom>
          <a:ln>
            <a:noFill/>
          </a:ln>
        </p:spPr>
      </p:pic>
      <p:sp>
        <p:nvSpPr>
          <p:cNvPr id="5" name="PlaceHolder 5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6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CustomShape 1"/>
          <p:cNvSpPr/>
          <p:nvPr/>
        </p:nvSpPr>
        <p:spPr>
          <a:xfrm>
            <a:off x="3132000" y="6453360"/>
            <a:ext cx="6010920" cy="403560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4" name="CustomShape 2"/>
          <p:cNvSpPr/>
          <p:nvPr/>
        </p:nvSpPr>
        <p:spPr>
          <a:xfrm>
            <a:off x="0" y="6453360"/>
            <a:ext cx="3130920" cy="403560"/>
          </a:xfrm>
          <a:prstGeom prst="rect">
            <a:avLst/>
          </a:prstGeom>
          <a:solidFill>
            <a:srgbClr val="000a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5" name="CustomShape 3"/>
          <p:cNvSpPr/>
          <p:nvPr/>
        </p:nvSpPr>
        <p:spPr>
          <a:xfrm>
            <a:off x="0" y="6548040"/>
            <a:ext cx="2914560" cy="214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Khand"/>
              </a:rPr>
              <a:t>Copyright</a:t>
            </a: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Khand Medium"/>
              </a:rPr>
              <a:t>ⓒ ControlWorks. </a:t>
            </a: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Khand"/>
              </a:rPr>
              <a:t>All rights reserved.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46" name="CustomShape 4"/>
          <p:cNvSpPr/>
          <p:nvPr/>
        </p:nvSpPr>
        <p:spPr>
          <a:xfrm>
            <a:off x="0" y="6491520"/>
            <a:ext cx="9142920" cy="376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/>
          <a:p>
            <a:pPr algn="ctr">
              <a:lnSpc>
                <a:spcPct val="100000"/>
              </a:lnSpc>
            </a:pPr>
            <a:fld id="{76578C38-A814-4258-A382-DC339BA9F1B1}" type="slidenum">
              <a:rPr b="0" lang="en-US" sz="1100" spc="-1" strike="noStrike">
                <a:solidFill>
                  <a:srgbClr val="000099"/>
                </a:solidFill>
                <a:latin typeface="Arial"/>
                <a:ea typeface="Univers LT Std 45 Light"/>
              </a:rPr>
              <a:t>1</a:t>
            </a:fld>
            <a:endParaRPr b="0" lang="en-US" sz="1100" spc="-1" strike="noStrike">
              <a:latin typeface="Arial"/>
            </a:endParaRPr>
          </a:p>
        </p:txBody>
      </p:sp>
      <p:sp>
        <p:nvSpPr>
          <p:cNvPr id="47" name="CustomShape 5"/>
          <p:cNvSpPr/>
          <p:nvPr/>
        </p:nvSpPr>
        <p:spPr>
          <a:xfrm>
            <a:off x="4342320" y="6500160"/>
            <a:ext cx="457920" cy="309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/>
          <a:p>
            <a:pPr algn="ctr">
              <a:lnSpc>
                <a:spcPct val="100000"/>
              </a:lnSpc>
            </a:pPr>
            <a:fld id="{A361C93E-A53E-4913-9837-CBBDB068EC6B}" type="slidenum">
              <a:rPr b="0" lang="en-US" sz="1000" spc="-1" strike="noStrike">
                <a:solidFill>
                  <a:srgbClr val="ffffff"/>
                </a:solidFill>
                <a:latin typeface="Arial"/>
                <a:ea typeface="맑은 고딕"/>
              </a:rPr>
              <a:t>1</a:t>
            </a:fld>
            <a:endParaRPr b="0" lang="en-US" sz="1000" spc="-1" strike="noStrike">
              <a:latin typeface="Arial"/>
            </a:endParaRPr>
          </a:p>
        </p:txBody>
      </p:sp>
      <p:sp>
        <p:nvSpPr>
          <p:cNvPr id="48" name="Line 6"/>
          <p:cNvSpPr/>
          <p:nvPr/>
        </p:nvSpPr>
        <p:spPr>
          <a:xfrm>
            <a:off x="0" y="548640"/>
            <a:ext cx="9144000" cy="360"/>
          </a:xfrm>
          <a:prstGeom prst="line">
            <a:avLst/>
          </a:prstGeom>
          <a:ln w="38160">
            <a:solidFill>
              <a:srgbClr val="000099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49" name="Picture 2" descr=""/>
          <p:cNvPicPr/>
          <p:nvPr/>
        </p:nvPicPr>
        <p:blipFill>
          <a:blip r:embed="rId2"/>
          <a:stretch/>
        </p:blipFill>
        <p:spPr>
          <a:xfrm>
            <a:off x="7488720" y="6536160"/>
            <a:ext cx="1546200" cy="256680"/>
          </a:xfrm>
          <a:prstGeom prst="rect">
            <a:avLst/>
          </a:prstGeom>
          <a:ln>
            <a:noFill/>
          </a:ln>
        </p:spPr>
      </p:pic>
      <p:sp>
        <p:nvSpPr>
          <p:cNvPr id="50" name="PlaceHolder 7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51" name="PlaceHolder 8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CustomShape 1"/>
          <p:cNvSpPr/>
          <p:nvPr/>
        </p:nvSpPr>
        <p:spPr>
          <a:xfrm>
            <a:off x="6395760" y="4005000"/>
            <a:ext cx="2639880" cy="2188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50000"/>
              </a:lnSpc>
              <a:spcBef>
                <a:spcPts val="575"/>
              </a:spcBef>
            </a:pPr>
            <a:r>
              <a:rPr b="0" lang="en-US" sz="1800" spc="-1" strike="noStrike">
                <a:solidFill>
                  <a:srgbClr val="000cf2"/>
                </a:solidFill>
                <a:latin typeface="HY헤드라인M"/>
                <a:ea typeface="HY헤드라인M"/>
              </a:rPr>
              <a:t>Encoder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50000"/>
              </a:lnSpc>
              <a:spcBef>
                <a:spcPts val="575"/>
              </a:spcBef>
            </a:pPr>
            <a:r>
              <a:rPr b="0" lang="en-US" sz="1800" spc="-1" strike="noStrike">
                <a:solidFill>
                  <a:srgbClr val="000cf2"/>
                </a:solidFill>
                <a:latin typeface="HY헤드라인M"/>
                <a:ea typeface="HY헤드라인M"/>
              </a:rPr>
              <a:t>Decoder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50000"/>
              </a:lnSpc>
              <a:spcBef>
                <a:spcPts val="575"/>
              </a:spcBef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50000"/>
              </a:lnSpc>
              <a:spcBef>
                <a:spcPts val="575"/>
              </a:spcBef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50000"/>
              </a:lnSpc>
              <a:spcBef>
                <a:spcPts val="575"/>
              </a:spcBef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50000"/>
              </a:lnSpc>
              <a:spcBef>
                <a:spcPts val="575"/>
              </a:spcBef>
            </a:pPr>
            <a:endParaRPr b="0" lang="en-US" sz="1800" spc="-1" strike="noStrike">
              <a:latin typeface="Arial"/>
            </a:endParaRPr>
          </a:p>
        </p:txBody>
      </p:sp>
      <p:sp>
        <p:nvSpPr>
          <p:cNvPr id="89" name="CustomShape 2"/>
          <p:cNvSpPr/>
          <p:nvPr/>
        </p:nvSpPr>
        <p:spPr>
          <a:xfrm>
            <a:off x="539640" y="3933000"/>
            <a:ext cx="5687640" cy="568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 algn="r">
              <a:lnSpc>
                <a:spcPct val="150000"/>
              </a:lnSpc>
              <a:spcBef>
                <a:spcPts val="575"/>
              </a:spcBef>
            </a:pPr>
            <a:r>
              <a:rPr b="0" lang="en-US" sz="2000" spc="-1" strike="noStrike">
                <a:solidFill>
                  <a:srgbClr val="000099"/>
                </a:solidFill>
                <a:latin typeface="HY헤드라인M"/>
                <a:ea typeface="HY헤드라인M"/>
              </a:rPr>
              <a:t>Comparison of SegNet and Jetson-inference</a:t>
            </a:r>
            <a:endParaRPr b="0" lang="en-US" sz="2000" spc="-1" strike="noStrike">
              <a:latin typeface="Arial"/>
            </a:endParaRPr>
          </a:p>
        </p:txBody>
      </p:sp>
    </p:spTree>
  </p:cSld>
  <p:transition>
    <p:fade/>
  </p:transition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CustomShape 1"/>
          <p:cNvSpPr/>
          <p:nvPr/>
        </p:nvSpPr>
        <p:spPr>
          <a:xfrm>
            <a:off x="179640" y="736560"/>
            <a:ext cx="8481240" cy="5386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 marL="343080" indent="-342000">
              <a:lnSpc>
                <a:spcPct val="150000"/>
              </a:lnSpc>
              <a:spcBef>
                <a:spcPts val="575"/>
              </a:spcBef>
              <a:buClr>
                <a:srgbClr val="000af2"/>
              </a:buClr>
              <a:buFont typeface="맑은 고딕"/>
              <a:buChar char="■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맑은 고딕"/>
              </a:rPr>
              <a:t>SegNet</a:t>
            </a:r>
            <a:endParaRPr b="0" lang="en-US" sz="2000" spc="-1" strike="noStrike">
              <a:latin typeface="Arial"/>
            </a:endParaRPr>
          </a:p>
          <a:p>
            <a:pPr lvl="1" marL="432000" indent="-215640">
              <a:lnSpc>
                <a:spcPct val="150000"/>
              </a:lnSpc>
              <a:spcBef>
                <a:spcPts val="57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2000" spc="-1" strike="noStrike">
              <a:latin typeface="Arial"/>
            </a:endParaRPr>
          </a:p>
          <a:p>
            <a:pPr lvl="1" marL="432000" indent="-215640">
              <a:lnSpc>
                <a:spcPct val="150000"/>
              </a:lnSpc>
              <a:spcBef>
                <a:spcPts val="57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2000" spc="-1" strike="noStrike">
              <a:latin typeface="Arial"/>
            </a:endParaRPr>
          </a:p>
          <a:p>
            <a:pPr lvl="1" marL="432000" indent="-215640">
              <a:lnSpc>
                <a:spcPct val="150000"/>
              </a:lnSpc>
              <a:spcBef>
                <a:spcPts val="57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2000" spc="-1" strike="noStrike">
              <a:latin typeface="Arial"/>
            </a:endParaRPr>
          </a:p>
          <a:p>
            <a:pPr lvl="1" marL="432000" indent="-215640">
              <a:lnSpc>
                <a:spcPct val="150000"/>
              </a:lnSpc>
              <a:spcBef>
                <a:spcPts val="57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2000" spc="-1" strike="noStrike">
              <a:latin typeface="Arial"/>
            </a:endParaRPr>
          </a:p>
          <a:p>
            <a:pPr lvl="1" marL="432000" indent="-215640">
              <a:lnSpc>
                <a:spcPct val="150000"/>
              </a:lnSpc>
              <a:spcBef>
                <a:spcPts val="57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SegNet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의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encoder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는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Convolution + Batch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Normalisation + ReLU + Max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pooling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이 직렬로 연결된 형태</a:t>
            </a:r>
            <a:endParaRPr b="0" lang="en-US" sz="1600" spc="-1" strike="noStrike">
              <a:latin typeface="Arial"/>
            </a:endParaRPr>
          </a:p>
          <a:p>
            <a:pPr lvl="1" marL="432000" indent="-215640">
              <a:lnSpc>
                <a:spcPct val="150000"/>
              </a:lnSpc>
              <a:spcBef>
                <a:spcPts val="57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Max pooling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은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2x2 size kernel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를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stride 2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로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pooling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하여 가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로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,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세로 크기를 절반으로 축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50000"/>
              </a:lnSpc>
              <a:spcBef>
                <a:spcPts val="575"/>
              </a:spcBef>
            </a:pPr>
            <a:endParaRPr b="0" lang="en-US" sz="1600" spc="-1" strike="noStrike">
              <a:latin typeface="Arial"/>
            </a:endParaRPr>
          </a:p>
          <a:p>
            <a:pPr>
              <a:lnSpc>
                <a:spcPct val="150000"/>
              </a:lnSpc>
              <a:spcBef>
                <a:spcPts val="575"/>
              </a:spcBef>
            </a:pPr>
            <a:endParaRPr b="0" lang="en-US" sz="1600" spc="-1" strike="noStrike">
              <a:latin typeface="Arial"/>
            </a:endParaRPr>
          </a:p>
          <a:p>
            <a:pPr>
              <a:lnSpc>
                <a:spcPct val="150000"/>
              </a:lnSpc>
              <a:spcBef>
                <a:spcPts val="575"/>
              </a:spcBef>
            </a:pPr>
            <a:endParaRPr b="0" lang="en-US" sz="1600" spc="-1" strike="noStrike">
              <a:latin typeface="Arial"/>
            </a:endParaRPr>
          </a:p>
        </p:txBody>
      </p:sp>
      <p:sp>
        <p:nvSpPr>
          <p:cNvPr id="91" name="CustomShape 2"/>
          <p:cNvSpPr/>
          <p:nvPr/>
        </p:nvSpPr>
        <p:spPr>
          <a:xfrm>
            <a:off x="179280" y="0"/>
            <a:ext cx="8963640" cy="534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/>
          <a:p>
            <a:pPr>
              <a:lnSpc>
                <a:spcPct val="150000"/>
              </a:lnSpc>
              <a:spcBef>
                <a:spcPts val="575"/>
              </a:spcBef>
            </a:pPr>
            <a:r>
              <a:rPr b="1" lang="en-US" sz="2400" spc="-1" strike="noStrike">
                <a:solidFill>
                  <a:srgbClr val="000cf2"/>
                </a:solidFill>
                <a:latin typeface="Arial"/>
                <a:ea typeface="HY헤드라인M"/>
              </a:rPr>
              <a:t>Encoder(I)</a:t>
            </a:r>
            <a:endParaRPr b="0" lang="en-US" sz="2400" spc="-1" strike="noStrike">
              <a:latin typeface="Arial"/>
            </a:endParaRPr>
          </a:p>
        </p:txBody>
      </p:sp>
      <p:grpSp>
        <p:nvGrpSpPr>
          <p:cNvPr id="92" name="Group 3"/>
          <p:cNvGrpSpPr/>
          <p:nvPr/>
        </p:nvGrpSpPr>
        <p:grpSpPr>
          <a:xfrm>
            <a:off x="1691280" y="1119960"/>
            <a:ext cx="5343840" cy="2368440"/>
            <a:chOff x="1691280" y="1119960"/>
            <a:chExt cx="5343840" cy="2368440"/>
          </a:xfrm>
        </p:grpSpPr>
        <p:pic>
          <p:nvPicPr>
            <p:cNvPr id="93" name="Picture 2" descr=""/>
            <p:cNvPicPr/>
            <p:nvPr/>
          </p:nvPicPr>
          <p:blipFill>
            <a:blip r:embed="rId1"/>
            <a:stretch/>
          </p:blipFill>
          <p:spPr>
            <a:xfrm>
              <a:off x="2051280" y="1119960"/>
              <a:ext cx="4983840" cy="2368440"/>
            </a:xfrm>
            <a:prstGeom prst="rect">
              <a:avLst/>
            </a:prstGeom>
            <a:ln>
              <a:noFill/>
            </a:ln>
          </p:spPr>
        </p:pic>
        <p:sp>
          <p:nvSpPr>
            <p:cNvPr id="94" name="CustomShape 4"/>
            <p:cNvSpPr/>
            <p:nvPr/>
          </p:nvSpPr>
          <p:spPr>
            <a:xfrm>
              <a:off x="1691280" y="1336320"/>
              <a:ext cx="2664000" cy="1728000"/>
            </a:xfrm>
            <a:prstGeom prst="rect">
              <a:avLst/>
            </a:prstGeom>
            <a:noFill/>
            <a:ln w="28440">
              <a:solidFill>
                <a:srgbClr val="ff0000"/>
              </a:solidFill>
              <a:round/>
            </a:ln>
            <a:effectLst>
              <a:outerShdw blurRad="40000" dir="5400000" dist="20000" rotWithShape="0">
                <a:srgbClr val="000000">
                  <a:alpha val="38000"/>
                </a:srgbClr>
              </a:outerShdw>
            </a:effectLst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/>
          </p:style>
        </p:sp>
      </p:grpSp>
    </p:spTree>
  </p:cSld>
  <p:transition>
    <p:fade/>
  </p:transition>
  <p:timing>
    <p:tnLst>
      <p:par>
        <p:cTn id="3" dur="indefinite" restart="never" nodeType="tmRoot">
          <p:childTnLst>
            <p:seq>
              <p:cTn id="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CustomShape 1"/>
          <p:cNvSpPr/>
          <p:nvPr/>
        </p:nvSpPr>
        <p:spPr>
          <a:xfrm>
            <a:off x="179640" y="736560"/>
            <a:ext cx="8481240" cy="5386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 marL="343080" indent="-342000">
              <a:lnSpc>
                <a:spcPct val="150000"/>
              </a:lnSpc>
              <a:spcBef>
                <a:spcPts val="575"/>
              </a:spcBef>
              <a:buClr>
                <a:srgbClr val="000af2"/>
              </a:buClr>
              <a:buFont typeface="맑은 고딕"/>
              <a:buChar char="■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맑은 고딕"/>
              </a:rPr>
              <a:t>Jetson-inference</a:t>
            </a:r>
            <a:endParaRPr b="0" lang="en-US" sz="2000" spc="-1" strike="noStrike">
              <a:latin typeface="Arial"/>
            </a:endParaRPr>
          </a:p>
          <a:p>
            <a:pPr lvl="1" marL="432000" indent="-215640">
              <a:lnSpc>
                <a:spcPct val="150000"/>
              </a:lnSpc>
              <a:spcBef>
                <a:spcPts val="57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Jetson-inference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의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segmenting model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은</a:t>
            </a:r>
            <a:br/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오른쪽의 두 구조가 연결되어 반복</a:t>
            </a:r>
            <a:endParaRPr b="0" lang="en-US" sz="1600" spc="-1" strike="noStrike">
              <a:latin typeface="Arial"/>
            </a:endParaRPr>
          </a:p>
          <a:p>
            <a:pPr lvl="1" marL="432000" indent="-215640">
              <a:lnSpc>
                <a:spcPct val="150000"/>
              </a:lnSpc>
              <a:spcBef>
                <a:spcPts val="57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SegNet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의 직렬구조와 다르게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Convolution + </a:t>
            </a:r>
            <a:br/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Normaliztion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를 거친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feature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map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과 </a:t>
            </a:r>
            <a:br/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input feature map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이 병합되어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활성화 함수로 </a:t>
            </a:r>
            <a:br/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입력</a:t>
            </a:r>
            <a:endParaRPr b="0" lang="en-US" sz="1600" spc="-1" strike="noStrike">
              <a:latin typeface="Arial"/>
            </a:endParaRPr>
          </a:p>
          <a:p>
            <a:pPr lvl="1" marL="432000" indent="-215640">
              <a:lnSpc>
                <a:spcPct val="150000"/>
              </a:lnSpc>
              <a:spcBef>
                <a:spcPts val="57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또한 각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layer set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의 마지막에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max-pooling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을</a:t>
            </a:r>
            <a:br/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하지않고 아래와 같이 초기에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max-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pooling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이 </a:t>
            </a:r>
            <a:br/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유일하게 한번 이루어지며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convolution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을 통해 </a:t>
            </a:r>
            <a:br/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down-sampling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이 이루어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50000"/>
              </a:lnSpc>
              <a:spcBef>
                <a:spcPts val="575"/>
              </a:spcBef>
            </a:pPr>
            <a:endParaRPr b="0" lang="en-US" sz="1600" spc="-1" strike="noStrike">
              <a:latin typeface="Arial"/>
            </a:endParaRPr>
          </a:p>
          <a:p>
            <a:pPr>
              <a:lnSpc>
                <a:spcPct val="150000"/>
              </a:lnSpc>
              <a:spcBef>
                <a:spcPts val="575"/>
              </a:spcBef>
            </a:pPr>
            <a:endParaRPr b="0" lang="en-US" sz="1600" spc="-1" strike="noStrike">
              <a:latin typeface="Arial"/>
            </a:endParaRPr>
          </a:p>
          <a:p>
            <a:pPr>
              <a:lnSpc>
                <a:spcPct val="150000"/>
              </a:lnSpc>
              <a:spcBef>
                <a:spcPts val="575"/>
              </a:spcBef>
            </a:pPr>
            <a:endParaRPr b="0" lang="en-US" sz="1600" spc="-1" strike="noStrike">
              <a:latin typeface="Arial"/>
            </a:endParaRPr>
          </a:p>
        </p:txBody>
      </p:sp>
      <p:sp>
        <p:nvSpPr>
          <p:cNvPr id="96" name="CustomShape 2"/>
          <p:cNvSpPr/>
          <p:nvPr/>
        </p:nvSpPr>
        <p:spPr>
          <a:xfrm>
            <a:off x="179280" y="0"/>
            <a:ext cx="8963640" cy="534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/>
          <a:p>
            <a:pPr>
              <a:lnSpc>
                <a:spcPct val="150000"/>
              </a:lnSpc>
              <a:spcBef>
                <a:spcPts val="575"/>
              </a:spcBef>
            </a:pPr>
            <a:r>
              <a:rPr b="1" lang="en-US" sz="2400" spc="-1" strike="noStrike">
                <a:solidFill>
                  <a:srgbClr val="000cf2"/>
                </a:solidFill>
                <a:latin typeface="Arial"/>
                <a:ea typeface="HY헤드라인M"/>
              </a:rPr>
              <a:t>Encoder(II)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97" name="" descr=""/>
          <p:cNvPicPr/>
          <p:nvPr/>
        </p:nvPicPr>
        <p:blipFill>
          <a:blip r:embed="rId1"/>
          <a:srcRect l="37030" t="17214" r="35967" b="11668"/>
          <a:stretch/>
        </p:blipFill>
        <p:spPr>
          <a:xfrm>
            <a:off x="6675120" y="1371600"/>
            <a:ext cx="2468520" cy="3657240"/>
          </a:xfrm>
          <a:prstGeom prst="rect">
            <a:avLst/>
          </a:prstGeom>
          <a:ln>
            <a:noFill/>
          </a:ln>
        </p:spPr>
      </p:pic>
      <p:pic>
        <p:nvPicPr>
          <p:cNvPr id="98" name="" descr=""/>
          <p:cNvPicPr/>
          <p:nvPr/>
        </p:nvPicPr>
        <p:blipFill>
          <a:blip r:embed="rId2"/>
          <a:srcRect l="40030" t="17214" r="43967" b="6334"/>
          <a:stretch/>
        </p:blipFill>
        <p:spPr>
          <a:xfrm>
            <a:off x="5212080" y="1371600"/>
            <a:ext cx="1462680" cy="3931560"/>
          </a:xfrm>
          <a:prstGeom prst="rect">
            <a:avLst/>
          </a:prstGeom>
          <a:ln>
            <a:noFill/>
          </a:ln>
        </p:spPr>
      </p:pic>
      <p:pic>
        <p:nvPicPr>
          <p:cNvPr id="99" name="" descr=""/>
          <p:cNvPicPr/>
          <p:nvPr/>
        </p:nvPicPr>
        <p:blipFill>
          <a:blip r:embed="rId3"/>
          <a:srcRect l="35030" t="15437" r="50967" b="43668"/>
          <a:stretch/>
        </p:blipFill>
        <p:spPr>
          <a:xfrm rot="16226400">
            <a:off x="1125360" y="4717080"/>
            <a:ext cx="1279800" cy="2102760"/>
          </a:xfrm>
          <a:prstGeom prst="rect">
            <a:avLst/>
          </a:prstGeom>
          <a:ln>
            <a:noFill/>
          </a:ln>
        </p:spPr>
      </p:pic>
    </p:spTree>
  </p:cSld>
  <p:transition>
    <p:fade/>
  </p:transition>
  <p:timing>
    <p:tnLst>
      <p:par>
        <p:cTn id="5" dur="indefinite" restart="never" nodeType="tmRoot">
          <p:childTnLst>
            <p:seq>
              <p:cTn id="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CustomShape 1"/>
          <p:cNvSpPr/>
          <p:nvPr/>
        </p:nvSpPr>
        <p:spPr>
          <a:xfrm>
            <a:off x="179640" y="736560"/>
            <a:ext cx="8481240" cy="5386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 marL="343080" indent="-342000">
              <a:lnSpc>
                <a:spcPct val="150000"/>
              </a:lnSpc>
              <a:spcBef>
                <a:spcPts val="575"/>
              </a:spcBef>
              <a:buClr>
                <a:srgbClr val="000af2"/>
              </a:buClr>
              <a:buFont typeface="맑은 고딕"/>
              <a:buChar char="■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맑은 고딕"/>
              </a:rPr>
              <a:t>SegNet</a:t>
            </a:r>
            <a:endParaRPr b="0" lang="en-US" sz="2000" spc="-1" strike="noStrike">
              <a:latin typeface="Arial"/>
            </a:endParaRPr>
          </a:p>
          <a:p>
            <a:pPr lvl="1" marL="432000" indent="-215640">
              <a:lnSpc>
                <a:spcPct val="150000"/>
              </a:lnSpc>
              <a:spcBef>
                <a:spcPts val="57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2000" spc="-1" strike="noStrike">
              <a:latin typeface="Arial"/>
            </a:endParaRPr>
          </a:p>
          <a:p>
            <a:pPr lvl="1" marL="432000" indent="-215640">
              <a:lnSpc>
                <a:spcPct val="150000"/>
              </a:lnSpc>
              <a:spcBef>
                <a:spcPts val="57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2000" spc="-1" strike="noStrike">
              <a:latin typeface="Arial"/>
            </a:endParaRPr>
          </a:p>
          <a:p>
            <a:pPr lvl="1" marL="432000" indent="-215640">
              <a:lnSpc>
                <a:spcPct val="150000"/>
              </a:lnSpc>
              <a:spcBef>
                <a:spcPts val="57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2000" spc="-1" strike="noStrike">
              <a:latin typeface="Arial"/>
            </a:endParaRPr>
          </a:p>
          <a:p>
            <a:pPr lvl="1" marL="432000" indent="-215640">
              <a:lnSpc>
                <a:spcPct val="150000"/>
              </a:lnSpc>
              <a:spcBef>
                <a:spcPts val="57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2000" spc="-1" strike="noStrike">
              <a:latin typeface="Arial"/>
            </a:endParaRPr>
          </a:p>
          <a:p>
            <a:pPr lvl="1" marL="432000" indent="-215640">
              <a:lnSpc>
                <a:spcPct val="150000"/>
              </a:lnSpc>
              <a:spcBef>
                <a:spcPts val="57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SegNet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의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decoder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는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Upsampling + Convolution + Batch Normalisation + ReLU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의 반복구조</a:t>
            </a:r>
            <a:endParaRPr b="0" lang="en-US" sz="1600" spc="-1" strike="noStrike">
              <a:latin typeface="Arial"/>
            </a:endParaRPr>
          </a:p>
          <a:p>
            <a:pPr lvl="1" marL="432000" indent="-215640">
              <a:lnSpc>
                <a:spcPct val="150000"/>
              </a:lnSpc>
              <a:spcBef>
                <a:spcPts val="57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Upsampling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시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, encoder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에서 이루어졌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max-pooling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위치정보를 이용하는 특징을 지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50000"/>
              </a:lnSpc>
              <a:spcBef>
                <a:spcPts val="575"/>
              </a:spcBef>
            </a:pPr>
            <a:endParaRPr b="0" lang="en-US" sz="1600" spc="-1" strike="noStrike">
              <a:latin typeface="Arial"/>
            </a:endParaRPr>
          </a:p>
          <a:p>
            <a:pPr>
              <a:lnSpc>
                <a:spcPct val="150000"/>
              </a:lnSpc>
              <a:spcBef>
                <a:spcPts val="575"/>
              </a:spcBef>
            </a:pPr>
            <a:endParaRPr b="0" lang="en-US" sz="1600" spc="-1" strike="noStrike">
              <a:latin typeface="Arial"/>
            </a:endParaRPr>
          </a:p>
          <a:p>
            <a:pPr>
              <a:lnSpc>
                <a:spcPct val="150000"/>
              </a:lnSpc>
              <a:spcBef>
                <a:spcPts val="575"/>
              </a:spcBef>
            </a:pPr>
            <a:endParaRPr b="0" lang="en-US" sz="1600" spc="-1" strike="noStrike">
              <a:latin typeface="Arial"/>
            </a:endParaRPr>
          </a:p>
        </p:txBody>
      </p:sp>
      <p:sp>
        <p:nvSpPr>
          <p:cNvPr id="101" name="CustomShape 2"/>
          <p:cNvSpPr/>
          <p:nvPr/>
        </p:nvSpPr>
        <p:spPr>
          <a:xfrm>
            <a:off x="179280" y="0"/>
            <a:ext cx="8963640" cy="534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/>
          <a:p>
            <a:pPr>
              <a:lnSpc>
                <a:spcPct val="150000"/>
              </a:lnSpc>
              <a:spcBef>
                <a:spcPts val="575"/>
              </a:spcBef>
            </a:pPr>
            <a:r>
              <a:rPr b="1" lang="en-US" sz="2400" spc="-1" strike="noStrike">
                <a:solidFill>
                  <a:srgbClr val="000cf2"/>
                </a:solidFill>
                <a:latin typeface="Arial"/>
                <a:ea typeface="HY헤드라인M"/>
              </a:rPr>
              <a:t>Decoder(I)</a:t>
            </a:r>
            <a:endParaRPr b="0" lang="en-US" sz="2400" spc="-1" strike="noStrike">
              <a:latin typeface="Arial"/>
            </a:endParaRPr>
          </a:p>
        </p:txBody>
      </p:sp>
      <p:grpSp>
        <p:nvGrpSpPr>
          <p:cNvPr id="102" name="Group 3"/>
          <p:cNvGrpSpPr/>
          <p:nvPr/>
        </p:nvGrpSpPr>
        <p:grpSpPr>
          <a:xfrm>
            <a:off x="1943280" y="1119960"/>
            <a:ext cx="5004000" cy="2368440"/>
            <a:chOff x="1943280" y="1119960"/>
            <a:chExt cx="5004000" cy="2368440"/>
          </a:xfrm>
        </p:grpSpPr>
        <p:pic>
          <p:nvPicPr>
            <p:cNvPr id="103" name="Picture 2" descr=""/>
            <p:cNvPicPr/>
            <p:nvPr/>
          </p:nvPicPr>
          <p:blipFill>
            <a:blip r:embed="rId1"/>
            <a:stretch/>
          </p:blipFill>
          <p:spPr>
            <a:xfrm>
              <a:off x="1943280" y="1119960"/>
              <a:ext cx="4983840" cy="2368440"/>
            </a:xfrm>
            <a:prstGeom prst="rect">
              <a:avLst/>
            </a:prstGeom>
            <a:ln>
              <a:noFill/>
            </a:ln>
          </p:spPr>
        </p:pic>
        <p:sp>
          <p:nvSpPr>
            <p:cNvPr id="104" name="CustomShape 4"/>
            <p:cNvSpPr/>
            <p:nvPr/>
          </p:nvSpPr>
          <p:spPr>
            <a:xfrm>
              <a:off x="4283280" y="1336320"/>
              <a:ext cx="2664000" cy="1728000"/>
            </a:xfrm>
            <a:prstGeom prst="rect">
              <a:avLst/>
            </a:prstGeom>
            <a:noFill/>
            <a:ln w="28440">
              <a:solidFill>
                <a:srgbClr val="ff0000"/>
              </a:solidFill>
              <a:round/>
            </a:ln>
            <a:effectLst>
              <a:outerShdw blurRad="40000" dir="5400000" dist="20000" rotWithShape="0">
                <a:srgbClr val="000000">
                  <a:alpha val="38000"/>
                </a:srgbClr>
              </a:outerShdw>
            </a:effectLst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/>
          </p:style>
        </p:sp>
      </p:grpSp>
      <p:pic>
        <p:nvPicPr>
          <p:cNvPr id="105" name="Picture 2" descr=""/>
          <p:cNvPicPr/>
          <p:nvPr/>
        </p:nvPicPr>
        <p:blipFill>
          <a:blip r:embed="rId2"/>
          <a:srcRect l="0" t="15343" r="57550" b="0"/>
          <a:stretch/>
        </p:blipFill>
        <p:spPr>
          <a:xfrm>
            <a:off x="1353600" y="4663440"/>
            <a:ext cx="1788840" cy="1645200"/>
          </a:xfrm>
          <a:prstGeom prst="rect">
            <a:avLst/>
          </a:prstGeom>
          <a:ln>
            <a:noFill/>
          </a:ln>
        </p:spPr>
      </p:pic>
    </p:spTree>
  </p:cSld>
  <p:transition>
    <p:fade/>
  </p:transition>
  <p:timing>
    <p:tnLst>
      <p:par>
        <p:cTn id="7" dur="indefinite" restart="never" nodeType="tmRoot">
          <p:childTnLst>
            <p:seq>
              <p:cTn id="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CustomShape 1"/>
          <p:cNvSpPr/>
          <p:nvPr/>
        </p:nvSpPr>
        <p:spPr>
          <a:xfrm>
            <a:off x="179640" y="736560"/>
            <a:ext cx="8481240" cy="5386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 marL="343080" indent="-342000">
              <a:lnSpc>
                <a:spcPct val="150000"/>
              </a:lnSpc>
              <a:spcBef>
                <a:spcPts val="575"/>
              </a:spcBef>
              <a:buClr>
                <a:srgbClr val="000af2"/>
              </a:buClr>
              <a:buFont typeface="맑은 고딕"/>
              <a:buChar char="■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맑은 고딕"/>
              </a:rPr>
              <a:t>Jetson-inference</a:t>
            </a:r>
            <a:endParaRPr b="0" lang="en-US" sz="2000" spc="-1" strike="noStrike">
              <a:latin typeface="Arial"/>
            </a:endParaRPr>
          </a:p>
          <a:p>
            <a:pPr lvl="1" marL="432000" indent="-215640">
              <a:lnSpc>
                <a:spcPct val="150000"/>
              </a:lnSpc>
              <a:spcBef>
                <a:spcPts val="57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Jetson-inference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에서 제공되는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Segmenting model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은 사실상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decoder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가 존재하지 않음</a:t>
            </a:r>
            <a:endParaRPr b="0" lang="en-US" sz="1600" spc="-1" strike="noStrike">
              <a:latin typeface="Arial"/>
            </a:endParaRPr>
          </a:p>
          <a:p>
            <a:pPr lvl="1" marL="432000" indent="-215640">
              <a:lnSpc>
                <a:spcPct val="150000"/>
              </a:lnSpc>
              <a:spcBef>
                <a:spcPts val="57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Encoder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부분에서 최종적으로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labeling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이 된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small size output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을 이용하여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input image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의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pixel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마다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labeling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이 이루어지며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,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이는 해당 모델의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visualization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부분에서 이루어짐</a:t>
            </a:r>
            <a:endParaRPr b="0" lang="en-US" sz="1600" spc="-1" strike="noStrike">
              <a:latin typeface="Arial"/>
            </a:endParaRPr>
          </a:p>
          <a:p>
            <a:pPr lvl="1" marL="432000" indent="-215640">
              <a:lnSpc>
                <a:spcPct val="150000"/>
              </a:lnSpc>
              <a:spcBef>
                <a:spcPts val="57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 </a:t>
            </a:r>
            <a:endParaRPr b="0" lang="en-US" sz="1600" spc="-1" strike="noStrike">
              <a:latin typeface="Arial"/>
            </a:endParaRPr>
          </a:p>
          <a:p>
            <a:pPr lvl="1" marL="432000" indent="-215640">
              <a:lnSpc>
                <a:spcPct val="150000"/>
              </a:lnSpc>
              <a:spcBef>
                <a:spcPts val="57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s_w, s_h : model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의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output feature map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의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width, height</a:t>
            </a:r>
            <a:br/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 pixel   ex).cityscapes-2048x1024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의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s_w = 64, s_h =32</a:t>
            </a:r>
            <a:endParaRPr b="0" lang="en-US" sz="1600" spc="-1" strike="noStrike">
              <a:latin typeface="Arial"/>
            </a:endParaRPr>
          </a:p>
          <a:p>
            <a:pPr lvl="1" marL="432000" indent="-215640">
              <a:lnSpc>
                <a:spcPct val="150000"/>
              </a:lnSpc>
              <a:spcBef>
                <a:spcPts val="57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out_width, out_height : output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의 목표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size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이며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input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의</a:t>
            </a:r>
            <a:br/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size</a:t>
            </a:r>
            <a:endParaRPr b="0" lang="en-US" sz="1600" spc="-1" strike="noStrike">
              <a:latin typeface="Arial"/>
            </a:endParaRPr>
          </a:p>
          <a:p>
            <a:pPr lvl="1" marL="432000" indent="-215640">
              <a:lnSpc>
                <a:spcPct val="150000"/>
              </a:lnSpc>
              <a:spcBef>
                <a:spcPts val="57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s_x, s_y :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사용한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CNN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의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output size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와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input size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와의</a:t>
            </a:r>
            <a:br/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비율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(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실수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)</a:t>
            </a:r>
            <a:endParaRPr b="0" lang="en-US" sz="1600" spc="-1" strike="noStrike">
              <a:latin typeface="Arial"/>
            </a:endParaRPr>
          </a:p>
          <a:p>
            <a:pPr lvl="1" marL="432000" indent="-215640">
              <a:lnSpc>
                <a:spcPct val="150000"/>
              </a:lnSpc>
              <a:spcBef>
                <a:spcPts val="57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For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문을 이용하여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input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의 각 픽셀마다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s_x, s_y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의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scale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값을 적용한 후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,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정수로 변환시켜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해당 정수값의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output pixel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이 가지는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labeling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을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input pixel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에 적용시키는 방법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50000"/>
              </a:lnSpc>
              <a:spcBef>
                <a:spcPts val="575"/>
              </a:spcBef>
            </a:pPr>
            <a:endParaRPr b="0" lang="en-US" sz="1600" spc="-1" strike="noStrike">
              <a:latin typeface="Arial"/>
            </a:endParaRPr>
          </a:p>
          <a:p>
            <a:pPr>
              <a:lnSpc>
                <a:spcPct val="150000"/>
              </a:lnSpc>
              <a:spcBef>
                <a:spcPts val="575"/>
              </a:spcBef>
            </a:pPr>
            <a:endParaRPr b="0" lang="en-US" sz="1600" spc="-1" strike="noStrike">
              <a:latin typeface="Arial"/>
            </a:endParaRPr>
          </a:p>
          <a:p>
            <a:pPr>
              <a:lnSpc>
                <a:spcPct val="150000"/>
              </a:lnSpc>
              <a:spcBef>
                <a:spcPts val="575"/>
              </a:spcBef>
            </a:pPr>
            <a:endParaRPr b="0" lang="en-US" sz="1600" spc="-1" strike="noStrike">
              <a:latin typeface="Arial"/>
            </a:endParaRPr>
          </a:p>
        </p:txBody>
      </p:sp>
      <p:sp>
        <p:nvSpPr>
          <p:cNvPr id="107" name="CustomShape 2"/>
          <p:cNvSpPr/>
          <p:nvPr/>
        </p:nvSpPr>
        <p:spPr>
          <a:xfrm>
            <a:off x="179280" y="0"/>
            <a:ext cx="8963640" cy="534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/>
          <a:p>
            <a:pPr>
              <a:lnSpc>
                <a:spcPct val="150000"/>
              </a:lnSpc>
              <a:spcBef>
                <a:spcPts val="575"/>
              </a:spcBef>
            </a:pPr>
            <a:r>
              <a:rPr b="1" lang="en-US" sz="2400" spc="-1" strike="noStrike">
                <a:solidFill>
                  <a:srgbClr val="000cf2"/>
                </a:solidFill>
                <a:latin typeface="Arial"/>
                <a:ea typeface="HY헤드라인M"/>
              </a:rPr>
              <a:t>Decoder(II)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08" name="" descr=""/>
          <p:cNvPicPr/>
          <p:nvPr/>
        </p:nvPicPr>
        <p:blipFill>
          <a:blip r:embed="rId1"/>
          <a:srcRect l="26030" t="34992" r="45967" b="54334"/>
          <a:stretch/>
        </p:blipFill>
        <p:spPr>
          <a:xfrm>
            <a:off x="731520" y="2560680"/>
            <a:ext cx="2559960" cy="548280"/>
          </a:xfrm>
          <a:prstGeom prst="rect">
            <a:avLst/>
          </a:prstGeom>
          <a:ln>
            <a:noFill/>
          </a:ln>
        </p:spPr>
      </p:pic>
      <p:sp>
        <p:nvSpPr>
          <p:cNvPr id="109" name="TextShape 3"/>
          <p:cNvSpPr txBox="1"/>
          <p:nvPr/>
        </p:nvSpPr>
        <p:spPr>
          <a:xfrm>
            <a:off x="3291840" y="2624040"/>
            <a:ext cx="2103120" cy="30204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lIns="90000" rIns="90000" tIns="45000" bIns="45000"/>
          <a:p>
            <a:r>
              <a:rPr b="0" lang="en-US" sz="1500" spc="-1" strike="noStrike">
                <a:latin typeface="Arial"/>
              </a:rPr>
              <a:t>segnet-console.py</a:t>
            </a:r>
            <a:endParaRPr b="0" lang="en-US" sz="1500" spc="-1" strike="noStrike">
              <a:latin typeface="Arial"/>
            </a:endParaRPr>
          </a:p>
        </p:txBody>
      </p:sp>
      <p:pic>
        <p:nvPicPr>
          <p:cNvPr id="110" name="" descr=""/>
          <p:cNvPicPr/>
          <p:nvPr/>
        </p:nvPicPr>
        <p:blipFill>
          <a:blip r:embed="rId2"/>
          <a:srcRect l="23030" t="8325" r="44967" b="52556"/>
          <a:stretch/>
        </p:blipFill>
        <p:spPr>
          <a:xfrm>
            <a:off x="5924160" y="3194640"/>
            <a:ext cx="3200400" cy="2200320"/>
          </a:xfrm>
          <a:prstGeom prst="rect">
            <a:avLst/>
          </a:prstGeom>
          <a:ln>
            <a:noFill/>
          </a:ln>
        </p:spPr>
      </p:pic>
      <p:sp>
        <p:nvSpPr>
          <p:cNvPr id="111" name="TextShape 4"/>
          <p:cNvSpPr txBox="1"/>
          <p:nvPr/>
        </p:nvSpPr>
        <p:spPr>
          <a:xfrm>
            <a:off x="6557760" y="2892600"/>
            <a:ext cx="2103120" cy="30204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lIns="90000" rIns="90000" tIns="45000" bIns="45000"/>
          <a:p>
            <a:r>
              <a:rPr b="0" lang="en-US" sz="1500" spc="-1" strike="noStrike">
                <a:latin typeface="Arial"/>
              </a:rPr>
              <a:t>segNet.cpp</a:t>
            </a:r>
            <a:endParaRPr b="0" lang="en-US" sz="1500" spc="-1" strike="noStrike">
              <a:latin typeface="Arial"/>
            </a:endParaRPr>
          </a:p>
        </p:txBody>
      </p:sp>
    </p:spTree>
  </p:cSld>
  <p:transition>
    <p:fade/>
  </p:transition>
  <p:timing>
    <p:tnLst>
      <p:par>
        <p:cTn id="9" dur="indefinite" restart="never" nodeType="tmRoot">
          <p:childTnLst>
            <p:seq>
              <p:cTn id="1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CustomShape 1"/>
          <p:cNvSpPr/>
          <p:nvPr/>
        </p:nvSpPr>
        <p:spPr>
          <a:xfrm>
            <a:off x="179640" y="736560"/>
            <a:ext cx="8481240" cy="5386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 lvl="1" marL="432000" indent="-215640">
              <a:lnSpc>
                <a:spcPct val="150000"/>
              </a:lnSpc>
              <a:spcBef>
                <a:spcPts val="57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Filter-mode option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을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point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로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설정할 시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,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위 단계에서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visualization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이 종료되지만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linear filter-mode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에서는 </a:t>
            </a:r>
            <a:r>
              <a:rPr b="0" lang="en-US" sz="1600" spc="-1" strike="noStrike" baseline="33000">
                <a:solidFill>
                  <a:srgbClr val="000000"/>
                </a:solidFill>
                <a:latin typeface="Arial"/>
                <a:ea typeface="맑은 고딕"/>
              </a:rPr>
              <a:t>*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이중선형보간법을 사용하여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labeling color data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의 값을 보정</a:t>
            </a:r>
            <a:endParaRPr b="0" lang="en-US" sz="1600" spc="-1" strike="noStrike">
              <a:latin typeface="Arial"/>
            </a:endParaRPr>
          </a:p>
          <a:p>
            <a:pPr lvl="2" marL="648000" indent="-216000">
              <a:lnSpc>
                <a:spcPct val="150000"/>
              </a:lnSpc>
              <a:spcBef>
                <a:spcPts val="57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 baseline="33000">
                <a:solidFill>
                  <a:srgbClr val="000000"/>
                </a:solidFill>
                <a:latin typeface="Arial"/>
                <a:ea typeface="맑은 고딕"/>
              </a:rPr>
              <a:t>*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맑은 고딕"/>
              </a:rPr>
              <a:t>이중선형보간법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맑은 고딕"/>
              </a:rPr>
              <a:t>(bilinear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맑은 고딕"/>
              </a:rPr>
              <a:t>interpolation) :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맑은 고딕"/>
              </a:rPr>
              <a:t>https://darkpgmr.tistory.com/117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50000"/>
              </a:lnSpc>
              <a:spcBef>
                <a:spcPts val="575"/>
              </a:spcBef>
            </a:pPr>
            <a:endParaRPr b="0" lang="en-US" sz="1400" spc="-1" strike="noStrike">
              <a:latin typeface="Arial"/>
            </a:endParaRPr>
          </a:p>
          <a:p>
            <a:pPr>
              <a:lnSpc>
                <a:spcPct val="150000"/>
              </a:lnSpc>
              <a:spcBef>
                <a:spcPts val="575"/>
              </a:spcBef>
            </a:pPr>
            <a:endParaRPr b="0" lang="en-US" sz="1400" spc="-1" strike="noStrike">
              <a:latin typeface="Arial"/>
            </a:endParaRPr>
          </a:p>
          <a:p>
            <a:pPr>
              <a:lnSpc>
                <a:spcPct val="150000"/>
              </a:lnSpc>
              <a:spcBef>
                <a:spcPts val="575"/>
              </a:spcBef>
            </a:pPr>
            <a:endParaRPr b="0" lang="en-US" sz="1400" spc="-1" strike="noStrike">
              <a:latin typeface="Arial"/>
            </a:endParaRPr>
          </a:p>
        </p:txBody>
      </p:sp>
      <p:sp>
        <p:nvSpPr>
          <p:cNvPr id="113" name="CustomShape 2"/>
          <p:cNvSpPr/>
          <p:nvPr/>
        </p:nvSpPr>
        <p:spPr>
          <a:xfrm>
            <a:off x="179280" y="0"/>
            <a:ext cx="8963640" cy="534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/>
          <a:p>
            <a:pPr>
              <a:lnSpc>
                <a:spcPct val="150000"/>
              </a:lnSpc>
              <a:spcBef>
                <a:spcPts val="575"/>
              </a:spcBef>
            </a:pPr>
            <a:r>
              <a:rPr b="1" lang="en-US" sz="2400" spc="-1" strike="noStrike">
                <a:solidFill>
                  <a:srgbClr val="000cf2"/>
                </a:solidFill>
                <a:latin typeface="Arial"/>
                <a:ea typeface="HY헤드라인M"/>
              </a:rPr>
              <a:t>Decoder(III)</a:t>
            </a:r>
            <a:endParaRPr b="0" lang="en-US" sz="2400" spc="-1" strike="noStrike">
              <a:latin typeface="Arial"/>
            </a:endParaRPr>
          </a:p>
        </p:txBody>
      </p:sp>
    </p:spTree>
  </p:cSld>
  <p:transition>
    <p:fade/>
  </p:transition>
  <p:timing>
    <p:tnLst>
      <p:par>
        <p:cTn id="11" dur="indefinite" restart="never" nodeType="tmRoot">
          <p:childTnLst>
            <p:seq>
              <p:cTn id="1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a60a3"/>
      </a:dk2>
      <a:lt2>
        <a:srgbClr val="f5f5f5"/>
      </a:lt2>
      <a:accent1>
        <a:srgbClr val="0a60a3"/>
      </a:accent1>
      <a:accent2>
        <a:srgbClr val="93191a"/>
      </a:accent2>
      <a:accent3>
        <a:srgbClr val="79b04e"/>
      </a:accent3>
      <a:accent4>
        <a:srgbClr val="edb72e"/>
      </a:accent4>
      <a:accent5>
        <a:srgbClr val="73aed9"/>
      </a:accent5>
      <a:accent6>
        <a:srgbClr val="de8c2d"/>
      </a:accent6>
      <a:hlink>
        <a:srgbClr val="0a60a3"/>
      </a:hlink>
      <a:folHlink>
        <a:srgbClr val="73aed9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a60a3"/>
      </a:dk2>
      <a:lt2>
        <a:srgbClr val="f5f5f5"/>
      </a:lt2>
      <a:accent1>
        <a:srgbClr val="0a60a3"/>
      </a:accent1>
      <a:accent2>
        <a:srgbClr val="93191a"/>
      </a:accent2>
      <a:accent3>
        <a:srgbClr val="79b04e"/>
      </a:accent3>
      <a:accent4>
        <a:srgbClr val="edb72e"/>
      </a:accent4>
      <a:accent5>
        <a:srgbClr val="73aed9"/>
      </a:accent5>
      <a:accent6>
        <a:srgbClr val="de8c2d"/>
      </a:accent6>
      <a:hlink>
        <a:srgbClr val="0a60a3"/>
      </a:hlink>
      <a:folHlink>
        <a:srgbClr val="73aed9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control_works</Template>
  <TotalTime>1903</TotalTime>
  <Application>LibreOffice/6.0.7.3$Linux_AARCH64 LibreOffice_project/00m0$Build-3</Application>
  <Words>716</Words>
  <Paragraphs>86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2020-01-06T00:01:51Z</dcterms:created>
  <dc:creator>NB09</dc:creator>
  <dc:description/>
  <dc:language>en-US</dc:language>
  <cp:lastModifiedBy/>
  <dcterms:modified xsi:type="dcterms:W3CDTF">2020-01-31T16:14:59Z</dcterms:modified>
  <cp:revision>100</cp:revision>
  <dc:subject/>
  <dc:title>PowerPoint 프레젠테이션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화면 슬라이드 쇼(4:3)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11</vt:i4>
  </property>
</Properties>
</file>