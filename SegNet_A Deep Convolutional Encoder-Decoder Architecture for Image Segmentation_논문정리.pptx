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sldIdLst>
    <p:sldId id="256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66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66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6300192" y="3933935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5" y="1268761"/>
            <a:ext cx="3510457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7697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3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/>
        </p:nvSpPr>
        <p:spPr>
          <a:xfrm>
            <a:off x="5748345" y="5063464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6ADBC90-6130-4404-B8FE-3F165ECB9C65}" type="datetimeFigureOut">
              <a:rPr lang="ko-KR" altLang="en-US" smtClean="0"/>
              <a:t>2020-01-09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55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35496" y="9966"/>
            <a:ext cx="9108504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6315433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70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70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7" y="1268760"/>
            <a:ext cx="3510457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251520" y="548680"/>
            <a:ext cx="864096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262344" y="836712"/>
            <a:ext cx="8634791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5748345" y="5063468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1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 smtClean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 smtClean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 smtClean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 smtClean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2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7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Abstraction</a:t>
            </a:r>
          </a:p>
          <a:p>
            <a:r>
              <a:rPr lang="en-US" altLang="ko-KR" dirty="0" smtClean="0"/>
              <a:t>Introduction</a:t>
            </a:r>
          </a:p>
          <a:p>
            <a:r>
              <a:rPr lang="en-US" altLang="ko-KR" dirty="0" smtClean="0"/>
              <a:t>Related works</a:t>
            </a:r>
          </a:p>
          <a:p>
            <a:r>
              <a:rPr lang="en-US" altLang="ko-KR" dirty="0" smtClean="0"/>
              <a:t>Contribution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539552" y="3933056"/>
            <a:ext cx="5688632" cy="569219"/>
          </a:xfrm>
        </p:spPr>
        <p:txBody>
          <a:bodyPr/>
          <a:lstStyle/>
          <a:p>
            <a:r>
              <a:rPr lang="en-US" altLang="ko-KR" b="0" dirty="0"/>
              <a:t>SegNet: A Deep Convolutional</a:t>
            </a:r>
          </a:p>
          <a:p>
            <a:r>
              <a:rPr lang="en-US" altLang="ko-KR" b="0" dirty="0"/>
              <a:t>Encoder-Decoder Architecture for Image</a:t>
            </a:r>
          </a:p>
          <a:p>
            <a:r>
              <a:rPr lang="en-US" altLang="ko-KR" b="0" dirty="0"/>
              <a:t>Segmentation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899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Abstraction</a:t>
            </a:r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encoder network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decoder network, classification layer</a:t>
            </a:r>
            <a:r>
              <a:rPr lang="ko-KR" altLang="en-US" dirty="0" smtClean="0"/>
              <a:t>로 구성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encoder</a:t>
            </a:r>
            <a:r>
              <a:rPr lang="ko-KR" altLang="en-US" dirty="0" smtClean="0"/>
              <a:t>에서 사용했던 </a:t>
            </a:r>
            <a:r>
              <a:rPr lang="en-US" altLang="ko-KR" dirty="0" smtClean="0"/>
              <a:t>pooling </a:t>
            </a:r>
            <a:r>
              <a:rPr lang="en-US" altLang="ko-KR" dirty="0" err="1" smtClean="0"/>
              <a:t>indice</a:t>
            </a:r>
            <a:r>
              <a:rPr lang="ko-KR" altLang="en-US" dirty="0" smtClean="0"/>
              <a:t>를 대응하는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할 때 사용하여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에서 학습이 </a:t>
            </a:r>
            <a:r>
              <a:rPr lang="ko-KR" altLang="en-US" dirty="0" err="1" smtClean="0"/>
              <a:t>필요없어짐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그 후</a:t>
            </a:r>
            <a:r>
              <a:rPr lang="en-US" altLang="ko-KR" dirty="0" smtClean="0"/>
              <a:t>, dense prediction</a:t>
            </a:r>
            <a:r>
              <a:rPr lang="ko-KR" altLang="en-US" dirty="0" smtClean="0"/>
              <a:t>을 위해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을 통하여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을 세밀화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은 다른 모델보다 훈련시킬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가 적어 계산속도가 빠르며 메모리 측면에서도 효율적인 강점을 가짐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Abstraction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639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Background and Feature</a:t>
            </a:r>
          </a:p>
          <a:p>
            <a:pPr lvl="1">
              <a:buSzPct val="100000"/>
            </a:pPr>
            <a:r>
              <a:rPr lang="ko-KR" altLang="en-US" dirty="0" smtClean="0"/>
              <a:t>픽셀 단위 예측에서 행하는 </a:t>
            </a:r>
            <a:r>
              <a:rPr lang="en-US" altLang="ko-KR" dirty="0" smtClean="0"/>
              <a:t>sub-sampling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max pooling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feature</a:t>
            </a:r>
            <a:r>
              <a:rPr lang="ko-KR" altLang="en-US" dirty="0" smtClean="0"/>
              <a:t>를 모호하게 만들고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이를 해결하고자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고안하게 됨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길</a:t>
            </a:r>
            <a:r>
              <a:rPr lang="en-US" altLang="ko-KR" dirty="0" smtClean="0"/>
              <a:t>, </a:t>
            </a:r>
            <a:r>
              <a:rPr lang="ko-KR" altLang="en-US" dirty="0" smtClean="0"/>
              <a:t>건물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차량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보행자 등의 다양한 </a:t>
            </a:r>
            <a:r>
              <a:rPr lang="en-US" altLang="ko-KR" dirty="0" smtClean="0"/>
              <a:t>class</a:t>
            </a:r>
            <a:r>
              <a:rPr lang="ko-KR" altLang="en-US" dirty="0" smtClean="0"/>
              <a:t>를 가지는 도로 장면에서 작은 크기를 가진 객체들의 경계를 명확히 구분하는 능력이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에 요구됨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VGG16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convolutional layer</a:t>
            </a:r>
            <a:r>
              <a:rPr lang="ko-KR" altLang="en-US" dirty="0" smtClean="0"/>
              <a:t>와 위상적으로 동일</a:t>
            </a:r>
            <a:endParaRPr lang="en-US" altLang="ko-KR" dirty="0" smtClean="0"/>
          </a:p>
          <a:p>
            <a:pPr>
              <a:buSzPct val="100000"/>
            </a:pPr>
            <a:r>
              <a:rPr lang="en-US" altLang="ko-KR" dirty="0" smtClean="0"/>
              <a:t>Method</a:t>
            </a:r>
          </a:p>
          <a:p>
            <a:pPr lvl="1">
              <a:buSzPct val="100000"/>
            </a:pPr>
            <a:r>
              <a:rPr lang="ko-KR" altLang="en-US" dirty="0" smtClean="0"/>
              <a:t>본 논문은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decoding </a:t>
            </a:r>
            <a:r>
              <a:rPr lang="ko-KR" altLang="en-US" dirty="0" smtClean="0"/>
              <a:t>기법과 </a:t>
            </a:r>
            <a:r>
              <a:rPr lang="en-US" altLang="ko-KR" dirty="0" smtClean="0"/>
              <a:t>Fully Convolutional Network (FCN)</a:t>
            </a:r>
            <a:r>
              <a:rPr lang="ko-KR" altLang="en-US" dirty="0"/>
              <a:t> </a:t>
            </a:r>
            <a:r>
              <a:rPr lang="ko-KR" altLang="en-US" dirty="0" smtClean="0"/>
              <a:t>을 비교 분석하여 </a:t>
            </a:r>
            <a:r>
              <a:rPr lang="en-US" altLang="ko-KR" dirty="0" smtClean="0"/>
              <a:t>segmentation architecture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trade-off</a:t>
            </a:r>
            <a:r>
              <a:rPr lang="ko-KR" altLang="en-US" dirty="0" smtClean="0"/>
              <a:t>를 설명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본 논문에서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의 성능을 나타내기 위해 </a:t>
            </a:r>
            <a:r>
              <a:rPr lang="en-US" altLang="ko-KR" dirty="0" err="1" smtClean="0"/>
              <a:t>CamVid</a:t>
            </a:r>
            <a:r>
              <a:rPr lang="en-US" altLang="ko-KR" dirty="0" smtClean="0"/>
              <a:t> </a:t>
            </a:r>
            <a:r>
              <a:rPr lang="ko-KR" altLang="en-US" dirty="0" smtClean="0"/>
              <a:t>도로 장면과 </a:t>
            </a:r>
            <a:r>
              <a:rPr lang="en-US" altLang="ko-KR" dirty="0" smtClean="0"/>
              <a:t>SUN RGB-D </a:t>
            </a:r>
            <a:r>
              <a:rPr lang="ko-KR" altLang="en-US" dirty="0" smtClean="0"/>
              <a:t>실내 장면을 사용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1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Related works</a:t>
            </a:r>
          </a:p>
          <a:p>
            <a:pPr lvl="1">
              <a:buSzPct val="100000"/>
            </a:pPr>
            <a:r>
              <a:rPr lang="en-US" altLang="ko-KR" dirty="0" smtClean="0"/>
              <a:t>Convolutional neural network</a:t>
            </a:r>
            <a:r>
              <a:rPr lang="ko-KR" altLang="en-US" dirty="0" smtClean="0"/>
              <a:t>가 객체 분류에 성공적인 결과를 도출 함에 따라</a:t>
            </a:r>
            <a:r>
              <a:rPr lang="en-US" altLang="ko-KR" dirty="0"/>
              <a:t> </a:t>
            </a:r>
            <a:r>
              <a:rPr lang="ko-KR" altLang="en-US" dirty="0" smtClean="0"/>
              <a:t>해당 신경망들을 </a:t>
            </a:r>
            <a:r>
              <a:rPr lang="en-US" altLang="ko-KR" dirty="0" smtClean="0"/>
              <a:t>segmentation</a:t>
            </a:r>
            <a:r>
              <a:rPr lang="ko-KR" altLang="en-US" dirty="0"/>
              <a:t> </a:t>
            </a:r>
            <a:r>
              <a:rPr lang="en-US" altLang="ko-KR" dirty="0" smtClean="0"/>
              <a:t>problem</a:t>
            </a:r>
            <a:r>
              <a:rPr lang="ko-KR" altLang="en-US" dirty="0" smtClean="0"/>
              <a:t>에 적용하려는 시도가 있었지만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결과로 나온 </a:t>
            </a:r>
            <a:r>
              <a:rPr lang="en-US" altLang="ko-KR" dirty="0" smtClean="0"/>
              <a:t>segmentation</a:t>
            </a:r>
            <a:r>
              <a:rPr lang="ko-KR" altLang="en-US" dirty="0" smtClean="0"/>
              <a:t>이 객체의 경계가 아닌 블록의 경계를 가짐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upsampli</a:t>
            </a:r>
            <a:r>
              <a:rPr lang="en-US" altLang="ko-KR" dirty="0" err="1"/>
              <a:t>n</a:t>
            </a:r>
            <a:r>
              <a:rPr lang="en-US" altLang="ko-KR" dirty="0" err="1" smtClean="0"/>
              <a:t>g</a:t>
            </a:r>
            <a:r>
              <a:rPr lang="ko-KR" altLang="en-US" dirty="0" smtClean="0"/>
              <a:t>시 학습이 필요하고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신경망수가 늘어나 </a:t>
            </a:r>
            <a:r>
              <a:rPr lang="en-US" altLang="ko-KR" dirty="0" smtClean="0"/>
              <a:t>end-to-end </a:t>
            </a:r>
            <a:r>
              <a:rPr lang="ko-KR" altLang="en-US" dirty="0" smtClean="0"/>
              <a:t>학습에 시간이 다소 소요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또한 </a:t>
            </a:r>
            <a:r>
              <a:rPr lang="en-US" altLang="ko-KR" dirty="0" smtClean="0"/>
              <a:t>FCN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skip architecture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에서 도출된 </a:t>
            </a:r>
            <a:r>
              <a:rPr lang="en-US" altLang="ko-KR" dirty="0" smtClean="0"/>
              <a:t>map</a:t>
            </a:r>
            <a:r>
              <a:rPr lang="ko-KR" altLang="en-US" dirty="0" smtClean="0"/>
              <a:t>을 저장했다가 재사용하기 때문에 </a:t>
            </a:r>
            <a:r>
              <a:rPr lang="en-US" altLang="ko-KR" dirty="0" smtClean="0"/>
              <a:t>memory </a:t>
            </a:r>
            <a:r>
              <a:rPr lang="ko-KR" altLang="en-US" dirty="0" smtClean="0"/>
              <a:t>측면에서 비효율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Recurrent Neural Network (RNN)</a:t>
            </a:r>
            <a:r>
              <a:rPr lang="ko-KR" altLang="en-US" dirty="0" smtClean="0"/>
              <a:t>을 더하여 세밀한 경계를 도출한 결과가 존재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Related works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454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구조</a:t>
            </a: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en-US" altLang="ko-KR" dirty="0" smtClean="0"/>
              <a:t>Encoder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filter bank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한 후</a:t>
            </a:r>
            <a:r>
              <a:rPr lang="en-US" altLang="ko-KR" dirty="0" smtClean="0"/>
              <a:t>, batch normalization, </a:t>
            </a:r>
            <a:r>
              <a:rPr lang="en-US" altLang="ko-KR" dirty="0" err="1" smtClean="0"/>
              <a:t>ReLU</a:t>
            </a:r>
            <a:r>
              <a:rPr lang="ko-KR" altLang="en-US" dirty="0"/>
              <a:t> </a:t>
            </a:r>
            <a:r>
              <a:rPr lang="ko-KR" altLang="en-US" dirty="0" smtClean="0"/>
              <a:t>적용</a:t>
            </a:r>
            <a:r>
              <a:rPr lang="en-US" altLang="ko-KR" dirty="0" smtClean="0"/>
              <a:t>, max-pooling</a:t>
            </a:r>
            <a:r>
              <a:rPr lang="ko-KR" altLang="en-US" dirty="0" smtClean="0"/>
              <a:t>이 순차적으로 일어남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Decoder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을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한 후</a:t>
            </a:r>
            <a:r>
              <a:rPr lang="en-US" altLang="ko-KR" dirty="0" smtClean="0"/>
              <a:t>, filter bank</a:t>
            </a:r>
            <a:r>
              <a:rPr lang="ko-KR" altLang="en-US" dirty="0"/>
              <a:t> </a:t>
            </a:r>
            <a:r>
              <a:rPr lang="en-US" altLang="ko-KR" dirty="0" smtClean="0"/>
              <a:t>convolution, batch normalization</a:t>
            </a:r>
            <a:r>
              <a:rPr lang="ko-KR" altLang="en-US" dirty="0" smtClean="0"/>
              <a:t>의 과정을 거침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Decoder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filter bank</a:t>
            </a:r>
            <a:r>
              <a:rPr lang="ko-KR" altLang="en-US" dirty="0" smtClean="0"/>
              <a:t>는 훈련을 통하여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가 변경될 수 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마지막 </a:t>
            </a:r>
            <a:r>
              <a:rPr lang="en-US" altLang="ko-KR" dirty="0" smtClean="0"/>
              <a:t>decoder layer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multi-channel</a:t>
            </a:r>
            <a:r>
              <a:rPr lang="ko-KR" altLang="en-US" dirty="0" smtClean="0"/>
              <a:t>을 가진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을 도출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최종적으로 </a:t>
            </a:r>
            <a:r>
              <a:rPr lang="en-US" altLang="ko-KR" dirty="0" smtClean="0"/>
              <a:t>multi-channel feature map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soft-max </a:t>
            </a:r>
            <a:r>
              <a:rPr lang="ko-KR" altLang="en-US" dirty="0" smtClean="0"/>
              <a:t>함수를 거쳐 지정했던 </a:t>
            </a:r>
            <a:r>
              <a:rPr lang="en-US" altLang="ko-KR" dirty="0" smtClean="0"/>
              <a:t>class</a:t>
            </a:r>
            <a:r>
              <a:rPr lang="ko-KR" altLang="en-US" dirty="0" smtClean="0"/>
              <a:t>의 수만큼의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을 가진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이 결과로 나옴</a:t>
            </a: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8154726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987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과의 차이점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encoder output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으로 전달할 때</a:t>
            </a:r>
            <a:r>
              <a:rPr lang="en-US" altLang="ko-KR" dirty="0" smtClean="0"/>
              <a:t>, channel</a:t>
            </a:r>
            <a:r>
              <a:rPr lang="ko-KR" altLang="en-US" dirty="0" smtClean="0"/>
              <a:t>의 차원수를 감소시키고  </a:t>
            </a:r>
            <a:r>
              <a:rPr lang="en-US" altLang="ko-KR" dirty="0" smtClean="0"/>
              <a:t>inverse convolution(deconvolution)</a:t>
            </a:r>
            <a:r>
              <a:rPr lang="ko-KR" altLang="en-US" dirty="0" smtClean="0"/>
              <a:t>으로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을 진행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에서 기억했던 </a:t>
            </a:r>
            <a:r>
              <a:rPr lang="en-US" altLang="ko-KR" dirty="0" smtClean="0"/>
              <a:t>pooling indices</a:t>
            </a:r>
            <a:r>
              <a:rPr lang="ko-KR" altLang="en-US" dirty="0" smtClean="0"/>
              <a:t>를 이용하여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한 후</a:t>
            </a:r>
            <a:r>
              <a:rPr lang="en-US" altLang="ko-KR" dirty="0" smtClean="0"/>
              <a:t>, </a:t>
            </a:r>
            <a:r>
              <a:rPr lang="ko-KR" altLang="en-US" dirty="0" err="1"/>
              <a:t>훈련가능한</a:t>
            </a:r>
            <a:r>
              <a:rPr lang="ko-KR" altLang="en-US" dirty="0"/>
              <a:t> </a:t>
            </a:r>
            <a:r>
              <a:rPr lang="en-US" altLang="ko-KR" dirty="0"/>
              <a:t>filter bank</a:t>
            </a:r>
            <a:r>
              <a:rPr lang="ko-KR" altLang="en-US" dirty="0"/>
              <a:t>를 </a:t>
            </a:r>
            <a:r>
              <a:rPr lang="ko-KR" altLang="en-US" dirty="0" smtClean="0"/>
              <a:t>사용하</a:t>
            </a:r>
            <a:r>
              <a:rPr lang="ko-KR" altLang="en-US" dirty="0"/>
              <a:t>여</a:t>
            </a:r>
            <a:r>
              <a:rPr lang="ko-KR" altLang="en-US" dirty="0" smtClean="0"/>
              <a:t>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하여 </a:t>
            </a:r>
            <a:r>
              <a:rPr lang="en-US" altLang="ko-KR" dirty="0" smtClean="0"/>
              <a:t>densifying</a:t>
            </a: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Contributions(II)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140968"/>
            <a:ext cx="6558034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Decoder </a:t>
            </a:r>
            <a:r>
              <a:rPr lang="ko-KR" altLang="en-US" dirty="0" smtClean="0"/>
              <a:t>변화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본 논문에서는 </a:t>
            </a:r>
            <a:r>
              <a:rPr lang="en-US" altLang="ko-KR" dirty="0" smtClean="0"/>
              <a:t>FCN</a:t>
            </a:r>
            <a:r>
              <a:rPr lang="ko-KR" altLang="en-US" dirty="0" smtClean="0"/>
              <a:t>과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decoder technique</a:t>
            </a:r>
            <a:r>
              <a:rPr lang="ko-KR" altLang="en-US" dirty="0" smtClean="0"/>
              <a:t>을 변화시켜 성능을 비교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</a:t>
            </a:r>
          </a:p>
          <a:p>
            <a:pPr lvl="2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의 소형화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7x7 kernel, 4 encoder, 4 decoder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Encoder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내의 기능들은 앞서 언급된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과 동일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-Basic-</a:t>
            </a:r>
            <a:r>
              <a:rPr lang="en-US" altLang="ko-KR" dirty="0" err="1" smtClean="0"/>
              <a:t>SingleChannelDecoder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Decoder filter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훈련시킬</a:t>
            </a:r>
            <a:r>
              <a:rPr lang="en-US" altLang="ko-KR" dirty="0"/>
              <a:t>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수가 줄어드는 장점일 지님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-Basic-</a:t>
            </a:r>
            <a:r>
              <a:rPr lang="en-US" altLang="ko-KR" dirty="0" err="1" smtClean="0"/>
              <a:t>EncoderAddition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Encoder</a:t>
            </a:r>
            <a:r>
              <a:rPr lang="ko-KR" altLang="en-US" dirty="0" smtClean="0"/>
              <a:t>의 각 층마다 </a:t>
            </a:r>
            <a:r>
              <a:rPr lang="en-US" altLang="ko-KR" dirty="0" smtClean="0"/>
              <a:t>64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을 대응하는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층에 더함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Decoder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하고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이 진행된 후에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과 결합되는 형태</a:t>
            </a:r>
            <a:endParaRPr lang="en-US" altLang="ko-KR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Contributions(III)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746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r>
              <a:rPr lang="en-US" altLang="ko-KR" dirty="0" smtClean="0"/>
              <a:t>FCN-Basic</a:t>
            </a:r>
          </a:p>
          <a:p>
            <a:pPr lvl="2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</a:t>
            </a:r>
            <a:r>
              <a:rPr lang="ko-KR" altLang="en-US" dirty="0" smtClean="0"/>
              <a:t>과 대응되도록 </a:t>
            </a:r>
            <a:r>
              <a:rPr lang="en-US" altLang="ko-KR" dirty="0" smtClean="0"/>
              <a:t>FCN-Basic</a:t>
            </a:r>
            <a:r>
              <a:rPr lang="ko-KR" altLang="en-US" dirty="0" smtClean="0"/>
              <a:t>을 설계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와 변함이 없음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FCN-Basic-</a:t>
            </a:r>
            <a:r>
              <a:rPr lang="en-US" altLang="ko-KR" dirty="0" err="1" smtClean="0"/>
              <a:t>NoAddtion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Skip structure</a:t>
            </a:r>
            <a:r>
              <a:rPr lang="ko-KR" altLang="en-US" dirty="0" smtClean="0"/>
              <a:t>를 사용하지 않고 </a:t>
            </a:r>
            <a:r>
              <a:rPr lang="en-US" altLang="ko-KR" dirty="0" err="1" smtClean="0"/>
              <a:t>upsampling</a:t>
            </a:r>
            <a:r>
              <a:rPr lang="en-US" altLang="ko-KR" dirty="0" smtClean="0"/>
              <a:t> kernel</a:t>
            </a:r>
            <a:r>
              <a:rPr lang="ko-KR" altLang="en-US" dirty="0" smtClean="0"/>
              <a:t>만 훈련시키며 </a:t>
            </a:r>
            <a:r>
              <a:rPr lang="en-US" altLang="ko-KR" dirty="0" smtClean="0"/>
              <a:t>decoding</a:t>
            </a:r>
          </a:p>
          <a:p>
            <a:pPr lvl="1">
              <a:buSzPct val="100000"/>
            </a:pPr>
            <a:r>
              <a:rPr lang="en-US" altLang="ko-KR" dirty="0" smtClean="0"/>
              <a:t>FCN-Basic-</a:t>
            </a:r>
            <a:r>
              <a:rPr lang="en-US" altLang="ko-KR" dirty="0" err="1" smtClean="0"/>
              <a:t>NoDimReduction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일반적 </a:t>
            </a:r>
            <a:r>
              <a:rPr lang="en-US" altLang="ko-KR" dirty="0" smtClean="0"/>
              <a:t>FCN : </a:t>
            </a:r>
            <a:r>
              <a:rPr lang="ko-KR" altLang="en-US" dirty="0" smtClean="0"/>
              <a:t>마지막 </a:t>
            </a:r>
            <a:r>
              <a:rPr lang="en-US" altLang="ko-KR" dirty="0" smtClean="0"/>
              <a:t>encoder layer output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수를 줄임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본 </a:t>
            </a:r>
            <a:r>
              <a:rPr lang="en-US" altLang="ko-KR" dirty="0" smtClean="0"/>
              <a:t>decoder technique</a:t>
            </a:r>
            <a:r>
              <a:rPr lang="ko-KR" altLang="en-US" dirty="0" smtClean="0"/>
              <a:t>는 마지막 </a:t>
            </a:r>
            <a:r>
              <a:rPr lang="en-US" altLang="ko-KR" dirty="0" smtClean="0"/>
              <a:t>encoder feature map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수를 줄이지 않아 </a:t>
            </a:r>
            <a:r>
              <a:rPr lang="en-US" altLang="ko-KR" dirty="0" err="1" smtClean="0"/>
              <a:t>endcoder</a:t>
            </a:r>
            <a:r>
              <a:rPr lang="ko-KR" altLang="en-US" dirty="0" smtClean="0"/>
              <a:t>와 대응되는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수가 같음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Bilinear-Interpolation</a:t>
            </a:r>
          </a:p>
          <a:p>
            <a:pPr lvl="2">
              <a:buSzPct val="100000"/>
            </a:pPr>
            <a:r>
              <a:rPr lang="en-US" altLang="ko-KR" dirty="0" smtClean="0"/>
              <a:t>fixed-parameter</a:t>
            </a:r>
            <a:r>
              <a:rPr lang="ko-KR" altLang="en-US" dirty="0" smtClean="0"/>
              <a:t>를 가진 </a:t>
            </a:r>
            <a:r>
              <a:rPr lang="ko-KR" altLang="en-US" dirty="0" err="1" smtClean="0"/>
              <a:t>선형보간법을</a:t>
            </a:r>
            <a:r>
              <a:rPr lang="ko-KR" altLang="en-US" dirty="0" smtClean="0"/>
              <a:t> 이용하여 </a:t>
            </a:r>
            <a:r>
              <a:rPr lang="en-US" altLang="ko-KR" dirty="0" err="1" smtClean="0"/>
              <a:t>upsampling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err="1" smtClean="0"/>
              <a:t>Upsampling</a:t>
            </a:r>
            <a:r>
              <a:rPr lang="ko-KR" altLang="en-US" dirty="0" smtClean="0"/>
              <a:t>의 학습이 존재하지 않음</a:t>
            </a: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Contributions(IV)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311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Contributions(IV)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179513" y="736601"/>
            <a:ext cx="8482356" cy="53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 marL="342900" indent="-342900" algn="l" defTabSz="455613" rtl="0" eaLnBrk="1" fontAlgn="base" latinLnBrk="1" hangingPunct="1">
              <a:lnSpc>
                <a:spcPct val="150000"/>
              </a:lnSpc>
              <a:spcBef>
                <a:spcPts val="575"/>
              </a:spcBef>
              <a:spcAft>
                <a:spcPct val="0"/>
              </a:spcAft>
              <a:buClr>
                <a:srgbClr val="000AF2"/>
              </a:buClr>
              <a:buSzPct val="70000"/>
              <a:buFont typeface="맑은 고딕" pitchFamily="50" charset="-127"/>
              <a:buChar char="■"/>
              <a:defRPr lang="ko-KR" altLang="en-US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1350" indent="-185738" algn="l" defTabSz="455613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70000"/>
              <a:buFont typeface="맑은 고딕" pitchFamily="50" charset="-127"/>
              <a:buChar char="▶"/>
              <a:defRPr lang="ko-KR" altLang="en-US" sz="1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455613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70000"/>
              <a:buFont typeface="Wingdings" pitchFamily="2" charset="2"/>
              <a:buChar char="l"/>
              <a:defRPr lang="ko-KR" altLang="en-US" sz="1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8613" indent="-227013" algn="l" defTabSz="455613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70000"/>
              <a:buFont typeface="Wingdings" pitchFamily="2" charset="2"/>
              <a:buChar char="Ø"/>
              <a:defRPr lang="ko-KR" altLang="en-US" sz="11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7213" algn="l" defTabSz="455613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70000"/>
              <a:buFont typeface="Arial" pitchFamily="34" charset="0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459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3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7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1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altLang="ko-KR" dirty="0" smtClean="0"/>
              <a:t>Decoder </a:t>
            </a:r>
            <a:r>
              <a:rPr lang="ko-KR" altLang="en-US" dirty="0" smtClean="0"/>
              <a:t>변화 결과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G : Global accuracy – </a:t>
            </a:r>
            <a:r>
              <a:rPr lang="ko-KR" altLang="en-US" dirty="0" smtClean="0"/>
              <a:t>올바르게 분류된 픽셀 비율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C : Class accuracy – </a:t>
            </a:r>
            <a:r>
              <a:rPr lang="ko-KR" altLang="en-US" dirty="0" smtClean="0"/>
              <a:t>각 </a:t>
            </a:r>
            <a:r>
              <a:rPr lang="en-US" altLang="ko-KR" dirty="0" smtClean="0"/>
              <a:t>class</a:t>
            </a:r>
            <a:r>
              <a:rPr lang="ko-KR" altLang="en-US" dirty="0" smtClean="0"/>
              <a:t>의 예측 정확도의 평균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mIoU</a:t>
            </a:r>
            <a:r>
              <a:rPr lang="en-US" altLang="ko-KR" dirty="0" smtClean="0"/>
              <a:t> : Mean of intersection over union</a:t>
            </a:r>
          </a:p>
          <a:p>
            <a:pPr lvl="1">
              <a:buSzPct val="100000"/>
            </a:pPr>
            <a:r>
              <a:rPr lang="en-US" altLang="ko-KR" dirty="0" smtClean="0"/>
              <a:t>BF : Semantic contour measure using F1 - score</a:t>
            </a:r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 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FCN-Basic</a:t>
            </a:r>
          </a:p>
          <a:p>
            <a:pPr lvl="2">
              <a:buSzPct val="100000"/>
            </a:pPr>
            <a:r>
              <a:rPr lang="ko-KR" altLang="en-US" dirty="0" smtClean="0"/>
              <a:t>성능은 비슷한 수준이지만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수에서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이 훨씬 적은 결과가 도출되었고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memory</a:t>
            </a:r>
            <a:r>
              <a:rPr lang="ko-KR" altLang="en-US" dirty="0" smtClean="0"/>
              <a:t>측면에서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의 효율이 높음</a:t>
            </a:r>
            <a:endParaRPr lang="en-US" altLang="ko-KR" dirty="0" smtClean="0"/>
          </a:p>
          <a:p>
            <a:pPr lvl="2">
              <a:buSzPct val="100000"/>
            </a:pPr>
            <a:endParaRPr lang="ko-KR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3" y="1268760"/>
            <a:ext cx="9111991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093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Contributions(V)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</a:t>
            </a:r>
            <a:r>
              <a:rPr lang="ko-KR" altLang="en-US" dirty="0"/>
              <a:t> </a:t>
            </a:r>
            <a:r>
              <a:rPr lang="en-US" altLang="ko-KR" dirty="0" smtClean="0"/>
              <a:t>&amp;</a:t>
            </a:r>
            <a:r>
              <a:rPr lang="ko-KR" altLang="en-US" dirty="0" smtClean="0"/>
              <a:t> </a:t>
            </a:r>
            <a:r>
              <a:rPr lang="en-US" altLang="ko-KR" dirty="0"/>
              <a:t>FCN-Basic</a:t>
            </a:r>
          </a:p>
          <a:p>
            <a:pPr lvl="2">
              <a:buSzPct val="100000"/>
            </a:pPr>
            <a:r>
              <a:rPr lang="ko-KR" altLang="en-US" dirty="0"/>
              <a:t>성능은 비슷한 수준이지만 </a:t>
            </a:r>
            <a:r>
              <a:rPr lang="en-US" altLang="ko-KR" dirty="0"/>
              <a:t>parameter</a:t>
            </a:r>
            <a:r>
              <a:rPr lang="ko-KR" altLang="en-US" dirty="0"/>
              <a:t>수에서 </a:t>
            </a:r>
            <a:r>
              <a:rPr lang="en-US" altLang="ko-KR" dirty="0" err="1"/>
              <a:t>SegNet</a:t>
            </a:r>
            <a:r>
              <a:rPr lang="ko-KR" altLang="en-US" dirty="0"/>
              <a:t>이 훨씬 적은 결과가 도출되었고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memory</a:t>
            </a:r>
            <a:r>
              <a:rPr lang="ko-KR" altLang="en-US" dirty="0"/>
              <a:t>측면에서 </a:t>
            </a:r>
            <a:r>
              <a:rPr lang="en-US" altLang="ko-KR" dirty="0" err="1"/>
              <a:t>SegNet</a:t>
            </a:r>
            <a:r>
              <a:rPr lang="ko-KR" altLang="en-US" dirty="0"/>
              <a:t>의 효율이 </a:t>
            </a:r>
            <a:r>
              <a:rPr lang="ko-KR" altLang="en-US" dirty="0" smtClean="0"/>
              <a:t>높음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64</a:t>
            </a:r>
            <a:r>
              <a:rPr lang="ko-KR" altLang="en-US" dirty="0" smtClean="0"/>
              <a:t>개이고 </a:t>
            </a:r>
            <a:r>
              <a:rPr lang="en-US" altLang="ko-KR" dirty="0" smtClean="0"/>
              <a:t>FCN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dimensionality Reduction</a:t>
            </a:r>
            <a:r>
              <a:rPr lang="ko-KR" altLang="en-US" dirty="0" smtClean="0"/>
              <a:t>을 사용하여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의 수가 적음</a:t>
            </a:r>
            <a:endParaRPr lang="en-US" altLang="ko-KR" dirty="0"/>
          </a:p>
          <a:p>
            <a:pPr lvl="2">
              <a:buSzPct val="100000"/>
            </a:pPr>
            <a:r>
              <a:rPr lang="ko-KR" altLang="en-US" dirty="0" smtClean="0"/>
              <a:t>그에 따라 </a:t>
            </a:r>
            <a:r>
              <a:rPr lang="en-US" altLang="ko-KR" dirty="0" smtClean="0"/>
              <a:t>FCN-Basic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forward pass</a:t>
            </a:r>
            <a:r>
              <a:rPr lang="ko-KR" altLang="en-US" dirty="0" smtClean="0"/>
              <a:t>인 </a:t>
            </a:r>
            <a:r>
              <a:rPr lang="en-US" altLang="ko-KR" dirty="0" smtClean="0"/>
              <a:t>inference</a:t>
            </a:r>
            <a:r>
              <a:rPr lang="ko-KR" altLang="en-US" dirty="0" smtClean="0"/>
              <a:t>에서 속도가 더 빠름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다른 관점으로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decoder network</a:t>
            </a:r>
            <a:r>
              <a:rPr lang="ko-KR" altLang="en-US" dirty="0" smtClean="0"/>
              <a:t>가 더 크기 때문에 </a:t>
            </a:r>
            <a:r>
              <a:rPr lang="en-US" altLang="ko-KR" dirty="0" smtClean="0"/>
              <a:t>FCN-Basic</a:t>
            </a:r>
            <a:r>
              <a:rPr lang="ko-KR" altLang="en-US" dirty="0" smtClean="0"/>
              <a:t>보다 더 정확한 결과를 얻을  수 있음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 &amp; FCN-Basic-</a:t>
            </a:r>
            <a:r>
              <a:rPr lang="en-US" altLang="ko-KR" dirty="0" err="1" smtClean="0"/>
              <a:t>NoAddition</a:t>
            </a:r>
            <a:r>
              <a:rPr lang="en-US" altLang="ko-KR" dirty="0" smtClean="0"/>
              <a:t>-</a:t>
            </a:r>
            <a:r>
              <a:rPr lang="en-US" altLang="ko-KR" dirty="0" err="1" smtClean="0"/>
              <a:t>NoDimReduction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Decoder </a:t>
            </a:r>
            <a:r>
              <a:rPr lang="ko-KR" altLang="en-US" dirty="0" smtClean="0"/>
              <a:t>크기가 후자가 전자보다 더 크지만 같은 </a:t>
            </a:r>
            <a:r>
              <a:rPr lang="ko-KR" altLang="en-US" dirty="0" err="1" smtClean="0"/>
              <a:t>에폭에서</a:t>
            </a:r>
            <a:r>
              <a:rPr lang="ko-KR" altLang="en-US" dirty="0" smtClean="0"/>
              <a:t> 전자의 정확도가 더 높음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결론적으로</a:t>
            </a:r>
            <a:r>
              <a:rPr lang="en-US" altLang="ko-KR" dirty="0" smtClean="0"/>
              <a:t>,</a:t>
            </a:r>
            <a:r>
              <a:rPr lang="ko-KR" altLang="en-US" dirty="0" smtClean="0"/>
              <a:t> 더 큰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가 항상 높은 정확도에 기여하는 것이 아니라</a:t>
            </a:r>
            <a:r>
              <a:rPr lang="en-US" altLang="ko-KR" dirty="0"/>
              <a:t>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의 결과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이 올바르게 추출되는 것도 중요함</a:t>
            </a:r>
            <a:r>
              <a:rPr lang="en-US" altLang="ko-KR" dirty="0" smtClean="0"/>
              <a:t>.</a:t>
            </a:r>
          </a:p>
          <a:p>
            <a:pPr lvl="2">
              <a:buSzPct val="100000"/>
            </a:pPr>
            <a:r>
              <a:rPr lang="ko-KR" altLang="en-US" dirty="0" smtClean="0"/>
              <a:t>이는 </a:t>
            </a:r>
            <a:r>
              <a:rPr lang="en-US" altLang="ko-KR" dirty="0" smtClean="0"/>
              <a:t>FCN-Basic-</a:t>
            </a:r>
            <a:r>
              <a:rPr lang="en-US" altLang="ko-KR" dirty="0" err="1" smtClean="0"/>
              <a:t>NoAddition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FCN-Basic</a:t>
            </a:r>
            <a:r>
              <a:rPr lang="ko-KR" altLang="en-US" dirty="0" smtClean="0"/>
              <a:t>을 비교했을 때</a:t>
            </a:r>
            <a:r>
              <a:rPr lang="en-US" altLang="ko-KR" dirty="0" smtClean="0"/>
              <a:t>, FCN-Basic</a:t>
            </a:r>
            <a:r>
              <a:rPr lang="ko-KR" altLang="en-US" dirty="0" smtClean="0"/>
              <a:t>의 정확도가 더 좋은 결과의 원인에도 해당함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2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3101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Contributions(V)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r>
              <a:rPr lang="en-US" altLang="ko-KR" dirty="0" smtClean="0"/>
              <a:t>Class balancing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Median frequency balancing</a:t>
            </a:r>
            <a:r>
              <a:rPr lang="ko-KR" altLang="en-US" dirty="0" smtClean="0"/>
              <a:t>으로 </a:t>
            </a:r>
            <a:r>
              <a:rPr lang="en-US" altLang="ko-KR" dirty="0" smtClean="0"/>
              <a:t>class balancing</a:t>
            </a:r>
            <a:r>
              <a:rPr lang="ko-KR" altLang="en-US" dirty="0" smtClean="0"/>
              <a:t>한 결과보다 </a:t>
            </a:r>
            <a:r>
              <a:rPr lang="en-US" altLang="ko-KR" dirty="0" smtClean="0"/>
              <a:t>balancing</a:t>
            </a:r>
            <a:r>
              <a:rPr lang="ko-KR" altLang="en-US" dirty="0" smtClean="0"/>
              <a:t>하지 않은</a:t>
            </a:r>
            <a:r>
              <a:rPr lang="en-US" altLang="ko-KR" dirty="0"/>
              <a:t> </a:t>
            </a:r>
            <a:r>
              <a:rPr lang="en-US" altLang="ko-KR" dirty="0" smtClean="0"/>
              <a:t>(Natural frequency balancing) </a:t>
            </a:r>
            <a:r>
              <a:rPr lang="ko-KR" altLang="en-US" dirty="0" smtClean="0"/>
              <a:t>결과가 현저히 낮음을 보임 </a:t>
            </a:r>
            <a:r>
              <a:rPr lang="en-US" altLang="ko-KR" dirty="0" smtClean="0"/>
              <a:t>(Global accuracy </a:t>
            </a:r>
            <a:r>
              <a:rPr lang="ko-KR" altLang="en-US" dirty="0" smtClean="0"/>
              <a:t>제외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2">
              <a:buSzPct val="100000"/>
            </a:pPr>
            <a:r>
              <a:rPr lang="en-US" altLang="ko-KR" dirty="0" smtClean="0"/>
              <a:t>natural frequency </a:t>
            </a:r>
            <a:r>
              <a:rPr lang="en-US" altLang="ko-KR" dirty="0" smtClean="0"/>
              <a:t>balancing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global accuracy</a:t>
            </a:r>
            <a:r>
              <a:rPr lang="ko-KR" altLang="en-US" dirty="0" smtClean="0"/>
              <a:t>가 높은 이유는 도로 이미지에서 하늘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도로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건물과 같은 크기가 큰 물체의 픽셀이 대부분을 차지하고 </a:t>
            </a:r>
            <a:r>
              <a:rPr lang="ko-KR" altLang="en-US" smtClean="0"/>
              <a:t>있기때문</a:t>
            </a:r>
            <a:endParaRPr lang="en-US" altLang="ko-KR" dirty="0" smtClean="0"/>
          </a:p>
          <a:p>
            <a:pPr lvl="2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0597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ontrol_works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1843</TotalTime>
  <Words>790</Words>
  <Application>Microsoft Office PowerPoint</Application>
  <PresentationFormat>화면 슬라이드 쇼(4:3)</PresentationFormat>
  <Paragraphs>95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control_works</vt:lpstr>
      <vt:lpstr>2_CWI Black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NB09</dc:creator>
  <cp:lastModifiedBy>NB09</cp:lastModifiedBy>
  <cp:revision>44</cp:revision>
  <dcterms:created xsi:type="dcterms:W3CDTF">2020-01-06T00:01:51Z</dcterms:created>
  <dcterms:modified xsi:type="dcterms:W3CDTF">2020-01-09T07:35:47Z</dcterms:modified>
</cp:coreProperties>
</file>