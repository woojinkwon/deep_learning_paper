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0" r:id="rId2"/>
  </p:sldMasterIdLst>
  <p:sldIdLst>
    <p:sldId id="256" r:id="rId3"/>
    <p:sldId id="261" r:id="rId4"/>
    <p:sldId id="262" r:id="rId5"/>
    <p:sldId id="263" r:id="rId6"/>
    <p:sldId id="264" r:id="rId7"/>
    <p:sldId id="265" r:id="rId8"/>
    <p:sldId id="266" r:id="rId9"/>
    <p:sldId id="267" r:id="rId10"/>
    <p:sldId id="268" r:id="rId11"/>
    <p:sldId id="269" r:id="rId1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86" d="100"/>
          <a:sy n="86" d="100"/>
        </p:scale>
        <p:origin x="-149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2" Type="http://schemas.openxmlformats.org/officeDocument/2006/relationships/slideMaster" Target="slideMasters/slideMaster2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5" Type="http://schemas.openxmlformats.org/officeDocument/2006/relationships/slide" Target="slides/slide3.xml"/><Relationship Id="rId15" Type="http://schemas.openxmlformats.org/officeDocument/2006/relationships/theme" Target="theme/theme1.xml"/><Relationship Id="rId10" Type="http://schemas.openxmlformats.org/officeDocument/2006/relationships/slide" Target="slides/slide8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Main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66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1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66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rgbClr val="000099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cxnSp>
        <p:nvCxnSpPr>
          <p:cNvPr id="12" name="직선 연결선 11"/>
          <p:cNvCxnSpPr/>
          <p:nvPr/>
        </p:nvCxnSpPr>
        <p:spPr>
          <a:xfrm>
            <a:off x="6300192" y="3933935"/>
            <a:ext cx="0" cy="2303379"/>
          </a:xfrm>
          <a:prstGeom prst="line">
            <a:avLst/>
          </a:prstGeom>
          <a:ln w="15875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C:\Users\2003201\Downloads\Work\CW\logo png\symbol+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5" y="1268761"/>
            <a:ext cx="3510457" cy="5845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34191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29734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3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tx2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281957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111409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257697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/>
            </a:lvl1pPr>
            <a:lvl2pPr>
              <a:defRPr lang="ko-KR" altLang="en-US" dirty="0" smtClean="0"/>
            </a:lvl2pPr>
            <a:lvl3pPr>
              <a:defRPr lang="ko-KR" altLang="en-US" dirty="0" smtClean="0"/>
            </a:lvl3pPr>
            <a:lvl4pPr>
              <a:defRPr lang="ko-KR" altLang="en-US" dirty="0" smtClean="0"/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3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/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2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rgbClr val="000CF2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109663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6161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6" name="Shape 135"/>
          <p:cNvSpPr txBox="1"/>
          <p:nvPr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rgbClr val="0000FF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/>
        </p:nvSpPr>
        <p:spPr>
          <a:xfrm>
            <a:off x="5748345" y="5063464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/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rgbClr val="0000FF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/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60630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/>
        </p:nvSpPr>
        <p:spPr>
          <a:xfrm>
            <a:off x="1263650" y="2714630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rgbClr val="333399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/>
          </a:p>
        </p:txBody>
      </p:sp>
      <p:pic>
        <p:nvPicPr>
          <p:cNvPr id="5" name="Shape 134" descr="줄.jp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2062163" y="3581400"/>
            <a:ext cx="5867400" cy="85726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3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718643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fld id="{76ADBC90-6130-4404-B8FE-3F165ECB9C65}" type="datetimeFigureOut">
              <a:rPr lang="ko-KR" altLang="en-US" smtClean="0"/>
              <a:t>2020-01-08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70557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/>
          <p:cNvSpPr/>
          <p:nvPr userDrawn="1"/>
        </p:nvSpPr>
        <p:spPr>
          <a:xfrm>
            <a:off x="35496" y="9966"/>
            <a:ext cx="9108504" cy="6832288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8" name="직선 연결선 27"/>
          <p:cNvCxnSpPr/>
          <p:nvPr userDrawn="1"/>
        </p:nvCxnSpPr>
        <p:spPr>
          <a:xfrm>
            <a:off x="6315433" y="3933056"/>
            <a:ext cx="0" cy="2160242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텍스트 개체 틀 13"/>
          <p:cNvSpPr>
            <a:spLocks noGrp="1"/>
          </p:cNvSpPr>
          <p:nvPr>
            <p:ph type="body" sz="quarter" idx="11" hasCustomPrompt="1"/>
          </p:nvPr>
        </p:nvSpPr>
        <p:spPr>
          <a:xfrm>
            <a:off x="6395586" y="4005070"/>
            <a:ext cx="2640910" cy="2189699"/>
          </a:xfrm>
        </p:spPr>
        <p:txBody>
          <a:bodyPr/>
          <a:lstStyle>
            <a:lvl1pPr marL="0" indent="0">
              <a:buNone/>
              <a:defRPr lang="ko-KR" altLang="en-US" sz="1800" b="0" kern="1200" dirty="0" smtClean="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1pPr>
            <a:lvl2pPr marL="455612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2pPr>
            <a:lvl3pPr marL="9144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3pPr>
            <a:lvl4pPr marL="1371600" indent="0">
              <a:buNone/>
              <a:defRPr lang="ko-KR" altLang="en-US" sz="1100" kern="1200" dirty="0" smtClean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4pPr>
            <a:lvl5pPr>
              <a:defRPr lang="ko-KR" altLang="en-US" sz="1100" kern="1200" dirty="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  <a:cs typeface="+mn-cs"/>
              </a:defRPr>
            </a:lvl5pPr>
          </a:lstStyle>
          <a:p>
            <a:pPr lvl="0"/>
            <a:r>
              <a:rPr lang="ko-KR" altLang="en-US" dirty="0" smtClean="0"/>
              <a:t>목차 </a:t>
            </a:r>
            <a:r>
              <a:rPr lang="en-US" altLang="ko-KR" dirty="0" smtClean="0"/>
              <a:t>1</a:t>
            </a:r>
            <a:endParaRPr lang="ko-KR" altLang="en-US" dirty="0" smtClean="0"/>
          </a:p>
        </p:txBody>
      </p:sp>
      <p:sp>
        <p:nvSpPr>
          <p:cNvPr id="13" name="텍스트 개체 틀 11"/>
          <p:cNvSpPr>
            <a:spLocks noGrp="1"/>
          </p:cNvSpPr>
          <p:nvPr>
            <p:ph type="body" sz="quarter" idx="10" hasCustomPrompt="1"/>
          </p:nvPr>
        </p:nvSpPr>
        <p:spPr>
          <a:xfrm>
            <a:off x="539552" y="3963970"/>
            <a:ext cx="5688632" cy="569219"/>
          </a:xfrm>
        </p:spPr>
        <p:txBody>
          <a:bodyPr/>
          <a:lstStyle>
            <a:lvl1pPr marL="0" indent="0" algn="r">
              <a:buNone/>
              <a:defRPr lang="ko-KR" altLang="en-US" sz="2000" b="1" kern="1200" dirty="0" smtClean="0">
                <a:solidFill>
                  <a:schemeClr val="bg1"/>
                </a:solidFill>
                <a:latin typeface="HY헤드라인M" panose="02030600000101010101" pitchFamily="18" charset="-127"/>
                <a:ea typeface="HY헤드라인M" panose="02030600000101010101" pitchFamily="18" charset="-127"/>
                <a:cs typeface="+mn-cs"/>
              </a:defRPr>
            </a:lvl1pPr>
          </a:lstStyle>
          <a:p>
            <a:pPr lvl="0"/>
            <a:r>
              <a:rPr lang="ko-KR" altLang="en-US" dirty="0" smtClean="0"/>
              <a:t>제목 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15" name="직사각형 14"/>
          <p:cNvSpPr/>
          <p:nvPr userDrawn="1"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 userDrawn="1"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Shape 22"/>
          <p:cNvSpPr txBox="1"/>
          <p:nvPr userDrawn="1"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  <p:pic>
        <p:nvPicPr>
          <p:cNvPr id="2050" name="Picture 2" descr="C:\Users\2003201\Downloads\Work\CW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2197" y="1268760"/>
            <a:ext cx="3510457" cy="5874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3679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4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pic>
        <p:nvPicPr>
          <p:cNvPr id="7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32121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Sub title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/>
          <p:cNvSpPr>
            <a:spLocks noGrp="1"/>
          </p:cNvSpPr>
          <p:nvPr>
            <p:ph type="ctrTitle"/>
          </p:nvPr>
        </p:nvSpPr>
        <p:spPr>
          <a:xfrm>
            <a:off x="0" y="2772237"/>
            <a:ext cx="9144000" cy="864961"/>
          </a:xfrm>
        </p:spPr>
        <p:txBody>
          <a:bodyPr anchor="ctr"/>
          <a:lstStyle>
            <a:lvl1pPr algn="ctr">
              <a:lnSpc>
                <a:spcPts val="4498"/>
              </a:lnSpc>
              <a:defRPr sz="4500" spc="-15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cxnSp>
        <p:nvCxnSpPr>
          <p:cNvPr id="7" name="직선 연결선 6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sp>
        <p:nvSpPr>
          <p:cNvPr id="10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415430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2"/>
          <p:cNvSpPr>
            <a:spLocks noGrp="1"/>
          </p:cNvSpPr>
          <p:nvPr>
            <p:ph sz="half" idx="10"/>
          </p:nvPr>
        </p:nvSpPr>
        <p:spPr>
          <a:xfrm>
            <a:off x="179513" y="736601"/>
            <a:ext cx="8482356" cy="5387542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5" name="TextBox 4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1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sp>
        <p:nvSpPr>
          <p:cNvPr id="11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marL="0" algn="ctr" defTabSz="914400" rtl="0" eaLnBrk="1" latinLnBrk="1" hangingPunct="1">
              <a:defRPr sz="1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31386F3-A587-4026-92F9-58CD840FC4C1}" type="slidenum">
              <a:rPr lang="ko-KR" altLang="en-US" sz="10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ko-KR" altLang="en-US" sz="1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258463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Title &amp; contents &amp;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 userDrawn="1"/>
        </p:nvSpPr>
        <p:spPr>
          <a:xfrm>
            <a:off x="0" y="6491423"/>
            <a:ext cx="9144000" cy="377692"/>
          </a:xfrm>
          <a:prstGeom prst="rect">
            <a:avLst/>
          </a:prstGeom>
        </p:spPr>
        <p:txBody>
          <a:bodyPr lIns="91435" tIns="45717" rIns="91435" bIns="45717" anchor="ctr"/>
          <a:lstStyle>
            <a:lvl1pPr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1pPr>
            <a:lvl2pPr marL="742950" indent="-28575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2pPr>
            <a:lvl3pPr marL="11430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3pPr>
            <a:lvl4pPr marL="16002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4pPr>
            <a:lvl5pPr marL="2057400" indent="-228600"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5pPr>
            <a:lvl6pPr marL="25146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6pPr>
            <a:lvl7pPr marL="29718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7pPr>
            <a:lvl8pPr marL="34290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8pPr>
            <a:lvl9pPr marL="3886200" indent="-228600" defTabSz="455613" fontAlgn="base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Univers Com 45 Light"/>
                <a:ea typeface="맑은 고딕" pitchFamily="50" charset="-127"/>
              </a:defRPr>
            </a:lvl9pPr>
          </a:lstStyle>
          <a:p>
            <a:pPr algn="ctr" latinLnBrk="0"/>
            <a:fld id="{F47D902D-36B8-44A0-ACE6-30B2D1D590DA}" type="slidenum">
              <a:rPr kumimoji="0" lang="en-US" altLang="ko-KR" sz="1200" b="0">
                <a:solidFill>
                  <a:srgbClr val="000099"/>
                </a:solidFill>
                <a:latin typeface="Arial" panose="020B0604020202020204" pitchFamily="34" charset="0"/>
                <a:ea typeface="Univers LT Std 45 Light"/>
                <a:cs typeface="Arial" panose="020B0604020202020204" pitchFamily="34" charset="0"/>
              </a:rPr>
              <a:pPr algn="ctr" latinLnBrk="0"/>
              <a:t>‹#›</a:t>
            </a:fld>
            <a:endParaRPr kumimoji="0" lang="en-US" altLang="ko-KR" sz="1200" b="0" dirty="0">
              <a:solidFill>
                <a:srgbClr val="000099"/>
              </a:solidFill>
              <a:latin typeface="Arial" panose="020B0604020202020204" pitchFamily="34" charset="0"/>
              <a:ea typeface="Univers LT Std 45 Light"/>
              <a:cs typeface="Arial" panose="020B0604020202020204" pitchFamily="34" charset="0"/>
            </a:endParaRPr>
          </a:p>
        </p:txBody>
      </p:sp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7" name="직사각형 6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noFill/>
          <a:ln w="19050">
            <a:solidFill>
              <a:srgbClr val="00009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>
              <a:defRPr lang="ko-KR" altLang="en-US" sz="2000" dirty="0" smtClean="0">
                <a:solidFill>
                  <a:schemeClr val="bg1"/>
                </a:solidFill>
              </a:defRPr>
            </a:lvl1pPr>
            <a:lvl2pPr>
              <a:defRPr lang="ko-KR" altLang="en-US" dirty="0" smtClean="0">
                <a:solidFill>
                  <a:schemeClr val="bg1"/>
                </a:solidFill>
              </a:defRPr>
            </a:lvl2pPr>
            <a:lvl3pPr>
              <a:defRPr lang="ko-KR" altLang="en-US" dirty="0" smtClean="0">
                <a:solidFill>
                  <a:schemeClr val="bg1"/>
                </a:solidFill>
              </a:defRPr>
            </a:lvl3pPr>
            <a:lvl4pPr>
              <a:defRPr lang="ko-KR" altLang="en-US" dirty="0" smtClean="0">
                <a:solidFill>
                  <a:schemeClr val="bg1"/>
                </a:solidFill>
              </a:defRPr>
            </a:lvl4pPr>
          </a:lstStyle>
          <a:p>
            <a:pPr lvl="0">
              <a:lnSpc>
                <a:spcPct val="120000"/>
              </a:lnSpc>
              <a:buSzPct val="100000"/>
            </a:pPr>
            <a:r>
              <a:rPr lang="ko-KR" altLang="en-US" smtClean="0"/>
              <a:t>마스터 텍스트 스타일을 편집합니다</a:t>
            </a:r>
          </a:p>
          <a:p>
            <a:pPr lvl="1">
              <a:lnSpc>
                <a:spcPct val="120000"/>
              </a:lnSpc>
              <a:buSzPct val="100000"/>
            </a:pPr>
            <a:r>
              <a:rPr lang="ko-KR" altLang="en-US" smtClean="0"/>
              <a:t>둘째 수준</a:t>
            </a:r>
          </a:p>
          <a:p>
            <a:pPr lvl="2">
              <a:lnSpc>
                <a:spcPct val="120000"/>
              </a:lnSpc>
              <a:buSzPct val="100000"/>
            </a:pPr>
            <a:r>
              <a:rPr lang="ko-KR" altLang="en-US" smtClean="0"/>
              <a:t>셋째 수준</a:t>
            </a:r>
          </a:p>
          <a:p>
            <a:pPr lvl="3">
              <a:lnSpc>
                <a:spcPct val="120000"/>
              </a:lnSpc>
              <a:buSzPct val="100000"/>
            </a:pPr>
            <a:r>
              <a:rPr lang="ko-KR" altLang="en-US" smtClean="0"/>
              <a:t>넷째 수준</a:t>
            </a:r>
          </a:p>
        </p:txBody>
      </p:sp>
      <p:sp>
        <p:nvSpPr>
          <p:cNvPr id="15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슬라이드 번호 개체 틀 1"/>
          <p:cNvSpPr txBox="1">
            <a:spLocks/>
          </p:cNvSpPr>
          <p:nvPr userDrawn="1"/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ko-KR"/>
            </a:defPPr>
            <a:lvl1pPr algn="ctr">
              <a:defRPr sz="100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fld id="{631386F3-A587-4026-92F9-58CD840FC4C1}" type="slidenum">
              <a:rPr lang="ko-KR" altLang="en-US" smtClean="0"/>
              <a:pPr lvl="0"/>
              <a:t>‹#›</a:t>
            </a:fld>
            <a:endParaRPr lang="ko-KR" altLang="en-US" dirty="0"/>
          </a:p>
        </p:txBody>
      </p:sp>
      <p:cxnSp>
        <p:nvCxnSpPr>
          <p:cNvPr id="18" name="직선 연결선 17"/>
          <p:cNvCxnSpPr/>
          <p:nvPr userDrawn="1"/>
        </p:nvCxnSpPr>
        <p:spPr>
          <a:xfrm>
            <a:off x="0" y="548680"/>
            <a:ext cx="9144000" cy="0"/>
          </a:xfrm>
          <a:prstGeom prst="line">
            <a:avLst/>
          </a:prstGeom>
          <a:ln w="38100">
            <a:solidFill>
              <a:srgbClr val="00009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pic>
        <p:nvPicPr>
          <p:cNvPr id="1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16802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.CW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슬라이드 번호 개체 틀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24983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직사각형 29"/>
          <p:cNvSpPr/>
          <p:nvPr userDrawn="1"/>
        </p:nvSpPr>
        <p:spPr>
          <a:xfrm>
            <a:off x="257698" y="836712"/>
            <a:ext cx="8634791" cy="5400600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3" name="직선 연결선 32"/>
          <p:cNvCxnSpPr/>
          <p:nvPr userDrawn="1"/>
        </p:nvCxnSpPr>
        <p:spPr>
          <a:xfrm>
            <a:off x="251520" y="548680"/>
            <a:ext cx="8640960" cy="0"/>
          </a:xfrm>
          <a:prstGeom prst="line">
            <a:avLst/>
          </a:prstGeom>
          <a:ln w="158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그림 3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520" y="836713"/>
            <a:ext cx="3528392" cy="286092"/>
          </a:xfrm>
          <a:prstGeom prst="rect">
            <a:avLst/>
          </a:prstGeom>
        </p:spPr>
      </p:pic>
      <p:sp>
        <p:nvSpPr>
          <p:cNvPr id="39" name="직사각형 38"/>
          <p:cNvSpPr/>
          <p:nvPr userDrawn="1"/>
        </p:nvSpPr>
        <p:spPr>
          <a:xfrm>
            <a:off x="262344" y="836712"/>
            <a:ext cx="8634791" cy="5400600"/>
          </a:xfrm>
          <a:prstGeom prst="rect">
            <a:avLst/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0" name="Content Placeholder 2"/>
          <p:cNvSpPr>
            <a:spLocks noGrp="1"/>
          </p:cNvSpPr>
          <p:nvPr>
            <p:ph sz="half" idx="10"/>
          </p:nvPr>
        </p:nvSpPr>
        <p:spPr>
          <a:xfrm>
            <a:off x="257691" y="1122805"/>
            <a:ext cx="8634790" cy="5114508"/>
          </a:xfrm>
        </p:spPr>
        <p:txBody>
          <a:bodyPr/>
          <a:lstStyle>
            <a:lvl1pPr>
              <a:lnSpc>
                <a:spcPct val="160000"/>
              </a:lnSpc>
              <a:defRPr sz="18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>
              <a:lnSpc>
                <a:spcPct val="110000"/>
              </a:lnSpc>
              <a:defRPr sz="16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>
              <a:lnSpc>
                <a:spcPct val="110000"/>
              </a:lnSpc>
              <a:defRPr sz="14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>
              <a:lnSpc>
                <a:spcPct val="110000"/>
              </a:lnSpc>
              <a:defRPr sz="11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>
              <a:defRPr sz="1400">
                <a:latin typeface="+mn-lt"/>
              </a:defRPr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</p:txBody>
      </p:sp>
      <p:sp>
        <p:nvSpPr>
          <p:cNvPr id="42" name="텍스트 개체 틀 14"/>
          <p:cNvSpPr>
            <a:spLocks noGrp="1"/>
          </p:cNvSpPr>
          <p:nvPr>
            <p:ph type="body" sz="quarter" idx="11"/>
          </p:nvPr>
        </p:nvSpPr>
        <p:spPr>
          <a:xfrm>
            <a:off x="250835" y="838997"/>
            <a:ext cx="3313113" cy="283810"/>
          </a:xfrm>
        </p:spPr>
        <p:txBody>
          <a:bodyPr anchor="ctr"/>
          <a:lstStyle>
            <a:lvl1pPr marL="0" indent="0">
              <a:buNone/>
              <a:defRPr sz="12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1pPr>
            <a:lvl2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chemeClr val="bg1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2" name="텍스트 개체 틀 16"/>
          <p:cNvSpPr>
            <a:spLocks noGrp="1"/>
          </p:cNvSpPr>
          <p:nvPr>
            <p:ph type="body" sz="quarter" idx="12"/>
          </p:nvPr>
        </p:nvSpPr>
        <p:spPr>
          <a:xfrm>
            <a:off x="179388" y="6"/>
            <a:ext cx="8964612" cy="535981"/>
          </a:xfrm>
        </p:spPr>
        <p:txBody>
          <a:bodyPr anchor="ctr"/>
          <a:lstStyle>
            <a:lvl1pPr marL="0" indent="0">
              <a:buNone/>
              <a:defRPr sz="2400" b="1">
                <a:solidFill>
                  <a:schemeClr val="bg1"/>
                </a:solidFill>
                <a:latin typeface="Arial" panose="020B0604020202020204" pitchFamily="34" charset="0"/>
                <a:ea typeface="HY헤드라인M" pitchFamily="18" charset="-127"/>
                <a:cs typeface="Arial" panose="020B0604020202020204" pitchFamily="34" charset="0"/>
              </a:defRPr>
            </a:lvl1pPr>
            <a:lvl2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2pPr>
            <a:lvl3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3pPr>
            <a:lvl4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4pPr>
            <a:lvl5pPr>
              <a:defRPr sz="1300">
                <a:solidFill>
                  <a:srgbClr val="000CF2"/>
                </a:solidFill>
                <a:latin typeface="HY헤드라인M" pitchFamily="18" charset="-127"/>
                <a:ea typeface="HY헤드라인M" pitchFamily="18" charset="-127"/>
              </a:defRPr>
            </a:lvl5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13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pic>
        <p:nvPicPr>
          <p:cNvPr id="11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80191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6" name="Shape 135"/>
          <p:cNvSpPr txBox="1"/>
          <p:nvPr userDrawn="1"/>
        </p:nvSpPr>
        <p:spPr>
          <a:xfrm>
            <a:off x="357188" y="3945467"/>
            <a:ext cx="8501062" cy="22695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6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support@control-works.co.kr</a:t>
            </a:r>
            <a:endParaRPr sz="1600" u="sng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" name="Shape 136"/>
          <p:cNvSpPr txBox="1"/>
          <p:nvPr userDrawn="1"/>
        </p:nvSpPr>
        <p:spPr>
          <a:xfrm>
            <a:off x="5748345" y="5063468"/>
            <a:ext cx="3186043" cy="12358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Suite #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401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13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Eonju-ro 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r>
              <a:rPr lang="en-US" alt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-</a:t>
            </a:r>
            <a:r>
              <a:rPr lang="ko-KR" sz="1100" dirty="0" smtClean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gil</a:t>
            </a: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endParaRPr dirty="0">
              <a:solidFill>
                <a:schemeClr val="bg1"/>
              </a:solidFill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Gangnam-gu, Seoul 06222, Korea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Tel: +82-2-555-1231, Fax: +82-2-555-1274  </a:t>
            </a:r>
            <a:endParaRPr sz="1100" dirty="0">
              <a:solidFill>
                <a:schemeClr val="bg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100" u="sng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http://www.control-works.co.kr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>
                <a:solidFill>
                  <a:schemeClr val="bg1"/>
                </a:solidFill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10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8115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hape 133"/>
          <p:cNvSpPr txBox="1"/>
          <p:nvPr userDrawn="1"/>
        </p:nvSpPr>
        <p:spPr>
          <a:xfrm>
            <a:off x="1263650" y="2714634"/>
            <a:ext cx="6172200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6000" b="1" i="1" dirty="0">
                <a:solidFill>
                  <a:schemeClr val="bg1"/>
                </a:solidFill>
                <a:latin typeface="Arial"/>
                <a:ea typeface="Arial"/>
                <a:cs typeface="Arial"/>
                <a:sym typeface="Arial"/>
              </a:rPr>
              <a:t>THANK YOU</a:t>
            </a:r>
            <a:endParaRPr dirty="0">
              <a:solidFill>
                <a:schemeClr val="bg1"/>
              </a:solidFill>
            </a:endParaRPr>
          </a:p>
        </p:txBody>
      </p:sp>
      <p:sp>
        <p:nvSpPr>
          <p:cNvPr id="8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9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n-US" altLang="ko-KR" smtClean="0"/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ko-KR" altLang="en-US" dirty="0"/>
          </a:p>
        </p:txBody>
      </p:sp>
      <p:pic>
        <p:nvPicPr>
          <p:cNvPr id="6" name="Picture 2" descr="E:\2. 견적서 작업\CW new LOGO\logo png\white logo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88705" y="6536208"/>
            <a:ext cx="1547301" cy="2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88995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4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1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>
              <a:lnSpc>
                <a:spcPct val="120000"/>
              </a:lnSpc>
              <a:buSzPct val="100000"/>
            </a:pPr>
            <a:r>
              <a:rPr lang="en-US" altLang="ko-KR" dirty="0" smtClean="0"/>
              <a:t>Master text styles</a:t>
            </a:r>
          </a:p>
          <a:p>
            <a:pPr lvl="1">
              <a:lnSpc>
                <a:spcPct val="110000"/>
              </a:lnSpc>
            </a:pPr>
            <a:r>
              <a:rPr lang="en-US" altLang="ko-KR" dirty="0" smtClean="0"/>
              <a:t>Second level</a:t>
            </a:r>
          </a:p>
          <a:p>
            <a:pPr lvl="2">
              <a:lnSpc>
                <a:spcPct val="110000"/>
              </a:lnSpc>
            </a:pPr>
            <a:r>
              <a:rPr lang="en-US" altLang="ko-KR" dirty="0" smtClean="0"/>
              <a:t>Third level</a:t>
            </a:r>
          </a:p>
          <a:p>
            <a:pPr lvl="3">
              <a:lnSpc>
                <a:spcPct val="110000"/>
              </a:lnSpc>
            </a:pPr>
            <a:r>
              <a:rPr lang="en-US" altLang="ko-KR" dirty="0" smtClean="0"/>
              <a:t>Fourth level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5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4D7589C2-F8C5-45EF-BFE1-22CDB90044E7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2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035537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lang="en-US" altLang="ko-KR" sz="20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lang="en-US" altLang="ko-KR" sz="16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lang="en-US" altLang="ko-KR" sz="14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lang="en-US" altLang="ko-KR" sz="1100" kern="120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Placeholder 1"/>
          <p:cNvSpPr>
            <a:spLocks noGrp="1"/>
          </p:cNvSpPr>
          <p:nvPr>
            <p:ph type="title"/>
          </p:nvPr>
        </p:nvSpPr>
        <p:spPr>
          <a:xfrm>
            <a:off x="468322" y="6353"/>
            <a:ext cx="8169275" cy="681040"/>
          </a:xfrm>
          <a:prstGeom prst="rect">
            <a:avLst/>
          </a:prstGeom>
        </p:spPr>
        <p:txBody>
          <a:bodyPr vert="horz" lIns="91435" tIns="45717" rIns="91435" bIns="45717" rtlCol="0" anchor="ctr">
            <a:normAutofit/>
          </a:bodyPr>
          <a:lstStyle/>
          <a:p>
            <a:r>
              <a:rPr lang="en-US" dirty="0" smtClean="0"/>
              <a:t>Master title style</a:t>
            </a:r>
            <a:endParaRPr lang="en-US" dirty="0"/>
          </a:p>
        </p:txBody>
      </p:sp>
      <p:sp>
        <p:nvSpPr>
          <p:cNvPr id="1031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69901" y="738189"/>
            <a:ext cx="8174038" cy="53816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 smtClean="0"/>
              <a:t>Master text styles</a:t>
            </a:r>
          </a:p>
          <a:p>
            <a:pPr lvl="1"/>
            <a:r>
              <a:rPr lang="en-US" altLang="ko-KR" dirty="0" smtClean="0"/>
              <a:t>Second level</a:t>
            </a:r>
          </a:p>
          <a:p>
            <a:pPr lvl="2"/>
            <a:r>
              <a:rPr lang="en-US" altLang="ko-KR" dirty="0" smtClean="0"/>
              <a:t>Third level</a:t>
            </a:r>
          </a:p>
          <a:p>
            <a:pPr lvl="3"/>
            <a:r>
              <a:rPr lang="en-US" altLang="ko-KR" dirty="0" smtClean="0"/>
              <a:t>Fourth level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0003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3131840" y="6453336"/>
            <a:ext cx="6012160" cy="404664"/>
          </a:xfrm>
          <a:prstGeom prst="rect">
            <a:avLst/>
          </a:prstGeom>
          <a:solidFill>
            <a:srgbClr val="0000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0" y="6453336"/>
            <a:ext cx="3131840" cy="404664"/>
          </a:xfrm>
          <a:prstGeom prst="rect">
            <a:avLst/>
          </a:prstGeom>
          <a:solidFill>
            <a:srgbClr val="000A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9" name="슬라이드 번호 개체 틀 1"/>
          <p:cNvSpPr>
            <a:spLocks noGrp="1"/>
          </p:cNvSpPr>
          <p:nvPr>
            <p:ph type="sldNum" sz="quarter" idx="4"/>
          </p:nvPr>
        </p:nvSpPr>
        <p:spPr>
          <a:xfrm>
            <a:off x="4342420" y="6500087"/>
            <a:ext cx="459160" cy="31117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ko-KR" altLang="en-US" sz="1000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algn="ctr"/>
            <a:fld id="{631386F3-A587-4026-92F9-58CD840FC4C1}" type="slidenum">
              <a:rPr lang="en-US" altLang="ko-KR" smtClean="0"/>
              <a:pPr algn="ctr"/>
              <a:t>‹#›</a:t>
            </a:fld>
            <a:endParaRPr lang="en-US" dirty="0"/>
          </a:p>
        </p:txBody>
      </p:sp>
      <p:sp>
        <p:nvSpPr>
          <p:cNvPr id="20" name="Shape 22"/>
          <p:cNvSpPr txBox="1"/>
          <p:nvPr/>
        </p:nvSpPr>
        <p:spPr>
          <a:xfrm>
            <a:off x="1" y="6547946"/>
            <a:ext cx="2915816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Copyright</a:t>
            </a:r>
            <a:r>
              <a:rPr lang="ko-KR" sz="1000" b="0" i="0" u="none" strike="noStrike" cap="none" baseline="0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ⓒ 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C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ontrol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W</a:t>
            </a:r>
            <a:r>
              <a:rPr lang="en-US" altLang="ko-KR" sz="1000" b="0" i="0" u="none" strike="noStrike" cap="none" dirty="0" err="1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orks</a:t>
            </a:r>
            <a:r>
              <a:rPr lang="ko-KR" sz="1000" b="0" i="0" u="none" strike="noStrike" cap="none" dirty="0" smtClean="0">
                <a:solidFill>
                  <a:schemeClr val="lt1"/>
                </a:solidFill>
                <a:latin typeface="Arial" panose="020B0604020202020204" pitchFamily="34" charset="0"/>
                <a:ea typeface="Khand Medium"/>
                <a:cs typeface="Arial" panose="020B0604020202020204" pitchFamily="34" charset="0"/>
                <a:sym typeface="Khand Medium"/>
              </a:rPr>
              <a:t>. </a:t>
            </a:r>
            <a:r>
              <a:rPr lang="ko-KR" sz="1000" b="0" i="0" u="none" strike="noStrike" cap="none" dirty="0">
                <a:solidFill>
                  <a:schemeClr val="lt1"/>
                </a:solidFill>
                <a:latin typeface="Arial" panose="020B0604020202020204" pitchFamily="34" charset="0"/>
                <a:ea typeface="Khand"/>
                <a:cs typeface="Arial" panose="020B0604020202020204" pitchFamily="34" charset="0"/>
                <a:sym typeface="Khand"/>
              </a:rPr>
              <a:t>All rights reserved.</a:t>
            </a:r>
            <a:endParaRPr sz="1000" b="0" i="0" u="none" strike="noStrike" cap="none" dirty="0">
              <a:solidFill>
                <a:schemeClr val="lt1"/>
              </a:solidFill>
              <a:latin typeface="Arial" panose="020B0604020202020204" pitchFamily="34" charset="0"/>
              <a:ea typeface="Khand"/>
              <a:cs typeface="Arial" panose="020B0604020202020204" pitchFamily="34" charset="0"/>
              <a:sym typeface="Khand"/>
            </a:endParaRPr>
          </a:p>
        </p:txBody>
      </p:sp>
    </p:spTree>
    <p:extLst>
      <p:ext uri="{BB962C8B-B14F-4D97-AF65-F5344CB8AC3E}">
        <p14:creationId xmlns:p14="http://schemas.microsoft.com/office/powerpoint/2010/main" val="32784753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</p:sldLayoutIdLst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/>
      </p:par>
    </p:tnLst>
  </p:timing>
  <p:hf hdr="0" ftr="0" dt="0"/>
  <p:txStyles>
    <p:titleStyle>
      <a:lvl1pPr algn="l" defTabSz="455613" rtl="0" eaLnBrk="1" fontAlgn="base" latinLnBrk="1" hangingPunct="1">
        <a:spcBef>
          <a:spcPct val="0"/>
        </a:spcBef>
        <a:spcAft>
          <a:spcPct val="0"/>
        </a:spcAft>
        <a:defRPr sz="2800" b="1" kern="1200" spc="-1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  <a:lvl2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2pPr>
      <a:lvl3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3pPr>
      <a:lvl4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4pPr>
      <a:lvl5pPr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5pPr>
      <a:lvl6pPr marL="4572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6pPr>
      <a:lvl7pPr marL="9144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7pPr>
      <a:lvl8pPr marL="13716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8pPr>
      <a:lvl9pPr marL="1828800" algn="l" defTabSz="455613" rtl="0" eaLnBrk="1" fontAlgn="base" latinLnBrk="1" hangingPunct="1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맑은 고딕" pitchFamily="50" charset="-127"/>
          <a:ea typeface="맑은 고딕" pitchFamily="50" charset="-127"/>
          <a:cs typeface="Arial" pitchFamily="34" charset="0"/>
        </a:defRPr>
      </a:lvl9pPr>
    </p:titleStyle>
    <p:bodyStyle>
      <a:lvl1pPr marL="342900" indent="-342900" algn="l" defTabSz="455613" rtl="0" eaLnBrk="1" fontAlgn="base" latinLnBrk="1" hangingPunct="1">
        <a:lnSpc>
          <a:spcPct val="150000"/>
        </a:lnSpc>
        <a:spcBef>
          <a:spcPts val="575"/>
        </a:spcBef>
        <a:spcAft>
          <a:spcPct val="0"/>
        </a:spcAft>
        <a:buClr>
          <a:srgbClr val="000AF2"/>
        </a:buClr>
        <a:buSzPct val="70000"/>
        <a:buFont typeface="맑은 고딕" pitchFamily="50" charset="-127"/>
        <a:buChar char="■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41350" indent="-185738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맑은 고딕" pitchFamily="50" charset="-127"/>
        <a:buChar char="▶"/>
        <a:defRPr sz="20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200150" indent="-285750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l"/>
        <a:defRPr sz="16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598613" indent="-227013" algn="l" defTabSz="455613" rtl="0" eaLnBrk="1" fontAlgn="base" latinLnBrk="1" hangingPunct="1">
        <a:lnSpc>
          <a:spcPct val="150000"/>
        </a:lnSpc>
        <a:spcBef>
          <a:spcPct val="20000"/>
        </a:spcBef>
        <a:spcAft>
          <a:spcPct val="0"/>
        </a:spcAft>
        <a:buClr>
          <a:srgbClr val="000CF2"/>
        </a:buClr>
        <a:buSzPct val="70000"/>
        <a:buFont typeface="Wingdings" pitchFamily="2" charset="2"/>
        <a:buChar char="Ø"/>
        <a:defRPr sz="1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7213" algn="l" defTabSz="455613" rtl="0" eaLnBrk="1" fontAlgn="base" latinLnBrk="1" hangingPunct="1">
        <a:spcBef>
          <a:spcPct val="20000"/>
        </a:spcBef>
        <a:spcAft>
          <a:spcPct val="0"/>
        </a:spcAft>
        <a:buClr>
          <a:srgbClr val="7F7F7F"/>
        </a:buClr>
        <a:buSzPct val="70000"/>
        <a:buFont typeface="Arial" pitchFamily="34" charset="0"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459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33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07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981" indent="-228587" algn="l" defTabSz="457174" rtl="0" eaLnBrk="1" latinLnBrk="1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4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23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98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72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46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20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394" algn="l" defTabSz="457174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/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</a:p>
          <a:p>
            <a:r>
              <a:rPr lang="en-US" altLang="ko-KR" dirty="0" smtClean="0"/>
              <a:t>Introduction</a:t>
            </a:r>
          </a:p>
          <a:p>
            <a:r>
              <a:rPr lang="en-US" altLang="ko-KR" dirty="0" smtClean="0"/>
              <a:t>Related works</a:t>
            </a:r>
          </a:p>
          <a:p>
            <a:r>
              <a:rPr lang="en-US" altLang="ko-KR" dirty="0" smtClean="0"/>
              <a:t>Contribution</a:t>
            </a:r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0"/>
          </p:nvPr>
        </p:nvSpPr>
        <p:spPr>
          <a:xfrm>
            <a:off x="539552" y="3933056"/>
            <a:ext cx="5688632" cy="569219"/>
          </a:xfrm>
        </p:spPr>
        <p:txBody>
          <a:bodyPr/>
          <a:lstStyle/>
          <a:p>
            <a:r>
              <a:rPr lang="en-US" altLang="ko-KR" b="0" dirty="0"/>
              <a:t>SegNet: A Deep Convolutional</a:t>
            </a:r>
          </a:p>
          <a:p>
            <a:r>
              <a:rPr lang="en-US" altLang="ko-KR" b="0" dirty="0"/>
              <a:t>Encoder-Decoder Architecture for Image</a:t>
            </a:r>
          </a:p>
          <a:p>
            <a:r>
              <a:rPr lang="en-US" altLang="ko-KR" b="0" dirty="0"/>
              <a:t>Segmentation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989907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Abstraction</a:t>
            </a:r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 network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decoder network, classification layer</a:t>
            </a:r>
            <a:r>
              <a:rPr lang="ko-KR" altLang="en-US" dirty="0" smtClean="0"/>
              <a:t>로 구성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에서 사용했던 </a:t>
            </a:r>
            <a:r>
              <a:rPr lang="en-US" altLang="ko-KR" dirty="0" smtClean="0"/>
              <a:t>pooling </a:t>
            </a:r>
            <a:r>
              <a:rPr lang="en-US" altLang="ko-KR" dirty="0" err="1" smtClean="0"/>
              <a:t>indice</a:t>
            </a:r>
            <a:r>
              <a:rPr lang="ko-KR" altLang="en-US" dirty="0" smtClean="0"/>
              <a:t>를 대응하는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할 때 사용하여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에서 학습이 </a:t>
            </a:r>
            <a:r>
              <a:rPr lang="ko-KR" altLang="en-US" dirty="0" err="1" smtClean="0"/>
              <a:t>필요없어짐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그 후</a:t>
            </a:r>
            <a:r>
              <a:rPr lang="en-US" altLang="ko-KR" dirty="0" smtClean="0"/>
              <a:t>, dense prediction</a:t>
            </a:r>
            <a:r>
              <a:rPr lang="ko-KR" altLang="en-US" dirty="0" smtClean="0"/>
              <a:t>을 위해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을 통하여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을 세밀화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다른 모델보다 훈련시킬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가 적어 계산속도가 빠르며 메모리 측면에서도 효율적인 강점을 가짐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Abstraction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863950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Background and Feature</a:t>
            </a:r>
          </a:p>
          <a:p>
            <a:pPr lvl="1">
              <a:buSzPct val="100000"/>
            </a:pPr>
            <a:r>
              <a:rPr lang="ko-KR" altLang="en-US" dirty="0" smtClean="0"/>
              <a:t>픽셀 단위 예측에서 행하는 </a:t>
            </a:r>
            <a:r>
              <a:rPr lang="en-US" altLang="ko-KR" dirty="0" smtClean="0"/>
              <a:t>sub-sampling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max pooling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</a:t>
            </a:r>
            <a:r>
              <a:rPr lang="ko-KR" altLang="en-US" dirty="0" smtClean="0"/>
              <a:t>를 모호하게 만들고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이를 해결하고자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을</a:t>
            </a:r>
            <a:r>
              <a:rPr lang="en-US" altLang="ko-KR" dirty="0" smtClean="0"/>
              <a:t> </a:t>
            </a:r>
            <a:r>
              <a:rPr lang="ko-KR" altLang="en-US" dirty="0" smtClean="0"/>
              <a:t>고안하게 됨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길</a:t>
            </a:r>
            <a:r>
              <a:rPr lang="en-US" altLang="ko-KR" dirty="0" smtClean="0"/>
              <a:t>, </a:t>
            </a:r>
            <a:r>
              <a:rPr lang="ko-KR" altLang="en-US" dirty="0" smtClean="0"/>
              <a:t>건물</a:t>
            </a:r>
            <a:r>
              <a:rPr lang="en-US" altLang="ko-KR" dirty="0" smtClean="0"/>
              <a:t>, </a:t>
            </a:r>
            <a:r>
              <a:rPr lang="ko-KR" altLang="en-US" dirty="0" smtClean="0"/>
              <a:t>차량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보행자 등의 다양한 </a:t>
            </a:r>
            <a:r>
              <a:rPr lang="en-US" altLang="ko-KR" dirty="0" smtClean="0"/>
              <a:t>class</a:t>
            </a:r>
            <a:r>
              <a:rPr lang="ko-KR" altLang="en-US" dirty="0" smtClean="0"/>
              <a:t>를 가지는 도로 장면에서 작은 크기를 가진 객체들의 경계를 명확히 구분하는 능력이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에 요구됨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VGG16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convolutional layer</a:t>
            </a:r>
            <a:r>
              <a:rPr lang="ko-KR" altLang="en-US" dirty="0" smtClean="0"/>
              <a:t>와 위상적으로 동일</a:t>
            </a:r>
            <a:endParaRPr lang="en-US" altLang="ko-KR" dirty="0" smtClean="0"/>
          </a:p>
          <a:p>
            <a:pPr>
              <a:buSzPct val="100000"/>
            </a:pPr>
            <a:r>
              <a:rPr lang="en-US" altLang="ko-KR" dirty="0" smtClean="0"/>
              <a:t>Method</a:t>
            </a:r>
          </a:p>
          <a:p>
            <a:pPr lvl="1">
              <a:buSzPct val="100000"/>
            </a:pPr>
            <a:r>
              <a:rPr lang="ko-KR" altLang="en-US" dirty="0" smtClean="0"/>
              <a:t>본 논문은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decoding </a:t>
            </a:r>
            <a:r>
              <a:rPr lang="ko-KR" altLang="en-US" dirty="0" smtClean="0"/>
              <a:t>기법과 </a:t>
            </a:r>
            <a:r>
              <a:rPr lang="en-US" altLang="ko-KR" dirty="0" smtClean="0"/>
              <a:t>Fully Convolutional Network (FCN)</a:t>
            </a:r>
            <a:r>
              <a:rPr lang="ko-KR" altLang="en-US" dirty="0"/>
              <a:t> </a:t>
            </a:r>
            <a:r>
              <a:rPr lang="ko-KR" altLang="en-US" dirty="0" smtClean="0"/>
              <a:t>을 비교 분석하여 </a:t>
            </a:r>
            <a:r>
              <a:rPr lang="en-US" altLang="ko-KR" dirty="0" smtClean="0"/>
              <a:t>segmentation architecture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trade-off</a:t>
            </a:r>
            <a:r>
              <a:rPr lang="ko-KR" altLang="en-US" dirty="0" smtClean="0"/>
              <a:t>를 설명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성능을 나타내기 위해 </a:t>
            </a:r>
            <a:r>
              <a:rPr lang="en-US" altLang="ko-KR" dirty="0" err="1" smtClean="0"/>
              <a:t>CamVid</a:t>
            </a:r>
            <a:r>
              <a:rPr lang="en-US" altLang="ko-KR" dirty="0" smtClean="0"/>
              <a:t> </a:t>
            </a:r>
            <a:r>
              <a:rPr lang="ko-KR" altLang="en-US" dirty="0" smtClean="0"/>
              <a:t>도로 장면과 </a:t>
            </a:r>
            <a:r>
              <a:rPr lang="en-US" altLang="ko-KR" dirty="0" smtClean="0"/>
              <a:t>SUN RGB-D </a:t>
            </a:r>
            <a:r>
              <a:rPr lang="ko-KR" altLang="en-US" dirty="0" smtClean="0"/>
              <a:t>실내 장면을 사용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Introduction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172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Related works</a:t>
            </a:r>
          </a:p>
          <a:p>
            <a:pPr lvl="1">
              <a:buSzPct val="100000"/>
            </a:pPr>
            <a:r>
              <a:rPr lang="en-US" altLang="ko-KR" dirty="0" smtClean="0"/>
              <a:t>Convolutional neural network</a:t>
            </a:r>
            <a:r>
              <a:rPr lang="ko-KR" altLang="en-US" dirty="0" smtClean="0"/>
              <a:t>가 객체 분류에 성공적인 결과를 도출 함에 따라</a:t>
            </a:r>
            <a:r>
              <a:rPr lang="en-US" altLang="ko-KR" dirty="0"/>
              <a:t> </a:t>
            </a:r>
            <a:r>
              <a:rPr lang="ko-KR" altLang="en-US" dirty="0" smtClean="0"/>
              <a:t>해당 신경망들을 </a:t>
            </a:r>
            <a:r>
              <a:rPr lang="en-US" altLang="ko-KR" dirty="0" smtClean="0"/>
              <a:t>segmentation</a:t>
            </a:r>
            <a:r>
              <a:rPr lang="ko-KR" altLang="en-US" dirty="0"/>
              <a:t> </a:t>
            </a:r>
            <a:r>
              <a:rPr lang="en-US" altLang="ko-KR" dirty="0" smtClean="0"/>
              <a:t>problem</a:t>
            </a:r>
            <a:r>
              <a:rPr lang="ko-KR" altLang="en-US" dirty="0" smtClean="0"/>
              <a:t>에 적용하려는 시도가 있었지만</a:t>
            </a:r>
            <a:r>
              <a:rPr lang="en-US" altLang="ko-KR" dirty="0" smtClean="0"/>
              <a:t>, </a:t>
            </a:r>
            <a:r>
              <a:rPr lang="ko-KR" altLang="en-US" dirty="0" smtClean="0"/>
              <a:t>결과로 나온 </a:t>
            </a:r>
            <a:r>
              <a:rPr lang="en-US" altLang="ko-KR" dirty="0" smtClean="0"/>
              <a:t>segmentation</a:t>
            </a:r>
            <a:r>
              <a:rPr lang="ko-KR" altLang="en-US" dirty="0" smtClean="0"/>
              <a:t>이 객체의 경계가 아닌 블록의 경계를 가짐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는 </a:t>
            </a:r>
            <a:r>
              <a:rPr lang="en-US" altLang="ko-KR" dirty="0" err="1" smtClean="0"/>
              <a:t>upsampli</a:t>
            </a:r>
            <a:r>
              <a:rPr lang="en-US" altLang="ko-KR" dirty="0" err="1"/>
              <a:t>n</a:t>
            </a:r>
            <a:r>
              <a:rPr lang="en-US" altLang="ko-KR" dirty="0" err="1" smtClean="0"/>
              <a:t>g</a:t>
            </a:r>
            <a:r>
              <a:rPr lang="ko-KR" altLang="en-US" dirty="0" smtClean="0"/>
              <a:t>시 학습이 필요하고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신경망수가 늘어나 </a:t>
            </a:r>
            <a:r>
              <a:rPr lang="en-US" altLang="ko-KR" dirty="0" smtClean="0"/>
              <a:t>end-to-end </a:t>
            </a:r>
            <a:r>
              <a:rPr lang="ko-KR" altLang="en-US" dirty="0" smtClean="0"/>
              <a:t>학습에 시간이 다소 소요</a:t>
            </a:r>
            <a:endParaRPr lang="en-US" altLang="ko-KR" dirty="0"/>
          </a:p>
          <a:p>
            <a:pPr lvl="1">
              <a:buSzPct val="100000"/>
            </a:pPr>
            <a:r>
              <a:rPr lang="ko-KR" altLang="en-US" dirty="0" smtClean="0"/>
              <a:t>또한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skip architecture</a:t>
            </a:r>
            <a:r>
              <a:rPr lang="ko-KR" altLang="en-US" dirty="0" smtClean="0"/>
              <a:t>는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에서 도출된 </a:t>
            </a:r>
            <a:r>
              <a:rPr lang="en-US" altLang="ko-KR" dirty="0" smtClean="0"/>
              <a:t>map</a:t>
            </a:r>
            <a:r>
              <a:rPr lang="ko-KR" altLang="en-US" dirty="0" smtClean="0"/>
              <a:t>을 저장했다가 재사용하기 때문에 </a:t>
            </a:r>
            <a:r>
              <a:rPr lang="en-US" altLang="ko-KR" dirty="0" smtClean="0"/>
              <a:t>memory </a:t>
            </a:r>
            <a:r>
              <a:rPr lang="ko-KR" altLang="en-US" dirty="0" smtClean="0"/>
              <a:t>측면에서 비효율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에 </a:t>
            </a:r>
            <a:r>
              <a:rPr lang="en-US" altLang="ko-KR" dirty="0" smtClean="0"/>
              <a:t>Recurrent Neural Network (RNN)</a:t>
            </a:r>
            <a:r>
              <a:rPr lang="ko-KR" altLang="en-US" dirty="0" smtClean="0"/>
              <a:t>을 더하여 세밀한 경계를 도출한 결과가 존재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Related works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04542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ko-KR" altLang="en-US" dirty="0" smtClean="0"/>
              <a:t>구조</a:t>
            </a: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 smtClean="0"/>
          </a:p>
          <a:p>
            <a:pPr>
              <a:buSzPct val="100000"/>
            </a:pPr>
            <a:endParaRPr lang="en-US" altLang="ko-KR" dirty="0"/>
          </a:p>
          <a:p>
            <a:pPr>
              <a:buSzPct val="100000"/>
            </a:pP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filter bank</a:t>
            </a:r>
            <a:r>
              <a:rPr lang="ko-KR" altLang="en-US" dirty="0" smtClean="0"/>
              <a:t>로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batch normalization, </a:t>
            </a:r>
            <a:r>
              <a:rPr lang="en-US" altLang="ko-KR" dirty="0" err="1" smtClean="0"/>
              <a:t>ReLU</a:t>
            </a:r>
            <a:r>
              <a:rPr lang="ko-KR" altLang="en-US" dirty="0"/>
              <a:t> </a:t>
            </a:r>
            <a:r>
              <a:rPr lang="ko-KR" altLang="en-US" dirty="0" smtClean="0"/>
              <a:t>적용</a:t>
            </a:r>
            <a:r>
              <a:rPr lang="en-US" altLang="ko-KR" dirty="0" smtClean="0"/>
              <a:t>, max-pooling</a:t>
            </a:r>
            <a:r>
              <a:rPr lang="ko-KR" altLang="en-US" dirty="0" smtClean="0"/>
              <a:t>이 순차적으로 일어남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을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filter bank</a:t>
            </a:r>
            <a:r>
              <a:rPr lang="ko-KR" altLang="en-US" dirty="0"/>
              <a:t> </a:t>
            </a:r>
            <a:r>
              <a:rPr lang="en-US" altLang="ko-KR" dirty="0" smtClean="0"/>
              <a:t>convolution, batch normalization</a:t>
            </a:r>
            <a:r>
              <a:rPr lang="ko-KR" altLang="en-US" dirty="0" smtClean="0"/>
              <a:t>의 과정을 거침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filter bank</a:t>
            </a:r>
            <a:r>
              <a:rPr lang="ko-KR" altLang="en-US" dirty="0" smtClean="0"/>
              <a:t>는 훈련을 통하여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가 변경될 수 있고</a:t>
            </a:r>
            <a:r>
              <a:rPr lang="en-US" altLang="ko-KR" dirty="0" smtClean="0"/>
              <a:t>, </a:t>
            </a:r>
            <a:r>
              <a:rPr lang="ko-KR" altLang="en-US" dirty="0" smtClean="0"/>
              <a:t>마지막 </a:t>
            </a:r>
            <a:r>
              <a:rPr lang="en-US" altLang="ko-KR" dirty="0" smtClean="0"/>
              <a:t>decoder layer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output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multi-channel</a:t>
            </a:r>
            <a:r>
              <a:rPr lang="ko-KR" altLang="en-US" dirty="0" smtClean="0"/>
              <a:t>을 가진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도출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최종적으로 </a:t>
            </a:r>
            <a:r>
              <a:rPr lang="en-US" altLang="ko-KR" dirty="0" smtClean="0"/>
              <a:t>multi-channel feature map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soft-max </a:t>
            </a:r>
            <a:r>
              <a:rPr lang="ko-KR" altLang="en-US" dirty="0" smtClean="0"/>
              <a:t>함수를 거쳐 지정했던 </a:t>
            </a:r>
            <a:r>
              <a:rPr lang="en-US" altLang="ko-KR" dirty="0" smtClean="0"/>
              <a:t>class</a:t>
            </a:r>
            <a:r>
              <a:rPr lang="ko-KR" altLang="en-US" dirty="0" smtClean="0"/>
              <a:t>의 수만큼의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을 가진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결과로 나옴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Contributions(I)</a:t>
            </a:r>
            <a:endParaRPr lang="ko-KR" altLang="en-US" dirty="0"/>
          </a:p>
        </p:txBody>
      </p:sp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552" y="1196752"/>
            <a:ext cx="8154726" cy="23042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298728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과의 차이점</a:t>
            </a:r>
            <a:endParaRPr lang="en-US" altLang="ko-KR" dirty="0"/>
          </a:p>
          <a:p>
            <a:pPr lvl="1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 output</a:t>
            </a:r>
            <a:r>
              <a:rPr lang="ko-KR" altLang="en-US" dirty="0" smtClean="0"/>
              <a:t>을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input</a:t>
            </a:r>
            <a:r>
              <a:rPr lang="ko-KR" altLang="en-US" dirty="0" smtClean="0"/>
              <a:t>으로 전달할 때</a:t>
            </a:r>
            <a:r>
              <a:rPr lang="en-US" altLang="ko-KR" dirty="0" smtClean="0"/>
              <a:t>, channel</a:t>
            </a:r>
            <a:r>
              <a:rPr lang="ko-KR" altLang="en-US" dirty="0" smtClean="0"/>
              <a:t>의 차원수를 감소시키고  </a:t>
            </a:r>
            <a:r>
              <a:rPr lang="en-US" altLang="ko-KR" dirty="0" smtClean="0"/>
              <a:t>inverse convolution(deconvolution)</a:t>
            </a:r>
            <a:r>
              <a:rPr lang="ko-KR" altLang="en-US" dirty="0" smtClean="0"/>
              <a:t>으로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을 진행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에서 기억했던 </a:t>
            </a:r>
            <a:r>
              <a:rPr lang="en-US" altLang="ko-KR" dirty="0" smtClean="0"/>
              <a:t>pooling indices</a:t>
            </a:r>
            <a:r>
              <a:rPr lang="ko-KR" altLang="en-US" dirty="0" smtClean="0"/>
              <a:t>를 이용하여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한 후</a:t>
            </a:r>
            <a:r>
              <a:rPr lang="en-US" altLang="ko-KR" dirty="0" smtClean="0"/>
              <a:t>, </a:t>
            </a:r>
            <a:r>
              <a:rPr lang="ko-KR" altLang="en-US" dirty="0" err="1"/>
              <a:t>훈련가능한</a:t>
            </a:r>
            <a:r>
              <a:rPr lang="ko-KR" altLang="en-US" dirty="0"/>
              <a:t> </a:t>
            </a:r>
            <a:r>
              <a:rPr lang="en-US" altLang="ko-KR" dirty="0"/>
              <a:t>filter bank</a:t>
            </a:r>
            <a:r>
              <a:rPr lang="ko-KR" altLang="en-US" dirty="0"/>
              <a:t>를 </a:t>
            </a:r>
            <a:r>
              <a:rPr lang="ko-KR" altLang="en-US" dirty="0" smtClean="0"/>
              <a:t>사용하</a:t>
            </a:r>
            <a:r>
              <a:rPr lang="ko-KR" altLang="en-US" dirty="0"/>
              <a:t>여</a:t>
            </a:r>
            <a:r>
              <a:rPr lang="ko-KR" altLang="en-US" dirty="0" smtClean="0"/>
              <a:t>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하여 </a:t>
            </a:r>
            <a:r>
              <a:rPr lang="en-US" altLang="ko-KR" dirty="0" smtClean="0"/>
              <a:t>densifying</a:t>
            </a: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Contributions(II)</a:t>
            </a:r>
            <a:endParaRPr lang="ko-KR" alt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640" y="3140968"/>
            <a:ext cx="6558034" cy="302433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9135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>
              <a:buSzPct val="100000"/>
            </a:pPr>
            <a:r>
              <a:rPr lang="en-US" altLang="ko-KR" dirty="0" smtClean="0"/>
              <a:t>Decoder </a:t>
            </a:r>
            <a:r>
              <a:rPr lang="ko-KR" altLang="en-US" dirty="0" smtClean="0"/>
              <a:t>변화</a:t>
            </a:r>
            <a:endParaRPr lang="en-US" altLang="ko-KR" dirty="0" smtClean="0"/>
          </a:p>
          <a:p>
            <a:pPr lvl="1">
              <a:buSzPct val="100000"/>
            </a:pPr>
            <a:r>
              <a:rPr lang="ko-KR" altLang="en-US" dirty="0" smtClean="0"/>
              <a:t>본 논문에서는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과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decoder technique</a:t>
            </a:r>
            <a:r>
              <a:rPr lang="ko-KR" altLang="en-US" dirty="0" smtClean="0"/>
              <a:t>을 변화시켜 성능을 비교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</a:t>
            </a:r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의 소형화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7x7 kernel, 4 encoder, 4 decoder </a:t>
            </a:r>
            <a:r>
              <a:rPr lang="ko-KR" altLang="en-US" dirty="0" smtClean="0"/>
              <a:t>사용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와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내의 기능들은 앞서 언급된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과 동일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-Basic-</a:t>
            </a:r>
            <a:r>
              <a:rPr lang="en-US" altLang="ko-KR" dirty="0" err="1" smtClean="0"/>
              <a:t>SingleChannelDecoder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Decoder filter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1</a:t>
            </a:r>
            <a:r>
              <a:rPr lang="ko-KR" altLang="en-US" dirty="0" smtClean="0"/>
              <a:t>개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훈련시킬</a:t>
            </a:r>
            <a:r>
              <a:rPr lang="en-US" altLang="ko-KR" dirty="0"/>
              <a:t>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수가 줄어드는 장점일 지님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-Basic-</a:t>
            </a:r>
            <a:r>
              <a:rPr lang="en-US" altLang="ko-KR" dirty="0" err="1" smtClean="0"/>
              <a:t>EncoderAddition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Encoder</a:t>
            </a:r>
            <a:r>
              <a:rPr lang="ko-KR" altLang="en-US" dirty="0" smtClean="0"/>
              <a:t>의 각 층마다 </a:t>
            </a:r>
            <a:r>
              <a:rPr lang="en-US" altLang="ko-KR" dirty="0" smtClean="0"/>
              <a:t>64</a:t>
            </a:r>
            <a:r>
              <a:rPr lang="ko-KR" altLang="en-US" dirty="0" smtClean="0"/>
              <a:t>개의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을 대응하는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층에 더함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Decoder</a:t>
            </a:r>
            <a:r>
              <a:rPr lang="ko-KR" altLang="en-US" dirty="0" smtClean="0"/>
              <a:t>에서 </a:t>
            </a:r>
            <a:r>
              <a:rPr lang="en-US" altLang="ko-KR" dirty="0" err="1" smtClean="0"/>
              <a:t>upsampling</a:t>
            </a:r>
            <a:r>
              <a:rPr lang="ko-KR" altLang="en-US" dirty="0" smtClean="0"/>
              <a:t>하고 </a:t>
            </a:r>
            <a:r>
              <a:rPr lang="en-US" altLang="ko-KR" dirty="0" smtClean="0"/>
              <a:t>convolution</a:t>
            </a:r>
            <a:r>
              <a:rPr lang="ko-KR" altLang="en-US" dirty="0" smtClean="0"/>
              <a:t>이 진행된 후에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과 결합되는 형태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Contributions(III)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07468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smtClean="0"/>
              <a:t>FCN-Basic</a:t>
            </a:r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</a:t>
            </a:r>
            <a:r>
              <a:rPr lang="ko-KR" altLang="en-US" dirty="0" smtClean="0"/>
              <a:t>과 대응되도록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을 설계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FCN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와 변함이 없음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FCN-Basic-</a:t>
            </a:r>
            <a:r>
              <a:rPr lang="en-US" altLang="ko-KR" dirty="0" err="1" smtClean="0"/>
              <a:t>NoAddtion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Skip structure</a:t>
            </a:r>
            <a:r>
              <a:rPr lang="ko-KR" altLang="en-US" dirty="0" smtClean="0"/>
              <a:t>를 사용하지 않고 </a:t>
            </a:r>
            <a:r>
              <a:rPr lang="en-US" altLang="ko-KR" dirty="0" err="1" smtClean="0"/>
              <a:t>upsampling</a:t>
            </a:r>
            <a:r>
              <a:rPr lang="en-US" altLang="ko-KR" dirty="0" smtClean="0"/>
              <a:t> kernel</a:t>
            </a:r>
            <a:r>
              <a:rPr lang="ko-KR" altLang="en-US" dirty="0" smtClean="0"/>
              <a:t>만 훈련시키며 </a:t>
            </a:r>
            <a:r>
              <a:rPr lang="en-US" altLang="ko-KR" dirty="0" smtClean="0"/>
              <a:t>decoding</a:t>
            </a:r>
          </a:p>
          <a:p>
            <a:pPr lvl="1">
              <a:buSzPct val="100000"/>
            </a:pPr>
            <a:r>
              <a:rPr lang="en-US" altLang="ko-KR" dirty="0" smtClean="0"/>
              <a:t>FCN-Basic-</a:t>
            </a:r>
            <a:r>
              <a:rPr lang="en-US" altLang="ko-KR" dirty="0" err="1" smtClean="0"/>
              <a:t>NoDimReduction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일반적 </a:t>
            </a:r>
            <a:r>
              <a:rPr lang="en-US" altLang="ko-KR" dirty="0" smtClean="0"/>
              <a:t>FCN : </a:t>
            </a:r>
            <a:r>
              <a:rPr lang="ko-KR" altLang="en-US" dirty="0" smtClean="0"/>
              <a:t>마지막 </a:t>
            </a:r>
            <a:r>
              <a:rPr lang="en-US" altLang="ko-KR" dirty="0" smtClean="0"/>
              <a:t>encoder layer output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수를 줄임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본 </a:t>
            </a:r>
            <a:r>
              <a:rPr lang="en-US" altLang="ko-KR" dirty="0" smtClean="0"/>
              <a:t>decoder technique</a:t>
            </a:r>
            <a:r>
              <a:rPr lang="ko-KR" altLang="en-US" dirty="0" smtClean="0"/>
              <a:t>는 마지막 </a:t>
            </a:r>
            <a:r>
              <a:rPr lang="en-US" altLang="ko-KR" dirty="0" smtClean="0"/>
              <a:t>encoder feature map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수를 줄이지 않아 </a:t>
            </a:r>
            <a:r>
              <a:rPr lang="en-US" altLang="ko-KR" dirty="0" err="1" smtClean="0"/>
              <a:t>endcoder</a:t>
            </a:r>
            <a:r>
              <a:rPr lang="ko-KR" altLang="en-US" dirty="0" smtClean="0"/>
              <a:t>와 대응되는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channel</a:t>
            </a:r>
            <a:r>
              <a:rPr lang="ko-KR" altLang="en-US" dirty="0" smtClean="0"/>
              <a:t>수가 같음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Bilinear-Interpolation</a:t>
            </a:r>
          </a:p>
          <a:p>
            <a:pPr lvl="2">
              <a:buSzPct val="100000"/>
            </a:pPr>
            <a:r>
              <a:rPr lang="en-US" altLang="ko-KR" dirty="0" smtClean="0"/>
              <a:t>fixed-parameter</a:t>
            </a:r>
            <a:r>
              <a:rPr lang="ko-KR" altLang="en-US" dirty="0" smtClean="0"/>
              <a:t>를 가진 </a:t>
            </a:r>
            <a:r>
              <a:rPr lang="ko-KR" altLang="en-US" dirty="0" err="1" smtClean="0"/>
              <a:t>선형보간법을</a:t>
            </a:r>
            <a:r>
              <a:rPr lang="ko-KR" altLang="en-US" dirty="0" smtClean="0"/>
              <a:t> 이용하여 </a:t>
            </a:r>
            <a:r>
              <a:rPr lang="en-US" altLang="ko-KR" dirty="0" err="1" smtClean="0"/>
              <a:t>upsampling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Upsampling</a:t>
            </a:r>
            <a:r>
              <a:rPr lang="ko-KR" altLang="en-US" dirty="0" smtClean="0"/>
              <a:t>의 학습이 존재하지 않음</a:t>
            </a:r>
            <a:endParaRPr lang="en-US" altLang="ko-KR" dirty="0" smtClean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Contributions(IV)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23113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Contributions(IV)</a:t>
            </a:r>
            <a:endParaRPr lang="ko-KR" altLang="en-US" dirty="0"/>
          </a:p>
        </p:txBody>
      </p:sp>
      <p:sp>
        <p:nvSpPr>
          <p:cNvPr id="6" name="내용 개체 틀 2"/>
          <p:cNvSpPr txBox="1">
            <a:spLocks/>
          </p:cNvSpPr>
          <p:nvPr/>
        </p:nvSpPr>
        <p:spPr bwMode="auto">
          <a:xfrm>
            <a:off x="179513" y="736601"/>
            <a:ext cx="8482356" cy="538754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35" tIns="45717" rIns="91435" bIns="45717" numCol="1" anchor="t" anchorCtr="0" compatLnSpc="1">
            <a:prstTxWarp prst="textNoShape">
              <a:avLst/>
            </a:prstTxWarp>
          </a:bodyPr>
          <a:lstStyle>
            <a:lvl1pPr marL="342900" indent="-342900" algn="l" defTabSz="455613" rtl="0" eaLnBrk="1" fontAlgn="base" latinLnBrk="1" hangingPunct="1">
              <a:lnSpc>
                <a:spcPct val="150000"/>
              </a:lnSpc>
              <a:spcBef>
                <a:spcPts val="575"/>
              </a:spcBef>
              <a:spcAft>
                <a:spcPct val="0"/>
              </a:spcAft>
              <a:buClr>
                <a:srgbClr val="000AF2"/>
              </a:buClr>
              <a:buSzPct val="70000"/>
              <a:buFont typeface="맑은 고딕" pitchFamily="50" charset="-127"/>
              <a:buChar char="■"/>
              <a:defRPr lang="ko-KR" altLang="en-US" sz="20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641350" indent="-185738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맑은 고딕" pitchFamily="50" charset="-127"/>
              <a:buChar char="▶"/>
              <a:defRPr lang="ko-KR" altLang="en-US" sz="16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1200150" indent="-285750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Wingdings" pitchFamily="2" charset="2"/>
              <a:buChar char="l"/>
              <a:defRPr lang="ko-KR" altLang="en-US" sz="14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598613" indent="-227013" algn="l" defTabSz="455613" rtl="0" eaLnBrk="1" fontAlgn="base" latinLnBrk="1" hangingPunct="1">
              <a:lnSpc>
                <a:spcPct val="150000"/>
              </a:lnSpc>
              <a:spcBef>
                <a:spcPct val="20000"/>
              </a:spcBef>
              <a:spcAft>
                <a:spcPct val="0"/>
              </a:spcAft>
              <a:buClr>
                <a:srgbClr val="000CF2"/>
              </a:buClr>
              <a:buSzPct val="70000"/>
              <a:buFont typeface="Wingdings" pitchFamily="2" charset="2"/>
              <a:buChar char="Ø"/>
              <a:defRPr lang="ko-KR" altLang="en-US" sz="1100" kern="1200" dirty="0" smtClean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4pPr>
            <a:lvl5pPr marL="1827213" algn="l" defTabSz="455613" rtl="0" eaLnBrk="1" fontAlgn="base" latinLnBrk="1" hangingPunct="1">
              <a:spcBef>
                <a:spcPct val="20000"/>
              </a:spcBef>
              <a:spcAft>
                <a:spcPct val="0"/>
              </a:spcAft>
              <a:buClr>
                <a:srgbClr val="7F7F7F"/>
              </a:buClr>
              <a:buSzPct val="70000"/>
              <a:buFont typeface="Arial" pitchFamily="34" charset="0"/>
              <a:defRPr sz="2000" kern="1200">
                <a:solidFill>
                  <a:schemeClr val="tx1"/>
                </a:solidFill>
                <a:latin typeface="Arial"/>
                <a:ea typeface="+mn-ea"/>
                <a:cs typeface="Arial"/>
              </a:defRPr>
            </a:lvl5pPr>
            <a:lvl6pPr marL="2514459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633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807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81" indent="-228587" algn="l" defTabSz="457174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SzPct val="100000"/>
            </a:pPr>
            <a:r>
              <a:rPr lang="en-US" altLang="ko-KR" dirty="0" smtClean="0"/>
              <a:t>Decoder </a:t>
            </a:r>
            <a:r>
              <a:rPr lang="ko-KR" altLang="en-US" dirty="0" smtClean="0"/>
              <a:t>변화 </a:t>
            </a:r>
            <a:r>
              <a:rPr lang="ko-KR" altLang="en-US" dirty="0" smtClean="0"/>
              <a:t>결과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G : Global accuracy – </a:t>
            </a:r>
            <a:r>
              <a:rPr lang="ko-KR" altLang="en-US" dirty="0" smtClean="0"/>
              <a:t>올바르게 분류된 픽셀 비율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smtClean="0"/>
              <a:t>C : Class </a:t>
            </a:r>
            <a:r>
              <a:rPr lang="en-US" altLang="ko-KR" dirty="0" smtClean="0"/>
              <a:t>accuracy – </a:t>
            </a:r>
            <a:r>
              <a:rPr lang="ko-KR" altLang="en-US" dirty="0" smtClean="0"/>
              <a:t>각 </a:t>
            </a:r>
            <a:r>
              <a:rPr lang="en-US" altLang="ko-KR" dirty="0" smtClean="0"/>
              <a:t>class</a:t>
            </a:r>
            <a:r>
              <a:rPr lang="ko-KR" altLang="en-US" dirty="0" smtClean="0"/>
              <a:t>의 예측 정확도의 평균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mIoU</a:t>
            </a:r>
            <a:r>
              <a:rPr lang="en-US" altLang="ko-KR" dirty="0" smtClean="0"/>
              <a:t> : Mean of intersection over union</a:t>
            </a:r>
          </a:p>
          <a:p>
            <a:pPr lvl="1">
              <a:buSzPct val="100000"/>
            </a:pPr>
            <a:r>
              <a:rPr lang="en-US" altLang="ko-KR" dirty="0" smtClean="0"/>
              <a:t>BF : Semantic contour </a:t>
            </a:r>
            <a:r>
              <a:rPr lang="en-US" altLang="ko-KR" dirty="0" smtClean="0"/>
              <a:t>measure using F1 - score</a:t>
            </a:r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 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FCN-Basic</a:t>
            </a:r>
          </a:p>
          <a:p>
            <a:pPr lvl="2">
              <a:buSzPct val="100000"/>
            </a:pPr>
            <a:r>
              <a:rPr lang="ko-KR" altLang="en-US" dirty="0" smtClean="0"/>
              <a:t>성능은 비슷한 수준이지만 </a:t>
            </a:r>
            <a:r>
              <a:rPr lang="en-US" altLang="ko-KR" dirty="0" smtClean="0"/>
              <a:t>parameter</a:t>
            </a:r>
            <a:r>
              <a:rPr lang="ko-KR" altLang="en-US" dirty="0" smtClean="0"/>
              <a:t>수에서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이 훨씬 적은 결과가 도출되었고</a:t>
            </a:r>
            <a:r>
              <a:rPr lang="en-US" altLang="ko-KR" dirty="0" smtClean="0"/>
              <a:t>,</a:t>
            </a:r>
            <a:r>
              <a:rPr lang="ko-KR" altLang="en-US" dirty="0" smtClean="0"/>
              <a:t> </a:t>
            </a:r>
            <a:r>
              <a:rPr lang="en-US" altLang="ko-KR" dirty="0" smtClean="0"/>
              <a:t>memory</a:t>
            </a:r>
            <a:r>
              <a:rPr lang="ko-KR" altLang="en-US" dirty="0" smtClean="0"/>
              <a:t>측면에서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효율이 높음</a:t>
            </a:r>
            <a:endParaRPr lang="en-US" altLang="ko-KR" dirty="0" smtClean="0"/>
          </a:p>
          <a:p>
            <a:pPr lvl="2">
              <a:buSzPct val="100000"/>
            </a:pPr>
            <a:endParaRPr lang="ko-KR" altLang="en-US" dirty="0"/>
          </a:p>
        </p:txBody>
      </p:sp>
      <p:pic>
        <p:nvPicPr>
          <p:cNvPr id="1026" name="Picture 2"/>
          <p:cNvPicPr>
            <a:picLocks noGrp="1" noChangeAspect="1" noChangeArrowheads="1"/>
          </p:cNvPicPr>
          <p:nvPr>
            <p:ph sz="half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973" y="1268760"/>
            <a:ext cx="9111991" cy="244827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030937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altLang="ko-KR" dirty="0" smtClean="0"/>
              <a:t>Contributions(V</a:t>
            </a:r>
            <a:r>
              <a:rPr lang="en-US" altLang="ko-KR" dirty="0" smtClean="0"/>
              <a:t>)</a:t>
            </a:r>
            <a:endParaRPr lang="ko-KR" altLang="en-US" dirty="0"/>
          </a:p>
        </p:txBody>
      </p:sp>
      <p:sp>
        <p:nvSpPr>
          <p:cNvPr id="2" name="내용 개체 틀 1"/>
          <p:cNvSpPr>
            <a:spLocks noGrp="1"/>
          </p:cNvSpPr>
          <p:nvPr>
            <p:ph sz="half" idx="10"/>
          </p:nvPr>
        </p:nvSpPr>
        <p:spPr/>
        <p:txBody>
          <a:bodyPr/>
          <a:lstStyle/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</a:t>
            </a:r>
            <a:r>
              <a:rPr lang="ko-KR" altLang="en-US" dirty="0"/>
              <a:t> </a:t>
            </a:r>
            <a:r>
              <a:rPr lang="en-US" altLang="ko-KR" dirty="0" smtClean="0"/>
              <a:t>&amp;</a:t>
            </a:r>
            <a:r>
              <a:rPr lang="ko-KR" altLang="en-US" dirty="0" smtClean="0"/>
              <a:t> </a:t>
            </a:r>
            <a:r>
              <a:rPr lang="en-US" altLang="ko-KR" dirty="0"/>
              <a:t>FCN-Basic</a:t>
            </a:r>
          </a:p>
          <a:p>
            <a:pPr lvl="2">
              <a:buSzPct val="100000"/>
            </a:pPr>
            <a:r>
              <a:rPr lang="ko-KR" altLang="en-US" dirty="0"/>
              <a:t>성능은 비슷한 수준이지만 </a:t>
            </a:r>
            <a:r>
              <a:rPr lang="en-US" altLang="ko-KR" dirty="0"/>
              <a:t>parameter</a:t>
            </a:r>
            <a:r>
              <a:rPr lang="ko-KR" altLang="en-US" dirty="0"/>
              <a:t>수에서 </a:t>
            </a:r>
            <a:r>
              <a:rPr lang="en-US" altLang="ko-KR" dirty="0" err="1"/>
              <a:t>SegNet</a:t>
            </a:r>
            <a:r>
              <a:rPr lang="ko-KR" altLang="en-US" dirty="0"/>
              <a:t>이 훨씬 적은 결과가 도출되었고</a:t>
            </a:r>
            <a:r>
              <a:rPr lang="en-US" altLang="ko-KR" dirty="0"/>
              <a:t>,</a:t>
            </a:r>
            <a:r>
              <a:rPr lang="ko-KR" altLang="en-US" dirty="0"/>
              <a:t> </a:t>
            </a:r>
            <a:r>
              <a:rPr lang="en-US" altLang="ko-KR" dirty="0"/>
              <a:t>memory</a:t>
            </a:r>
            <a:r>
              <a:rPr lang="ko-KR" altLang="en-US" dirty="0"/>
              <a:t>측면에서 </a:t>
            </a:r>
            <a:r>
              <a:rPr lang="en-US" altLang="ko-KR" dirty="0" err="1"/>
              <a:t>SegNet</a:t>
            </a:r>
            <a:r>
              <a:rPr lang="ko-KR" altLang="en-US" dirty="0"/>
              <a:t>의 효율이 </a:t>
            </a:r>
            <a:r>
              <a:rPr lang="ko-KR" altLang="en-US" dirty="0" smtClean="0"/>
              <a:t>높음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err="1" smtClean="0"/>
              <a:t>SegNet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64</a:t>
            </a:r>
            <a:r>
              <a:rPr lang="ko-KR" altLang="en-US" dirty="0" smtClean="0"/>
              <a:t>개이고 </a:t>
            </a:r>
            <a:r>
              <a:rPr lang="en-US" altLang="ko-KR" dirty="0" smtClean="0"/>
              <a:t>FCN</a:t>
            </a:r>
            <a:r>
              <a:rPr lang="ko-KR" altLang="en-US" dirty="0" smtClean="0"/>
              <a:t>은 </a:t>
            </a:r>
            <a:r>
              <a:rPr lang="en-US" altLang="ko-KR" dirty="0" smtClean="0"/>
              <a:t>dimensionality Reduction</a:t>
            </a:r>
            <a:r>
              <a:rPr lang="ko-KR" altLang="en-US" dirty="0" smtClean="0"/>
              <a:t>을 사용하여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의 수가 적음</a:t>
            </a:r>
            <a:endParaRPr lang="en-US" altLang="ko-KR" dirty="0"/>
          </a:p>
          <a:p>
            <a:pPr lvl="2">
              <a:buSzPct val="100000"/>
            </a:pPr>
            <a:r>
              <a:rPr lang="ko-KR" altLang="en-US" dirty="0" smtClean="0"/>
              <a:t>그에 따라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이 </a:t>
            </a:r>
            <a:r>
              <a:rPr lang="en-US" altLang="ko-KR" dirty="0" smtClean="0"/>
              <a:t>forward pass</a:t>
            </a:r>
            <a:r>
              <a:rPr lang="ko-KR" altLang="en-US" dirty="0" smtClean="0"/>
              <a:t>인 </a:t>
            </a:r>
            <a:r>
              <a:rPr lang="en-US" altLang="ko-KR" dirty="0" smtClean="0"/>
              <a:t>inference</a:t>
            </a:r>
            <a:r>
              <a:rPr lang="ko-KR" altLang="en-US" dirty="0" smtClean="0"/>
              <a:t>에서 속도가 더 빠름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다른 관점으로</a:t>
            </a:r>
            <a:r>
              <a:rPr lang="en-US" altLang="ko-KR" dirty="0" smtClean="0"/>
              <a:t>, </a:t>
            </a:r>
            <a:r>
              <a:rPr lang="en-US" altLang="ko-KR" dirty="0" err="1" smtClean="0"/>
              <a:t>SegNet</a:t>
            </a:r>
            <a:r>
              <a:rPr lang="ko-KR" altLang="en-US" dirty="0" smtClean="0"/>
              <a:t>의 </a:t>
            </a:r>
            <a:r>
              <a:rPr lang="en-US" altLang="ko-KR" dirty="0" smtClean="0"/>
              <a:t>decoder network</a:t>
            </a:r>
            <a:r>
              <a:rPr lang="ko-KR" altLang="en-US" dirty="0" smtClean="0"/>
              <a:t>가 더 크기 때문에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보다 더 정확한 결과를 얻을  수 있음</a:t>
            </a:r>
            <a:endParaRPr lang="en-US" altLang="ko-KR" dirty="0" smtClean="0"/>
          </a:p>
          <a:p>
            <a:pPr lvl="1">
              <a:buSzPct val="100000"/>
            </a:pPr>
            <a:r>
              <a:rPr lang="en-US" altLang="ko-KR" dirty="0" err="1" smtClean="0"/>
              <a:t>SegNet</a:t>
            </a:r>
            <a:r>
              <a:rPr lang="en-US" altLang="ko-KR" dirty="0" smtClean="0"/>
              <a:t>-Basic &amp; FCN-Basic-</a:t>
            </a:r>
            <a:r>
              <a:rPr lang="en-US" altLang="ko-KR" dirty="0" err="1" smtClean="0"/>
              <a:t>NoAddition</a:t>
            </a:r>
            <a:r>
              <a:rPr lang="en-US" altLang="ko-KR" dirty="0" smtClean="0"/>
              <a:t>-</a:t>
            </a:r>
            <a:r>
              <a:rPr lang="en-US" altLang="ko-KR" dirty="0" err="1" smtClean="0"/>
              <a:t>NoDimReduction</a:t>
            </a:r>
            <a:endParaRPr lang="en-US" altLang="ko-KR" dirty="0" smtClean="0"/>
          </a:p>
          <a:p>
            <a:pPr lvl="2">
              <a:buSzPct val="100000"/>
            </a:pPr>
            <a:r>
              <a:rPr lang="en-US" altLang="ko-KR" dirty="0" smtClean="0"/>
              <a:t>Decoder </a:t>
            </a:r>
            <a:r>
              <a:rPr lang="ko-KR" altLang="en-US" dirty="0" smtClean="0"/>
              <a:t>크기가 후자가 전자보다 더 크지만 같은 </a:t>
            </a:r>
            <a:r>
              <a:rPr lang="ko-KR" altLang="en-US" dirty="0" err="1" smtClean="0"/>
              <a:t>에폭에서</a:t>
            </a:r>
            <a:r>
              <a:rPr lang="ko-KR" altLang="en-US" dirty="0" smtClean="0"/>
              <a:t> 전자의 정확도가 더 높음</a:t>
            </a:r>
            <a:endParaRPr lang="en-US" altLang="ko-KR" dirty="0" smtClean="0"/>
          </a:p>
          <a:p>
            <a:pPr lvl="2">
              <a:buSzPct val="100000"/>
            </a:pPr>
            <a:r>
              <a:rPr lang="ko-KR" altLang="en-US" dirty="0" smtClean="0"/>
              <a:t>결론적으로</a:t>
            </a:r>
            <a:r>
              <a:rPr lang="en-US" altLang="ko-KR" dirty="0" smtClean="0"/>
              <a:t>,</a:t>
            </a:r>
            <a:r>
              <a:rPr lang="ko-KR" altLang="en-US" dirty="0" smtClean="0"/>
              <a:t> 더 큰 </a:t>
            </a:r>
            <a:r>
              <a:rPr lang="en-US" altLang="ko-KR" dirty="0" smtClean="0"/>
              <a:t>decoder</a:t>
            </a:r>
            <a:r>
              <a:rPr lang="ko-KR" altLang="en-US" dirty="0" smtClean="0"/>
              <a:t>가 항상 높은 정확도에 기여하는 것이 아니라</a:t>
            </a:r>
            <a:r>
              <a:rPr lang="en-US" altLang="ko-KR" dirty="0"/>
              <a:t> </a:t>
            </a:r>
            <a:r>
              <a:rPr lang="en-US" altLang="ko-KR" dirty="0" smtClean="0"/>
              <a:t>encoder</a:t>
            </a:r>
            <a:r>
              <a:rPr lang="ko-KR" altLang="en-US" dirty="0" smtClean="0"/>
              <a:t>의 결과 </a:t>
            </a:r>
            <a:r>
              <a:rPr lang="en-US" altLang="ko-KR" dirty="0" smtClean="0"/>
              <a:t>feature map</a:t>
            </a:r>
            <a:r>
              <a:rPr lang="ko-KR" altLang="en-US" dirty="0" smtClean="0"/>
              <a:t>이 올바르게 추출되는 것도 중요함</a:t>
            </a:r>
            <a:r>
              <a:rPr lang="en-US" altLang="ko-KR" dirty="0" smtClean="0"/>
              <a:t>.</a:t>
            </a:r>
          </a:p>
          <a:p>
            <a:pPr lvl="2">
              <a:buSzPct val="100000"/>
            </a:pPr>
            <a:r>
              <a:rPr lang="ko-KR" altLang="en-US" dirty="0" smtClean="0"/>
              <a:t>이는 </a:t>
            </a:r>
            <a:r>
              <a:rPr lang="en-US" altLang="ko-KR" dirty="0" smtClean="0"/>
              <a:t>FCN-Basic-</a:t>
            </a:r>
            <a:r>
              <a:rPr lang="en-US" altLang="ko-KR" dirty="0" err="1" smtClean="0"/>
              <a:t>NoAddition</a:t>
            </a:r>
            <a:r>
              <a:rPr lang="ko-KR" altLang="en-US" dirty="0" smtClean="0"/>
              <a:t>과 </a:t>
            </a:r>
            <a:r>
              <a:rPr lang="en-US" altLang="ko-KR" dirty="0" smtClean="0"/>
              <a:t>FCN-Basic</a:t>
            </a:r>
            <a:r>
              <a:rPr lang="ko-KR" altLang="en-US" dirty="0" smtClean="0"/>
              <a:t>을 비교했을 때</a:t>
            </a:r>
            <a:r>
              <a:rPr lang="en-US" altLang="ko-KR" dirty="0" smtClean="0"/>
              <a:t>, FCN-Basic</a:t>
            </a:r>
            <a:r>
              <a:rPr lang="ko-KR" altLang="en-US" dirty="0" smtClean="0"/>
              <a:t>의 정확도가 더 좋은 결과의 원인에도 해당함</a:t>
            </a:r>
            <a:endParaRPr lang="en-US" altLang="ko-KR" dirty="0" smtClean="0"/>
          </a:p>
          <a:p>
            <a:pPr lvl="1">
              <a:buSzPct val="100000"/>
            </a:pPr>
            <a:endParaRPr lang="en-US" altLang="ko-KR" dirty="0" smtClean="0"/>
          </a:p>
          <a:p>
            <a:pPr lvl="2">
              <a:buSzPct val="100000"/>
            </a:pPr>
            <a:endParaRPr lang="en-US" altLang="ko-KR" dirty="0"/>
          </a:p>
          <a:p>
            <a:pPr lvl="1">
              <a:buSzPct val="100000"/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531017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</p:sld>
</file>

<file path=ppt/theme/theme1.xml><?xml version="1.0" encoding="utf-8"?>
<a:theme xmlns:a="http://schemas.openxmlformats.org/drawingml/2006/main" name="control_works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 name="2_CWI Black">
  <a:themeElements>
    <a:clrScheme name="National Instruments">
      <a:dk1>
        <a:sysClr val="windowText" lastClr="000000"/>
      </a:dk1>
      <a:lt1>
        <a:sysClr val="window" lastClr="FFFFFF"/>
      </a:lt1>
      <a:dk2>
        <a:srgbClr val="0A60A3"/>
      </a:dk2>
      <a:lt2>
        <a:srgbClr val="F5F5F5"/>
      </a:lt2>
      <a:accent1>
        <a:srgbClr val="0A60A3"/>
      </a:accent1>
      <a:accent2>
        <a:srgbClr val="93191A"/>
      </a:accent2>
      <a:accent3>
        <a:srgbClr val="79B04E"/>
      </a:accent3>
      <a:accent4>
        <a:srgbClr val="EDB72E"/>
      </a:accent4>
      <a:accent5>
        <a:srgbClr val="73AED9"/>
      </a:accent5>
      <a:accent6>
        <a:srgbClr val="DE8C2D"/>
      </a:accent6>
      <a:hlink>
        <a:srgbClr val="0A60A3"/>
      </a:hlink>
      <a:folHlink>
        <a:srgbClr val="73AED9"/>
      </a:folHlink>
    </a:clrScheme>
    <a:fontScheme name="NIDays">
      <a:majorFont>
        <a:latin typeface="Univers Com 55"/>
        <a:ea typeface="맑은 고딕"/>
        <a:cs typeface=""/>
      </a:majorFont>
      <a:minorFont>
        <a:latin typeface="Univers Com 45 Light"/>
        <a:ea typeface="맑은 고딕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grpFill/>
        <a:ln w="12700">
          <a:solidFill>
            <a:schemeClr val="tx1"/>
          </a:solidFill>
        </a:ln>
        <a:effectLst/>
      </a:spPr>
      <a:bodyPr rtlCol="0" anchor="ctr"/>
      <a:lstStyle>
        <a:defPPr algn="ctr">
          <a:defRPr/>
        </a:defPPr>
      </a:lstStyle>
      <a:style>
        <a:lnRef idx="3">
          <a:schemeClr val="lt1"/>
        </a:lnRef>
        <a:fillRef idx="1">
          <a:schemeClr val="accent3"/>
        </a:fillRef>
        <a:effectRef idx="1">
          <a:schemeClr val="accent3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>
          <a:defRPr sz="1200" dirty="0" smtClean="0">
            <a:latin typeface="+mn-ea"/>
            <a:ea typeface="+mn-ea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control_works</Template>
  <TotalTime>1798</TotalTime>
  <Words>737</Words>
  <Application>Microsoft Office PowerPoint</Application>
  <PresentationFormat>화면 슬라이드 쇼(4:3)</PresentationFormat>
  <Paragraphs>91</Paragraphs>
  <Slides>10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10</vt:i4>
      </vt:variant>
    </vt:vector>
  </HeadingPairs>
  <TitlesOfParts>
    <vt:vector size="12" baseType="lpstr">
      <vt:lpstr>control_works</vt:lpstr>
      <vt:lpstr>2_CWI Black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NB09</dc:creator>
  <cp:lastModifiedBy>NB09</cp:lastModifiedBy>
  <cp:revision>41</cp:revision>
  <dcterms:created xsi:type="dcterms:W3CDTF">2020-01-06T00:01:51Z</dcterms:created>
  <dcterms:modified xsi:type="dcterms:W3CDTF">2020-01-08T07:49:04Z</dcterms:modified>
</cp:coreProperties>
</file>