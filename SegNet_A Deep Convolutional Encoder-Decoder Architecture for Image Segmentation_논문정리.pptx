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6" d="100"/>
          <a:sy n="86" d="100"/>
        </p:scale>
        <p:origin x="-1494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6ADBC90-6130-4404-B8FE-3F165ECB9C65}" type="datetimeFigureOut">
              <a:rPr lang="ko-KR" altLang="en-US" smtClean="0"/>
              <a:t>2020-01-08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55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Abstraction</a:t>
            </a:r>
          </a:p>
          <a:p>
            <a:r>
              <a:rPr lang="en-US" altLang="ko-KR" dirty="0" smtClean="0"/>
              <a:t>Introduction</a:t>
            </a:r>
          </a:p>
          <a:p>
            <a:r>
              <a:rPr lang="en-US" altLang="ko-KR" dirty="0" smtClean="0"/>
              <a:t>Related works</a:t>
            </a:r>
          </a:p>
          <a:p>
            <a:r>
              <a:rPr lang="en-US" altLang="ko-KR" dirty="0" smtClean="0"/>
              <a:t>Contribution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539552" y="3933056"/>
            <a:ext cx="5688632" cy="569219"/>
          </a:xfrm>
        </p:spPr>
        <p:txBody>
          <a:bodyPr/>
          <a:lstStyle/>
          <a:p>
            <a:r>
              <a:rPr lang="en-US" altLang="ko-KR" b="0" dirty="0"/>
              <a:t>SegNet: A Deep Convolutional</a:t>
            </a:r>
          </a:p>
          <a:p>
            <a:r>
              <a:rPr lang="en-US" altLang="ko-KR" b="0" dirty="0"/>
              <a:t>Encoder-Decoder Architecture for Image</a:t>
            </a:r>
          </a:p>
          <a:p>
            <a:r>
              <a:rPr lang="en-US" altLang="ko-KR" b="0" dirty="0"/>
              <a:t>Segmentation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9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Abstraction</a:t>
            </a:r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encoder network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decoder network, classification layer</a:t>
            </a:r>
            <a:r>
              <a:rPr lang="ko-KR" altLang="en-US" dirty="0" smtClean="0"/>
              <a:t>로 구성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에서 사용했던 </a:t>
            </a:r>
            <a:r>
              <a:rPr lang="en-US" altLang="ko-KR" dirty="0" smtClean="0"/>
              <a:t>pooling </a:t>
            </a:r>
            <a:r>
              <a:rPr lang="en-US" altLang="ko-KR" dirty="0" err="1" smtClean="0"/>
              <a:t>indice</a:t>
            </a:r>
            <a:r>
              <a:rPr lang="ko-KR" altLang="en-US" dirty="0" smtClean="0"/>
              <a:t>를 대응하는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에서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할 때 사용하여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에서 학습이 </a:t>
            </a:r>
            <a:r>
              <a:rPr lang="ko-KR" altLang="en-US" dirty="0" err="1" smtClean="0"/>
              <a:t>필요없어짐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그 후</a:t>
            </a:r>
            <a:r>
              <a:rPr lang="en-US" altLang="ko-KR" dirty="0" smtClean="0"/>
              <a:t>, dense prediction</a:t>
            </a:r>
            <a:r>
              <a:rPr lang="ko-KR" altLang="en-US" dirty="0" smtClean="0"/>
              <a:t>을 위해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을 통하여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을 세밀화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은 다른 모델보다 훈련시킬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가 적어 계산속도가 빠르며 메모리 측면에서도 효율적인 강점을 가짐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Abstraction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6395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Background and Feature</a:t>
            </a:r>
          </a:p>
          <a:p>
            <a:pPr lvl="1">
              <a:buSzPct val="100000"/>
            </a:pPr>
            <a:r>
              <a:rPr lang="ko-KR" altLang="en-US" dirty="0" smtClean="0"/>
              <a:t>픽셀 단위 예측에서 행하는 </a:t>
            </a:r>
            <a:r>
              <a:rPr lang="en-US" altLang="ko-KR" dirty="0" smtClean="0"/>
              <a:t>sub-sampling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max pooling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</a:t>
            </a:r>
            <a:r>
              <a:rPr lang="ko-KR" altLang="en-US" dirty="0" smtClean="0"/>
              <a:t>를 모호하게 만들고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이를 해결하고자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을</a:t>
            </a:r>
            <a:r>
              <a:rPr lang="en-US" altLang="ko-KR" dirty="0" smtClean="0"/>
              <a:t> </a:t>
            </a:r>
            <a:r>
              <a:rPr lang="ko-KR" altLang="en-US" dirty="0" smtClean="0"/>
              <a:t>고안하게 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길</a:t>
            </a:r>
            <a:r>
              <a:rPr lang="en-US" altLang="ko-KR" dirty="0" smtClean="0"/>
              <a:t>, </a:t>
            </a:r>
            <a:r>
              <a:rPr lang="ko-KR" altLang="en-US" dirty="0" smtClean="0"/>
              <a:t>건물</a:t>
            </a:r>
            <a:r>
              <a:rPr lang="en-US" altLang="ko-KR" dirty="0" smtClean="0"/>
              <a:t>, </a:t>
            </a:r>
            <a:r>
              <a:rPr lang="ko-KR" altLang="en-US" dirty="0" smtClean="0"/>
              <a:t>차량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보행자 등의 다양한 </a:t>
            </a:r>
            <a:r>
              <a:rPr lang="en-US" altLang="ko-KR" dirty="0" smtClean="0"/>
              <a:t>class</a:t>
            </a:r>
            <a:r>
              <a:rPr lang="ko-KR" altLang="en-US" dirty="0" smtClean="0"/>
              <a:t>를 가지는 도로 장면에서 작은 크기를 가진 객체들의 경계를 명확히 구분하는 능력이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에 요구됨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VGG16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convolutional layer</a:t>
            </a:r>
            <a:r>
              <a:rPr lang="ko-KR" altLang="en-US" dirty="0" smtClean="0"/>
              <a:t>와 위상적으로 동일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Method</a:t>
            </a:r>
          </a:p>
          <a:p>
            <a:pPr lvl="1">
              <a:buSzPct val="100000"/>
            </a:pPr>
            <a:r>
              <a:rPr lang="ko-KR" altLang="en-US" dirty="0" smtClean="0"/>
              <a:t>본 논문은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decoding </a:t>
            </a:r>
            <a:r>
              <a:rPr lang="ko-KR" altLang="en-US" dirty="0" smtClean="0"/>
              <a:t>기법과 </a:t>
            </a:r>
            <a:r>
              <a:rPr lang="en-US" altLang="ko-KR" dirty="0" smtClean="0"/>
              <a:t>Fully Convolutional Network (FCN)</a:t>
            </a:r>
            <a:r>
              <a:rPr lang="ko-KR" altLang="en-US" dirty="0"/>
              <a:t> </a:t>
            </a:r>
            <a:r>
              <a:rPr lang="ko-KR" altLang="en-US" dirty="0" smtClean="0"/>
              <a:t>을 비교 분석하여 </a:t>
            </a:r>
            <a:r>
              <a:rPr lang="en-US" altLang="ko-KR" dirty="0" smtClean="0"/>
              <a:t>segmentation architecture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trade-off</a:t>
            </a:r>
            <a:r>
              <a:rPr lang="ko-KR" altLang="en-US" dirty="0" smtClean="0"/>
              <a:t>를 설명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본 논문에서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성능을 나타내기 위해 </a:t>
            </a:r>
            <a:r>
              <a:rPr lang="en-US" altLang="ko-KR" dirty="0" err="1" smtClean="0"/>
              <a:t>CamVid</a:t>
            </a:r>
            <a:r>
              <a:rPr lang="en-US" altLang="ko-KR" dirty="0" smtClean="0"/>
              <a:t> </a:t>
            </a:r>
            <a:r>
              <a:rPr lang="ko-KR" altLang="en-US" dirty="0" smtClean="0"/>
              <a:t>도로 장면과 </a:t>
            </a:r>
            <a:r>
              <a:rPr lang="en-US" altLang="ko-KR" dirty="0" smtClean="0"/>
              <a:t>SUN RGB-D </a:t>
            </a:r>
            <a:r>
              <a:rPr lang="ko-KR" altLang="en-US" dirty="0" smtClean="0"/>
              <a:t>실내 장면을 사용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Introduction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7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Related works</a:t>
            </a:r>
          </a:p>
          <a:p>
            <a:pPr lvl="1">
              <a:buSzPct val="100000"/>
            </a:pPr>
            <a:r>
              <a:rPr lang="en-US" altLang="ko-KR" dirty="0" smtClean="0"/>
              <a:t>Convolutional neural network</a:t>
            </a:r>
            <a:r>
              <a:rPr lang="ko-KR" altLang="en-US" dirty="0" smtClean="0"/>
              <a:t>가 객체 분류에 성공적인 결과를 도출 함에 따라</a:t>
            </a:r>
            <a:r>
              <a:rPr lang="en-US" altLang="ko-KR" dirty="0"/>
              <a:t> </a:t>
            </a:r>
            <a:r>
              <a:rPr lang="ko-KR" altLang="en-US" dirty="0" smtClean="0"/>
              <a:t>해당 신경망들을 </a:t>
            </a:r>
            <a:r>
              <a:rPr lang="en-US" altLang="ko-KR" dirty="0" smtClean="0"/>
              <a:t>segmentation</a:t>
            </a:r>
            <a:r>
              <a:rPr lang="ko-KR" altLang="en-US" dirty="0"/>
              <a:t> </a:t>
            </a:r>
            <a:r>
              <a:rPr lang="en-US" altLang="ko-KR" dirty="0" smtClean="0"/>
              <a:t>problem</a:t>
            </a:r>
            <a:r>
              <a:rPr lang="ko-KR" altLang="en-US" dirty="0" smtClean="0"/>
              <a:t>에 적용하려는 시도가 있었지만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결과로 나온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이 객체의 경계가 아닌 블록의 경계를 가짐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upsampli</a:t>
            </a:r>
            <a:r>
              <a:rPr lang="en-US" altLang="ko-KR" dirty="0" err="1"/>
              <a:t>n</a:t>
            </a:r>
            <a:r>
              <a:rPr lang="en-US" altLang="ko-KR" dirty="0" err="1" smtClean="0"/>
              <a:t>g</a:t>
            </a:r>
            <a:r>
              <a:rPr lang="ko-KR" altLang="en-US" dirty="0" smtClean="0"/>
              <a:t>시 학습이 필요하고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신경망수가 늘어나 </a:t>
            </a:r>
            <a:r>
              <a:rPr lang="en-US" altLang="ko-KR" dirty="0" smtClean="0"/>
              <a:t>end-to-end </a:t>
            </a:r>
            <a:r>
              <a:rPr lang="ko-KR" altLang="en-US" dirty="0" smtClean="0"/>
              <a:t>학습에 시간이 다소 소요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또한 </a:t>
            </a:r>
            <a:r>
              <a:rPr lang="en-US" altLang="ko-KR" dirty="0" smtClean="0"/>
              <a:t>FCN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skip architecture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에서 도출된 </a:t>
            </a:r>
            <a:r>
              <a:rPr lang="en-US" altLang="ko-KR" dirty="0" smtClean="0"/>
              <a:t>map</a:t>
            </a:r>
            <a:r>
              <a:rPr lang="ko-KR" altLang="en-US" dirty="0" smtClean="0"/>
              <a:t>을 저장했다가 재사용하기 때문에 </a:t>
            </a:r>
            <a:r>
              <a:rPr lang="en-US" altLang="ko-KR" dirty="0" smtClean="0"/>
              <a:t>memory </a:t>
            </a:r>
            <a:r>
              <a:rPr lang="ko-KR" altLang="en-US" dirty="0" smtClean="0"/>
              <a:t>측면에서 비효율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Recurrent Neural Network (RNN)</a:t>
            </a:r>
            <a:r>
              <a:rPr lang="ko-KR" altLang="en-US" dirty="0" smtClean="0"/>
              <a:t>을 더하여 세밀한 경계를 도출한 결과가 존재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Related works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4542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구조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filter bank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한 후</a:t>
            </a:r>
            <a:r>
              <a:rPr lang="en-US" altLang="ko-KR" dirty="0" smtClean="0"/>
              <a:t>, batch normalization, </a:t>
            </a:r>
            <a:r>
              <a:rPr lang="en-US" altLang="ko-KR" dirty="0" err="1" smtClean="0"/>
              <a:t>ReLU</a:t>
            </a:r>
            <a:r>
              <a:rPr lang="ko-KR" altLang="en-US" dirty="0"/>
              <a:t> </a:t>
            </a:r>
            <a:r>
              <a:rPr lang="ko-KR" altLang="en-US" dirty="0" smtClean="0"/>
              <a:t>적용</a:t>
            </a:r>
            <a:r>
              <a:rPr lang="en-US" altLang="ko-KR" dirty="0" smtClean="0"/>
              <a:t>, max-pooling</a:t>
            </a:r>
            <a:r>
              <a:rPr lang="ko-KR" altLang="en-US" dirty="0" smtClean="0"/>
              <a:t>이 순차적으로 일어남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Decoder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을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한 후</a:t>
            </a:r>
            <a:r>
              <a:rPr lang="en-US" altLang="ko-KR" dirty="0" smtClean="0"/>
              <a:t>, filter bank</a:t>
            </a:r>
            <a:r>
              <a:rPr lang="ko-KR" altLang="en-US" dirty="0"/>
              <a:t> </a:t>
            </a:r>
            <a:r>
              <a:rPr lang="en-US" altLang="ko-KR" dirty="0" smtClean="0"/>
              <a:t>convolution, batch normalization</a:t>
            </a:r>
            <a:r>
              <a:rPr lang="ko-KR" altLang="en-US" dirty="0" smtClean="0"/>
              <a:t>의 과정을 거침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Decoder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filter bank</a:t>
            </a:r>
            <a:r>
              <a:rPr lang="ko-KR" altLang="en-US" dirty="0" smtClean="0"/>
              <a:t>는 훈련을 통하여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가 변경될 수 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마지막 </a:t>
            </a:r>
            <a:r>
              <a:rPr lang="en-US" altLang="ko-KR" dirty="0" smtClean="0"/>
              <a:t>decoder layer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multi-channel</a:t>
            </a:r>
            <a:r>
              <a:rPr lang="ko-KR" altLang="en-US" dirty="0" smtClean="0"/>
              <a:t>을 가진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을 도출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최종적으로 </a:t>
            </a:r>
            <a:r>
              <a:rPr lang="en-US" altLang="ko-KR" dirty="0" smtClean="0"/>
              <a:t>multi-channel feature map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soft-max </a:t>
            </a:r>
            <a:r>
              <a:rPr lang="ko-KR" altLang="en-US" dirty="0" smtClean="0"/>
              <a:t>함수를 거쳐 지정했던 </a:t>
            </a:r>
            <a:r>
              <a:rPr lang="en-US" altLang="ko-KR" dirty="0" smtClean="0"/>
              <a:t>class</a:t>
            </a:r>
            <a:r>
              <a:rPr lang="ko-KR" altLang="en-US" dirty="0" smtClean="0"/>
              <a:t>의 수만큼의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을 가진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이 결과로 </a:t>
            </a:r>
            <a:r>
              <a:rPr lang="ko-KR" altLang="en-US" dirty="0" smtClean="0"/>
              <a:t>나옴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196752"/>
            <a:ext cx="8154726" cy="2304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987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과의 차이점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encoder output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으로 전달할 때</a:t>
            </a:r>
            <a:r>
              <a:rPr lang="en-US" altLang="ko-KR" dirty="0" smtClean="0"/>
              <a:t>, channel</a:t>
            </a:r>
            <a:r>
              <a:rPr lang="ko-KR" altLang="en-US" dirty="0" smtClean="0"/>
              <a:t>의 차원수를 감소시키고  </a:t>
            </a:r>
            <a:r>
              <a:rPr lang="en-US" altLang="ko-KR" dirty="0" smtClean="0"/>
              <a:t>inverse convolution(deconvolution)</a:t>
            </a:r>
            <a:r>
              <a:rPr lang="ko-KR" altLang="en-US" dirty="0" smtClean="0"/>
              <a:t>으로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을 진행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에서 기억했던 </a:t>
            </a:r>
            <a:r>
              <a:rPr lang="en-US" altLang="ko-KR" dirty="0" smtClean="0"/>
              <a:t>pooling indices</a:t>
            </a:r>
            <a:r>
              <a:rPr lang="ko-KR" altLang="en-US" dirty="0" smtClean="0"/>
              <a:t>를 이용하여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한 후</a:t>
            </a:r>
            <a:r>
              <a:rPr lang="en-US" altLang="ko-KR" dirty="0" smtClean="0"/>
              <a:t>, </a:t>
            </a:r>
            <a:r>
              <a:rPr lang="ko-KR" altLang="en-US" dirty="0" err="1"/>
              <a:t>훈련가능한</a:t>
            </a:r>
            <a:r>
              <a:rPr lang="ko-KR" altLang="en-US" dirty="0"/>
              <a:t> </a:t>
            </a:r>
            <a:r>
              <a:rPr lang="en-US" altLang="ko-KR" dirty="0"/>
              <a:t>filter bank</a:t>
            </a:r>
            <a:r>
              <a:rPr lang="ko-KR" altLang="en-US" dirty="0"/>
              <a:t>를 </a:t>
            </a:r>
            <a:r>
              <a:rPr lang="ko-KR" altLang="en-US" dirty="0" smtClean="0"/>
              <a:t>사용하</a:t>
            </a:r>
            <a:r>
              <a:rPr lang="ko-KR" altLang="en-US" dirty="0"/>
              <a:t>여</a:t>
            </a:r>
            <a:r>
              <a:rPr lang="ko-KR" altLang="en-US" dirty="0" smtClean="0"/>
              <a:t>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densifying</a:t>
            </a: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3140968"/>
            <a:ext cx="6558034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913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Decoder </a:t>
            </a:r>
            <a:r>
              <a:rPr lang="ko-KR" altLang="en-US" dirty="0" smtClean="0"/>
              <a:t>변화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본 논문에서는 </a:t>
            </a:r>
            <a:r>
              <a:rPr lang="en-US" altLang="ko-KR" dirty="0" smtClean="0"/>
              <a:t>FCN</a:t>
            </a:r>
            <a:r>
              <a:rPr lang="ko-KR" altLang="en-US" dirty="0" smtClean="0"/>
              <a:t>과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decoder technique</a:t>
            </a:r>
            <a:r>
              <a:rPr lang="ko-KR" altLang="en-US" dirty="0" smtClean="0"/>
              <a:t>을 변화시켜 성능을 비교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</a:t>
            </a:r>
          </a:p>
          <a:p>
            <a:pPr lvl="2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의 소형화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7x7 kernel, 4 encoder, 4 decoder </a:t>
            </a:r>
            <a:r>
              <a:rPr lang="ko-KR" altLang="en-US" dirty="0" smtClean="0"/>
              <a:t>사용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내의 기능들은 앞서 언급된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과 동일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-Basic-</a:t>
            </a:r>
            <a:r>
              <a:rPr lang="en-US" altLang="ko-KR" dirty="0" err="1" smtClean="0"/>
              <a:t>SingleChannelDecoder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Decoder filter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1</a:t>
            </a:r>
            <a:r>
              <a:rPr lang="ko-KR" altLang="en-US" dirty="0" smtClean="0"/>
              <a:t>개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훈련시킬</a:t>
            </a:r>
            <a:r>
              <a:rPr lang="en-US" altLang="ko-KR" dirty="0"/>
              <a:t>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수가 줄어드는 장점일 지님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-Basic-</a:t>
            </a:r>
            <a:r>
              <a:rPr lang="en-US" altLang="ko-KR" dirty="0" err="1" smtClean="0"/>
              <a:t>EncoderAddition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의 각 층마다 </a:t>
            </a:r>
            <a:r>
              <a:rPr lang="en-US" altLang="ko-KR" dirty="0" smtClean="0"/>
              <a:t>64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을 대응하는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층에 더함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Decoder</a:t>
            </a:r>
            <a:r>
              <a:rPr lang="ko-KR" altLang="en-US" dirty="0" smtClean="0"/>
              <a:t>에서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하고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이 진행된 후에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과 결합되는 형태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Contributions(III)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7468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 smtClean="0"/>
              <a:t>FCN-Basic</a:t>
            </a:r>
          </a:p>
          <a:p>
            <a:pPr lvl="2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</a:t>
            </a:r>
            <a:r>
              <a:rPr lang="ko-KR" altLang="en-US" dirty="0" smtClean="0"/>
              <a:t>과 대응되도록 </a:t>
            </a:r>
            <a:r>
              <a:rPr lang="en-US" altLang="ko-KR" dirty="0" smtClean="0"/>
              <a:t>FCN-Basic</a:t>
            </a:r>
            <a:r>
              <a:rPr lang="ko-KR" altLang="en-US" dirty="0" smtClean="0"/>
              <a:t>을 설계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와 변함이 없음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FCN-Basic-</a:t>
            </a:r>
            <a:r>
              <a:rPr lang="en-US" altLang="ko-KR" dirty="0" err="1" smtClean="0"/>
              <a:t>NoAddtion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Skip structure</a:t>
            </a:r>
            <a:r>
              <a:rPr lang="ko-KR" altLang="en-US" dirty="0" smtClean="0"/>
              <a:t>를 사용하지 않고 </a:t>
            </a:r>
            <a:r>
              <a:rPr lang="en-US" altLang="ko-KR" dirty="0" err="1" smtClean="0"/>
              <a:t>upsampling</a:t>
            </a:r>
            <a:r>
              <a:rPr lang="en-US" altLang="ko-KR" dirty="0" smtClean="0"/>
              <a:t> kernel</a:t>
            </a:r>
            <a:r>
              <a:rPr lang="ko-KR" altLang="en-US" dirty="0" smtClean="0"/>
              <a:t>만 훈련시키며 </a:t>
            </a:r>
            <a:r>
              <a:rPr lang="en-US" altLang="ko-KR" dirty="0" smtClean="0"/>
              <a:t>decoding</a:t>
            </a:r>
          </a:p>
          <a:p>
            <a:pPr lvl="1">
              <a:buSzPct val="100000"/>
            </a:pPr>
            <a:r>
              <a:rPr lang="en-US" altLang="ko-KR" dirty="0" smtClean="0"/>
              <a:t>FCN-Basic-</a:t>
            </a:r>
            <a:r>
              <a:rPr lang="en-US" altLang="ko-KR" dirty="0" err="1" smtClean="0"/>
              <a:t>NoDimReduction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일반적 </a:t>
            </a:r>
            <a:r>
              <a:rPr lang="en-US" altLang="ko-KR" dirty="0" smtClean="0"/>
              <a:t>FCN : </a:t>
            </a:r>
            <a:r>
              <a:rPr lang="ko-KR" altLang="en-US" dirty="0" smtClean="0"/>
              <a:t>마지막 </a:t>
            </a:r>
            <a:r>
              <a:rPr lang="en-US" altLang="ko-KR" dirty="0" smtClean="0"/>
              <a:t>encoder layer output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수를 줄임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본 </a:t>
            </a:r>
            <a:r>
              <a:rPr lang="en-US" altLang="ko-KR" dirty="0" smtClean="0"/>
              <a:t>decoder technique</a:t>
            </a:r>
            <a:r>
              <a:rPr lang="ko-KR" altLang="en-US" dirty="0" smtClean="0"/>
              <a:t>는 마지막 </a:t>
            </a:r>
            <a:r>
              <a:rPr lang="en-US" altLang="ko-KR" dirty="0" smtClean="0"/>
              <a:t>encoder feature map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수를 줄이지 않아 </a:t>
            </a:r>
            <a:r>
              <a:rPr lang="en-US" altLang="ko-KR" dirty="0" err="1" smtClean="0"/>
              <a:t>endcoder</a:t>
            </a:r>
            <a:r>
              <a:rPr lang="ko-KR" altLang="en-US" dirty="0" smtClean="0"/>
              <a:t>와 대응되는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수가 같음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Bilinear-Interpolation</a:t>
            </a:r>
          </a:p>
          <a:p>
            <a:pPr lvl="2">
              <a:buSzPct val="100000"/>
            </a:pPr>
            <a:r>
              <a:rPr lang="en-US" altLang="ko-KR" dirty="0" smtClean="0"/>
              <a:t>fixed-parameter</a:t>
            </a:r>
            <a:r>
              <a:rPr lang="ko-KR" altLang="en-US" dirty="0" smtClean="0"/>
              <a:t>를 가진 </a:t>
            </a:r>
            <a:r>
              <a:rPr lang="ko-KR" altLang="en-US" dirty="0" err="1" smtClean="0"/>
              <a:t>선형보간법을</a:t>
            </a:r>
            <a:r>
              <a:rPr lang="ko-KR" altLang="en-US" dirty="0" smtClean="0"/>
              <a:t> 이용하여 </a:t>
            </a:r>
            <a:r>
              <a:rPr lang="en-US" altLang="ko-KR" dirty="0" err="1" smtClean="0"/>
              <a:t>upsampling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err="1" smtClean="0"/>
              <a:t>Upsampling</a:t>
            </a:r>
            <a:r>
              <a:rPr lang="ko-KR" altLang="en-US" dirty="0" smtClean="0"/>
              <a:t>의 학습이 존재하지 않음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Contributions(IV)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11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Contributions(IV)</a:t>
            </a:r>
            <a:endParaRPr lang="ko-KR" altLang="en-US" dirty="0"/>
          </a:p>
        </p:txBody>
      </p:sp>
      <p:sp>
        <p:nvSpPr>
          <p:cNvPr id="6" name="내용 개체 틀 2"/>
          <p:cNvSpPr txBox="1">
            <a:spLocks/>
          </p:cNvSpPr>
          <p:nvPr/>
        </p:nvSpPr>
        <p:spPr bwMode="auto">
          <a:xfrm>
            <a:off x="179513" y="736601"/>
            <a:ext cx="8482356" cy="53875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 marL="342900" indent="-342900" algn="l" defTabSz="455613" rtl="0" eaLnBrk="1" fontAlgn="base" latinLnBrk="1" hangingPunct="1">
              <a:lnSpc>
                <a:spcPct val="150000"/>
              </a:lnSpc>
              <a:spcBef>
                <a:spcPts val="575"/>
              </a:spcBef>
              <a:spcAft>
                <a:spcPct val="0"/>
              </a:spcAft>
              <a:buClr>
                <a:srgbClr val="000AF2"/>
              </a:buClr>
              <a:buSzPct val="70000"/>
              <a:buFont typeface="맑은 고딕" pitchFamily="50" charset="-127"/>
              <a:buChar char="■"/>
              <a:defRPr lang="ko-KR" altLang="en-US" sz="20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41350" indent="-185738" algn="l" defTabSz="455613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0CF2"/>
              </a:buClr>
              <a:buSzPct val="70000"/>
              <a:buFont typeface="맑은 고딕" pitchFamily="50" charset="-127"/>
              <a:buChar char="▶"/>
              <a:defRPr lang="ko-KR" altLang="en-US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455613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0CF2"/>
              </a:buClr>
              <a:buSzPct val="70000"/>
              <a:buFont typeface="Wingdings" pitchFamily="2" charset="2"/>
              <a:buChar char="l"/>
              <a:defRPr lang="ko-KR" altLang="en-US" sz="14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598613" indent="-227013" algn="l" defTabSz="455613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0CF2"/>
              </a:buClr>
              <a:buSzPct val="70000"/>
              <a:buFont typeface="Wingdings" pitchFamily="2" charset="2"/>
              <a:buChar char="Ø"/>
              <a:defRPr lang="ko-KR" altLang="en-US" sz="11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7213" algn="l" defTabSz="455613" rtl="0" eaLnBrk="1" fontAlgn="base" latinLnBrk="1" hangingPunct="1">
              <a:spcBef>
                <a:spcPct val="20000"/>
              </a:spcBef>
              <a:spcAft>
                <a:spcPct val="0"/>
              </a:spcAft>
              <a:buClr>
                <a:srgbClr val="7F7F7F"/>
              </a:buClr>
              <a:buSzPct val="70000"/>
              <a:buFont typeface="Arial" pitchFamily="34" charset="0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459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33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07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81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SzPct val="100000"/>
            </a:pPr>
            <a:r>
              <a:rPr lang="ko-KR" altLang="en-US" dirty="0" smtClean="0"/>
              <a:t>결과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G : Global accuracy</a:t>
            </a:r>
          </a:p>
          <a:p>
            <a:pPr lvl="2">
              <a:buSzPct val="100000"/>
            </a:pPr>
            <a:r>
              <a:rPr lang="en-US" altLang="ko-KR" dirty="0" smtClean="0"/>
              <a:t>C : Class accuracy</a:t>
            </a:r>
          </a:p>
          <a:p>
            <a:pPr lvl="2">
              <a:buSzPct val="100000"/>
            </a:pPr>
            <a:r>
              <a:rPr lang="en-US" altLang="ko-KR" dirty="0" err="1" smtClean="0"/>
              <a:t>mIoU</a:t>
            </a:r>
            <a:r>
              <a:rPr lang="en-US" altLang="ko-KR" dirty="0" smtClean="0"/>
              <a:t> : Mean of intersection over union</a:t>
            </a:r>
          </a:p>
          <a:p>
            <a:pPr lvl="2">
              <a:buSzPct val="100000"/>
            </a:pPr>
            <a:r>
              <a:rPr lang="en-US" altLang="ko-KR" dirty="0" smtClean="0"/>
              <a:t>BF : Semantic contour measure</a:t>
            </a:r>
          </a:p>
          <a:p>
            <a:pPr lvl="2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 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FCN-Basic</a:t>
            </a:r>
            <a:r>
              <a:rPr lang="ko-KR" altLang="en-US" dirty="0" smtClean="0"/>
              <a:t>의 성능은 비슷한 수준이지만 </a:t>
            </a:r>
            <a:r>
              <a:rPr lang="en-US" altLang="ko-KR" dirty="0" err="1" smtClean="0"/>
              <a:t>parmeter</a:t>
            </a:r>
            <a:r>
              <a:rPr lang="ko-KR" altLang="en-US" dirty="0" smtClean="0"/>
              <a:t>수에서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이 훨씬 적은 결과가 도출되었고</a:t>
            </a:r>
            <a:r>
              <a:rPr lang="en-US" altLang="ko-KR" dirty="0" smtClean="0"/>
              <a:t>,</a:t>
            </a:r>
            <a:r>
              <a:rPr lang="ko-KR" altLang="en-US" dirty="0" smtClean="0"/>
              <a:t> </a:t>
            </a:r>
            <a:r>
              <a:rPr lang="en-US" altLang="ko-KR" dirty="0" smtClean="0"/>
              <a:t>memory</a:t>
            </a:r>
            <a:r>
              <a:rPr lang="ko-KR" altLang="en-US" dirty="0" smtClean="0"/>
              <a:t>측면에서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효율이 높음</a:t>
            </a:r>
            <a:endParaRPr lang="en-US" altLang="ko-KR" dirty="0" smtClean="0"/>
          </a:p>
          <a:p>
            <a:pPr lvl="2">
              <a:buSzPct val="100000"/>
            </a:pPr>
            <a:endParaRPr lang="ko-KR" alt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sz="half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73" y="1268760"/>
            <a:ext cx="9111991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30937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1679</TotalTime>
  <Words>592</Words>
  <Application>Microsoft Office PowerPoint</Application>
  <PresentationFormat>화면 슬라이드 쇼(4:3)</PresentationFormat>
  <Paragraphs>79</Paragraphs>
  <Slides>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9</vt:i4>
      </vt:variant>
    </vt:vector>
  </HeadingPairs>
  <TitlesOfParts>
    <vt:vector size="11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34</cp:revision>
  <dcterms:created xsi:type="dcterms:W3CDTF">2020-01-06T00:01:51Z</dcterms:created>
  <dcterms:modified xsi:type="dcterms:W3CDTF">2020-01-08T05:28:32Z</dcterms:modified>
</cp:coreProperties>
</file>