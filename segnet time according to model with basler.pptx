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7" r:id="rId4"/>
    <p:sldId id="258" r:id="rId5"/>
  </p:sldIdLst>
  <p:sldSz cx="9144000" cy="6858000" type="screen4x3"/>
  <p:notesSz cx="7772400" cy="100584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1494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stomShape 1"/>
          <p:cNvSpPr/>
          <p:nvPr/>
        </p:nvSpPr>
        <p:spPr>
          <a:xfrm>
            <a:off x="3132000" y="6453360"/>
            <a:ext cx="6011280" cy="403920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" name="CustomShape 2"/>
          <p:cNvSpPr/>
          <p:nvPr/>
        </p:nvSpPr>
        <p:spPr>
          <a:xfrm>
            <a:off x="0" y="6453360"/>
            <a:ext cx="3131280" cy="403920"/>
          </a:xfrm>
          <a:prstGeom prst="rect">
            <a:avLst/>
          </a:prstGeom>
          <a:solidFill>
            <a:srgbClr val="000A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" name="CustomShape 3"/>
          <p:cNvSpPr/>
          <p:nvPr/>
        </p:nvSpPr>
        <p:spPr>
          <a:xfrm>
            <a:off x="0" y="6548040"/>
            <a:ext cx="2914920" cy="214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FFFFFF"/>
                </a:solidFill>
                <a:latin typeface="Arial"/>
                <a:ea typeface="Khand"/>
              </a:rPr>
              <a:t>Copyright</a:t>
            </a:r>
            <a:r>
              <a:rPr lang="en-US" sz="1000" b="0" strike="noStrike" spc="-1">
                <a:solidFill>
                  <a:srgbClr val="FFFFFF"/>
                </a:solidFill>
                <a:latin typeface="Arial"/>
                <a:ea typeface="Khand Medium"/>
              </a:rPr>
              <a:t>ⓒ ControlWorks. </a:t>
            </a:r>
            <a:r>
              <a:rPr lang="en-US" sz="1000" b="0" strike="noStrike" spc="-1">
                <a:solidFill>
                  <a:srgbClr val="FFFFFF"/>
                </a:solidFill>
                <a:latin typeface="Arial"/>
                <a:ea typeface="Khand"/>
              </a:rPr>
              <a:t>All rights reserved.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" name="Line 4"/>
          <p:cNvSpPr/>
          <p:nvPr/>
        </p:nvSpPr>
        <p:spPr>
          <a:xfrm>
            <a:off x="6300000" y="3933720"/>
            <a:ext cx="360" cy="2303280"/>
          </a:xfrm>
          <a:prstGeom prst="line">
            <a:avLst/>
          </a:prstGeom>
          <a:ln w="15840">
            <a:solidFill>
              <a:srgbClr val="000099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4" name="Picture 2"/>
          <p:cNvPicPr/>
          <p:nvPr/>
        </p:nvPicPr>
        <p:blipFill>
          <a:blip r:embed="rId14"/>
          <a:stretch/>
        </p:blipFill>
        <p:spPr>
          <a:xfrm>
            <a:off x="5382360" y="1268640"/>
            <a:ext cx="3509640" cy="583920"/>
          </a:xfrm>
          <a:prstGeom prst="rect">
            <a:avLst/>
          </a:prstGeom>
          <a:ln>
            <a:noFill/>
          </a:ln>
        </p:spPr>
      </p:pic>
      <p:sp>
        <p:nvSpPr>
          <p:cNvPr id="5" name="PlaceHolder 5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6" name="PlaceHolder 6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ustomShape 1"/>
          <p:cNvSpPr/>
          <p:nvPr/>
        </p:nvSpPr>
        <p:spPr>
          <a:xfrm>
            <a:off x="3132000" y="6453360"/>
            <a:ext cx="6011280" cy="403920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4" name="CustomShape 2"/>
          <p:cNvSpPr/>
          <p:nvPr/>
        </p:nvSpPr>
        <p:spPr>
          <a:xfrm>
            <a:off x="0" y="6453360"/>
            <a:ext cx="3131280" cy="403920"/>
          </a:xfrm>
          <a:prstGeom prst="rect">
            <a:avLst/>
          </a:prstGeom>
          <a:solidFill>
            <a:srgbClr val="000A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5" name="CustomShape 3"/>
          <p:cNvSpPr/>
          <p:nvPr/>
        </p:nvSpPr>
        <p:spPr>
          <a:xfrm>
            <a:off x="0" y="6548040"/>
            <a:ext cx="2914920" cy="214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FFFFFF"/>
                </a:solidFill>
                <a:latin typeface="Arial"/>
                <a:ea typeface="Khand"/>
              </a:rPr>
              <a:t>Copyright</a:t>
            </a:r>
            <a:r>
              <a:rPr lang="en-US" sz="1000" b="0" strike="noStrike" spc="-1">
                <a:solidFill>
                  <a:srgbClr val="FFFFFF"/>
                </a:solidFill>
                <a:latin typeface="Arial"/>
                <a:ea typeface="Khand Medium"/>
              </a:rPr>
              <a:t>ⓒ ControlWorks. </a:t>
            </a:r>
            <a:r>
              <a:rPr lang="en-US" sz="1000" b="0" strike="noStrike" spc="-1">
                <a:solidFill>
                  <a:srgbClr val="FFFFFF"/>
                </a:solidFill>
                <a:latin typeface="Arial"/>
                <a:ea typeface="Khand"/>
              </a:rPr>
              <a:t>All rights reserved.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46" name="CustomShape 4"/>
          <p:cNvSpPr/>
          <p:nvPr/>
        </p:nvSpPr>
        <p:spPr>
          <a:xfrm>
            <a:off x="0" y="6491520"/>
            <a:ext cx="9143280" cy="376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fld id="{938107A1-DAC5-4086-92D4-6AEDFE91FB90}" type="slidenum">
              <a:rPr lang="en-US" sz="1100" b="0" strike="noStrike" spc="-1">
                <a:solidFill>
                  <a:srgbClr val="000099"/>
                </a:solidFill>
                <a:latin typeface="Arial"/>
                <a:ea typeface="Univers LT Std 45 Light"/>
              </a:rPr>
              <a:t>‹#›</a:t>
            </a:fld>
            <a:endParaRPr lang="en-US" sz="1100" b="0" strike="noStrike" spc="-1">
              <a:latin typeface="Arial"/>
            </a:endParaRPr>
          </a:p>
        </p:txBody>
      </p:sp>
      <p:sp>
        <p:nvSpPr>
          <p:cNvPr id="47" name="CustomShape 5"/>
          <p:cNvSpPr/>
          <p:nvPr/>
        </p:nvSpPr>
        <p:spPr>
          <a:xfrm>
            <a:off x="4342320" y="6500160"/>
            <a:ext cx="458280" cy="310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fld id="{36EE8546-F8D9-4623-85D6-8E33D2C0FE8E}" type="slidenum">
              <a:rPr lang="en-US" sz="1000" b="0" strike="noStrike" spc="-1">
                <a:solidFill>
                  <a:srgbClr val="FFFFFF"/>
                </a:solidFill>
                <a:latin typeface="Arial"/>
                <a:ea typeface="맑은 고딕"/>
              </a:rPr>
              <a:t>‹#›</a:t>
            </a:fld>
            <a:endParaRPr lang="en-US" sz="1000" b="0" strike="noStrike" spc="-1">
              <a:latin typeface="Arial"/>
            </a:endParaRPr>
          </a:p>
        </p:txBody>
      </p:sp>
      <p:sp>
        <p:nvSpPr>
          <p:cNvPr id="48" name="Line 6"/>
          <p:cNvSpPr/>
          <p:nvPr/>
        </p:nvSpPr>
        <p:spPr>
          <a:xfrm>
            <a:off x="0" y="548640"/>
            <a:ext cx="9144000" cy="360"/>
          </a:xfrm>
          <a:prstGeom prst="line">
            <a:avLst/>
          </a:prstGeom>
          <a:ln w="38160">
            <a:solidFill>
              <a:srgbClr val="000099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49" name="Picture 2"/>
          <p:cNvPicPr/>
          <p:nvPr/>
        </p:nvPicPr>
        <p:blipFill>
          <a:blip r:embed="rId14"/>
          <a:stretch/>
        </p:blipFill>
        <p:spPr>
          <a:xfrm>
            <a:off x="7488720" y="6536160"/>
            <a:ext cx="1546560" cy="257040"/>
          </a:xfrm>
          <a:prstGeom prst="rect">
            <a:avLst/>
          </a:prstGeom>
          <a:ln>
            <a:noFill/>
          </a:ln>
        </p:spPr>
      </p:pic>
      <p:sp>
        <p:nvSpPr>
          <p:cNvPr id="50" name="PlaceHolder 7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51" name="PlaceHolder 8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CustomShape 1"/>
          <p:cNvSpPr/>
          <p:nvPr/>
        </p:nvSpPr>
        <p:spPr>
          <a:xfrm>
            <a:off x="6395760" y="4005000"/>
            <a:ext cx="2640240" cy="2188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50000"/>
              </a:lnSpc>
              <a:spcBef>
                <a:spcPts val="575"/>
              </a:spcBef>
            </a:pPr>
            <a:r>
              <a:rPr lang="en-US" sz="1800" b="0" strike="noStrike" spc="-1">
                <a:solidFill>
                  <a:srgbClr val="000CF2"/>
                </a:solidFill>
                <a:latin typeface="HY헤드라인M"/>
                <a:ea typeface="HY헤드라인M"/>
              </a:rPr>
              <a:t>측정 환경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50000"/>
              </a:lnSpc>
              <a:spcBef>
                <a:spcPts val="575"/>
              </a:spcBef>
            </a:pPr>
            <a:r>
              <a:rPr lang="en-US" sz="1800" b="0" strike="noStrike" spc="-1">
                <a:solidFill>
                  <a:srgbClr val="000CF2"/>
                </a:solidFill>
                <a:latin typeface="HY헤드라인M"/>
                <a:ea typeface="HY헤드라인M"/>
              </a:rPr>
              <a:t>결과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50000"/>
              </a:lnSpc>
              <a:spcBef>
                <a:spcPts val="575"/>
              </a:spcBef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50000"/>
              </a:lnSpc>
              <a:spcBef>
                <a:spcPts val="575"/>
              </a:spcBef>
            </a:pPr>
            <a:endParaRPr lang="en-US" sz="1800" b="0" strike="noStrike" spc="-1">
              <a:latin typeface="Arial"/>
            </a:endParaRPr>
          </a:p>
        </p:txBody>
      </p:sp>
      <p:sp>
        <p:nvSpPr>
          <p:cNvPr id="89" name="CustomShape 2"/>
          <p:cNvSpPr/>
          <p:nvPr/>
        </p:nvSpPr>
        <p:spPr>
          <a:xfrm>
            <a:off x="539640" y="3933000"/>
            <a:ext cx="5688000" cy="568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r">
              <a:lnSpc>
                <a:spcPct val="150000"/>
              </a:lnSpc>
              <a:spcBef>
                <a:spcPts val="575"/>
              </a:spcBef>
            </a:pPr>
            <a:r>
              <a:rPr lang="en-US" sz="2000" b="0" strike="noStrike" spc="-1" dirty="0">
                <a:solidFill>
                  <a:srgbClr val="000099"/>
                </a:solidFill>
                <a:latin typeface="HY헤드라인M"/>
                <a:ea typeface="HY헤드라인M"/>
              </a:rPr>
              <a:t>SegNet </a:t>
            </a:r>
            <a:r>
              <a:rPr lang="en-US" sz="2000" spc="-1" dirty="0" smtClean="0">
                <a:solidFill>
                  <a:srgbClr val="000099"/>
                </a:solidFill>
                <a:latin typeface="HY헤드라인M"/>
                <a:ea typeface="HY헤드라인M"/>
              </a:rPr>
              <a:t>Time</a:t>
            </a:r>
          </a:p>
          <a:p>
            <a:pPr algn="r">
              <a:lnSpc>
                <a:spcPct val="150000"/>
              </a:lnSpc>
              <a:spcBef>
                <a:spcPts val="575"/>
              </a:spcBef>
            </a:pPr>
            <a:r>
              <a:rPr lang="en-US" sz="2000" spc="-1" dirty="0" smtClean="0">
                <a:solidFill>
                  <a:srgbClr val="000099"/>
                </a:solidFill>
                <a:latin typeface="HY헤드라인M"/>
                <a:ea typeface="HY헤드라인M"/>
              </a:rPr>
              <a:t> According to Model with Basler Camera</a:t>
            </a:r>
            <a:endParaRPr lang="en-US" sz="2000" b="0" strike="noStrike" spc="-1" dirty="0">
              <a:latin typeface="Arial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CustomShape 1"/>
          <p:cNvSpPr/>
          <p:nvPr/>
        </p:nvSpPr>
        <p:spPr>
          <a:xfrm>
            <a:off x="179640" y="736560"/>
            <a:ext cx="8481600" cy="5386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3080" indent="-342360">
              <a:lnSpc>
                <a:spcPct val="150000"/>
              </a:lnSpc>
              <a:spcBef>
                <a:spcPts val="575"/>
              </a:spcBef>
              <a:buClr>
                <a:srgbClr val="000AF2"/>
              </a:buClr>
              <a:buFont typeface="맑은 고딕"/>
              <a:buChar char="■"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  <a:ea typeface="맑은 고딕"/>
              </a:rPr>
              <a:t>Input </a:t>
            </a:r>
            <a:r>
              <a:rPr lang="en-US" sz="2000" b="0" strike="noStrike" spc="-1" dirty="0" smtClean="0">
                <a:solidFill>
                  <a:srgbClr val="000000"/>
                </a:solidFill>
                <a:latin typeface="Arial"/>
                <a:ea typeface="맑은 고딕"/>
              </a:rPr>
              <a:t>image</a:t>
            </a:r>
            <a:endParaRPr lang="en-US" sz="2000" b="0" strike="noStrike" spc="-1" dirty="0">
              <a:latin typeface="Arial"/>
            </a:endParaRPr>
          </a:p>
          <a:p>
            <a:pPr marL="432000" lvl="1" indent="-216000">
              <a:lnSpc>
                <a:spcPct val="150000"/>
              </a:lnSpc>
              <a:spcBef>
                <a:spcPts val="57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latin typeface="Arial"/>
              </a:rPr>
              <a:t>Basler ace acA1300-30gc</a:t>
            </a:r>
            <a:r>
              <a:rPr lang="ko-KR" altLang="en-US" sz="2000" spc="-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실시간 촬영</a:t>
            </a:r>
            <a:endParaRPr lang="en-US" sz="2000" b="0" strike="noStrike" spc="-1" dirty="0" smtClean="0">
              <a:latin typeface="Arial"/>
            </a:endParaRPr>
          </a:p>
          <a:p>
            <a:pPr marL="432000" lvl="1" indent="-216000">
              <a:lnSpc>
                <a:spcPct val="150000"/>
              </a:lnSpc>
              <a:spcBef>
                <a:spcPts val="57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latin typeface="Arial"/>
              </a:rPr>
              <a:t>.</a:t>
            </a:r>
            <a:r>
              <a:rPr lang="en-US" sz="2000" spc="-1" dirty="0" err="1" smtClean="0">
                <a:latin typeface="Arial"/>
              </a:rPr>
              <a:t>png</a:t>
            </a:r>
            <a:endParaRPr lang="en-US" sz="2000" spc="-1" dirty="0" smtClean="0">
              <a:latin typeface="Arial"/>
            </a:endParaRPr>
          </a:p>
          <a:p>
            <a:pPr marL="432000" lvl="1" indent="-216000">
              <a:lnSpc>
                <a:spcPct val="150000"/>
              </a:lnSpc>
              <a:spcBef>
                <a:spcPts val="57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spc="-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1278 x 958</a:t>
            </a:r>
          </a:p>
          <a:p>
            <a:pPr marL="432000" lvl="1" indent="-216000">
              <a:lnSpc>
                <a:spcPct val="150000"/>
              </a:lnSpc>
              <a:spcBef>
                <a:spcPts val="57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000" b="0" strike="noStrike" spc="-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3080" indent="-342360">
              <a:lnSpc>
                <a:spcPct val="150000"/>
              </a:lnSpc>
              <a:spcBef>
                <a:spcPts val="575"/>
              </a:spcBef>
              <a:buClr>
                <a:srgbClr val="000AF2"/>
              </a:buClr>
              <a:buFont typeface="맑은 고딕"/>
              <a:buChar char="■"/>
            </a:pPr>
            <a:r>
              <a:rPr lang="en-US" sz="2000" b="0" strike="noStrike" spc="-1" dirty="0" err="1" smtClean="0">
                <a:solidFill>
                  <a:srgbClr val="000000"/>
                </a:solidFill>
                <a:latin typeface="Arial"/>
                <a:ea typeface="맑은 고딕"/>
              </a:rPr>
              <a:t>측정</a:t>
            </a:r>
            <a:r>
              <a:rPr lang="en-US" sz="2000" b="0" strike="noStrike" spc="-1" smtClean="0">
                <a:solidFill>
                  <a:srgbClr val="000000"/>
                </a:solidFill>
                <a:latin typeface="Arial"/>
                <a:ea typeface="맑은 고딕"/>
              </a:rPr>
              <a:t> 시간</a:t>
            </a:r>
            <a:endParaRPr lang="en-US" sz="2000" b="0" strike="noStrike" spc="-1" dirty="0">
              <a:latin typeface="Arial"/>
            </a:endParaRPr>
          </a:p>
          <a:p>
            <a:pPr marL="432000" lvl="1" indent="-216000">
              <a:lnSpc>
                <a:spcPct val="150000"/>
              </a:lnSpc>
              <a:spcBef>
                <a:spcPts val="57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spc="-1" dirty="0" smtClean="0"/>
              <a:t>Basler </a:t>
            </a:r>
            <a:r>
              <a:rPr lang="en-US" sz="2000" spc="-1" dirty="0" smtClean="0"/>
              <a:t>camera</a:t>
            </a:r>
            <a:r>
              <a:rPr lang="ko-KR" altLang="en-US" sz="2000" spc="-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로 촬영한 하나의 이미지를 </a:t>
            </a:r>
            <a:r>
              <a:rPr lang="en-US" altLang="ko-KR" sz="2000" spc="-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disk</a:t>
            </a:r>
            <a:r>
              <a:rPr lang="ko-KR" altLang="en-US" sz="2000" spc="-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에 저장하고 </a:t>
            </a:r>
            <a:r>
              <a:rPr lang="en-US" altLang="ko-KR" sz="2000" spc="-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SegNet</a:t>
            </a:r>
            <a:r>
              <a:rPr lang="ko-KR" altLang="en-US" sz="2000" spc="-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이 해당 이미지를 </a:t>
            </a:r>
            <a:r>
              <a:rPr lang="en-US" altLang="ko-KR" sz="2000" spc="-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segmentation</a:t>
            </a:r>
            <a:r>
              <a:rPr lang="ko-KR" altLang="en-US" sz="2000" spc="-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하여 </a:t>
            </a:r>
            <a:r>
              <a:rPr lang="en-US" altLang="ko-KR" sz="2000" spc="-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output</a:t>
            </a:r>
            <a:r>
              <a:rPr lang="ko-KR" altLang="en-US" sz="2000" spc="-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을 출력하는 한 </a:t>
            </a:r>
            <a:r>
              <a:rPr lang="en-US" altLang="ko-KR" sz="2000" spc="-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iteration</a:t>
            </a:r>
            <a:r>
              <a:rPr lang="ko-KR" altLang="en-US" sz="2000" spc="-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의 시간을 측정</a:t>
            </a:r>
            <a:endParaRPr lang="en-US" sz="2000" spc="-1" dirty="0" smtClean="0"/>
          </a:p>
          <a:p>
            <a:pPr marL="432000" lvl="1" indent="-216000">
              <a:lnSpc>
                <a:spcPct val="150000"/>
              </a:lnSpc>
              <a:spcBef>
                <a:spcPts val="57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altLang="ko-KR" sz="2000" spc="-1" dirty="0">
                <a:solidFill>
                  <a:srgbClr val="000000"/>
                </a:solidFill>
                <a:ea typeface="맑은 고딕"/>
              </a:rPr>
              <a:t>100번의 </a:t>
            </a:r>
            <a:r>
              <a:rPr lang="en-US" altLang="ko-KR" sz="2000" spc="-1" dirty="0" err="1">
                <a:solidFill>
                  <a:srgbClr val="000000"/>
                </a:solidFill>
                <a:ea typeface="맑은 고딕"/>
              </a:rPr>
              <a:t>결과에</a:t>
            </a:r>
            <a:r>
              <a:rPr lang="en-US" altLang="ko-KR" sz="2000" spc="-1" dirty="0">
                <a:solidFill>
                  <a:srgbClr val="000000"/>
                </a:solidFill>
                <a:ea typeface="맑은 고딕"/>
              </a:rPr>
              <a:t> </a:t>
            </a:r>
            <a:r>
              <a:rPr lang="en-US" altLang="ko-KR" sz="2000" spc="-1" dirty="0" err="1">
                <a:solidFill>
                  <a:srgbClr val="000000"/>
                </a:solidFill>
                <a:ea typeface="맑은 고딕"/>
              </a:rPr>
              <a:t>대해서</a:t>
            </a:r>
            <a:r>
              <a:rPr lang="en-US" altLang="ko-KR" sz="2000" spc="-1" dirty="0">
                <a:solidFill>
                  <a:srgbClr val="000000"/>
                </a:solidFill>
                <a:ea typeface="맑은 고딕"/>
              </a:rPr>
              <a:t> </a:t>
            </a:r>
            <a:r>
              <a:rPr lang="en-US" altLang="ko-KR" sz="2000" spc="-1" dirty="0" err="1">
                <a:solidFill>
                  <a:srgbClr val="000000"/>
                </a:solidFill>
                <a:ea typeface="맑은 고딕"/>
              </a:rPr>
              <a:t>평균값을</a:t>
            </a:r>
            <a:r>
              <a:rPr lang="en-US" altLang="ko-KR" sz="2000" spc="-1" dirty="0">
                <a:solidFill>
                  <a:srgbClr val="000000"/>
                </a:solidFill>
                <a:ea typeface="맑은 고딕"/>
              </a:rPr>
              <a:t> </a:t>
            </a:r>
            <a:r>
              <a:rPr lang="en-US" altLang="ko-KR" sz="2000" spc="-1" dirty="0" err="1" smtClean="0">
                <a:solidFill>
                  <a:srgbClr val="000000"/>
                </a:solidFill>
                <a:ea typeface="맑은 고딕"/>
              </a:rPr>
              <a:t>비교</a:t>
            </a:r>
            <a:endParaRPr lang="en-US" sz="2000" b="0" strike="noStrike" spc="-1" dirty="0">
              <a:latin typeface="+mj-lt"/>
            </a:endParaRPr>
          </a:p>
          <a:p>
            <a:pPr marL="216000" lvl="1">
              <a:lnSpc>
                <a:spcPct val="150000"/>
              </a:lnSpc>
              <a:spcBef>
                <a:spcPts val="575"/>
              </a:spcBef>
              <a:buClr>
                <a:srgbClr val="000000"/>
              </a:buClr>
              <a:buSzPct val="45000"/>
            </a:pPr>
            <a:endParaRPr lang="en-US" sz="2000" b="0" strike="noStrike" spc="-1" dirty="0">
              <a:latin typeface="Arial"/>
            </a:endParaRPr>
          </a:p>
        </p:txBody>
      </p:sp>
      <p:sp>
        <p:nvSpPr>
          <p:cNvPr id="91" name="CustomShape 2"/>
          <p:cNvSpPr/>
          <p:nvPr/>
        </p:nvSpPr>
        <p:spPr>
          <a:xfrm>
            <a:off x="179280" y="0"/>
            <a:ext cx="8964000" cy="535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50000"/>
              </a:lnSpc>
              <a:spcBef>
                <a:spcPts val="575"/>
              </a:spcBef>
            </a:pPr>
            <a:r>
              <a:rPr lang="en-US" sz="2400" b="1" strike="noStrike" spc="-1" dirty="0" err="1" smtClean="0">
                <a:solidFill>
                  <a:srgbClr val="000CF2"/>
                </a:solidFill>
                <a:latin typeface="Arial"/>
                <a:ea typeface="HY헤드라인M"/>
              </a:rPr>
              <a:t>측정환경</a:t>
            </a:r>
            <a:endParaRPr lang="en-US" sz="2400" b="0" strike="noStrike" spc="-1" dirty="0">
              <a:latin typeface="Arial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CustomShape 1"/>
          <p:cNvSpPr/>
          <p:nvPr/>
        </p:nvSpPr>
        <p:spPr>
          <a:xfrm>
            <a:off x="179640" y="736560"/>
            <a:ext cx="8481600" cy="5386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4" name="CustomShape 2"/>
          <p:cNvSpPr/>
          <p:nvPr/>
        </p:nvSpPr>
        <p:spPr>
          <a:xfrm>
            <a:off x="179280" y="0"/>
            <a:ext cx="8964000" cy="535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50000"/>
              </a:lnSpc>
              <a:spcBef>
                <a:spcPts val="575"/>
              </a:spcBef>
            </a:pPr>
            <a:r>
              <a:rPr lang="en-US" sz="2400" b="1" strike="noStrike" spc="-1">
                <a:solidFill>
                  <a:srgbClr val="000CF2"/>
                </a:solidFill>
                <a:latin typeface="Arial"/>
                <a:ea typeface="HY헤드라인M"/>
              </a:rPr>
              <a:t>결과 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96" name="TextShape 4"/>
          <p:cNvSpPr txBox="1"/>
          <p:nvPr/>
        </p:nvSpPr>
        <p:spPr>
          <a:xfrm>
            <a:off x="822960" y="6035040"/>
            <a:ext cx="3749040" cy="421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endParaRPr lang="en-US" sz="1800" b="0" strike="noStrike" spc="-1" dirty="0">
              <a:latin typeface="Arial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0945898"/>
              </p:ext>
            </p:extLst>
          </p:nvPr>
        </p:nvGraphicFramePr>
        <p:xfrm>
          <a:off x="467544" y="1124744"/>
          <a:ext cx="8388426" cy="11125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398071"/>
                <a:gridCol w="1398071"/>
                <a:gridCol w="1398071"/>
                <a:gridCol w="1398071"/>
                <a:gridCol w="1398071"/>
                <a:gridCol w="1398071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Model</a:t>
                      </a:r>
                      <a:endParaRPr lang="ko-KR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Cityscapes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 smtClean="0"/>
                        <a:t>DeepScene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Resolution</a:t>
                      </a:r>
                      <a:endParaRPr lang="ko-KR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512x256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1024x512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2048x1024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576x320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864x480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Time [s]</a:t>
                      </a:r>
                      <a:endParaRPr lang="ko-KR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4.4200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4.4306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4.7082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4.2124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5.5071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7354491"/>
              </p:ext>
            </p:extLst>
          </p:nvPr>
        </p:nvGraphicFramePr>
        <p:xfrm>
          <a:off x="467544" y="2636912"/>
          <a:ext cx="8424938" cy="11125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368152"/>
                <a:gridCol w="1176131"/>
                <a:gridCol w="1176131"/>
                <a:gridCol w="1176131"/>
                <a:gridCol w="1176131"/>
                <a:gridCol w="1176131"/>
                <a:gridCol w="1176131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Model</a:t>
                      </a:r>
                      <a:endParaRPr lang="ko-KR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Multi-Human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Pascal VOC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SUN RGB-D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Resolution</a:t>
                      </a:r>
                      <a:endParaRPr lang="ko-KR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512x320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640x360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320x320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512x320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512x400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640x512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Time [s]</a:t>
                      </a:r>
                      <a:endParaRPr lang="ko-KR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4.6004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4.9436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4.3051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5.0483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5.1544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5.2572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11560" y="4437112"/>
            <a:ext cx="8049680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평균 계산시간이 </a:t>
            </a:r>
            <a:r>
              <a:rPr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DeepScene-576x320 </a:t>
            </a:r>
            <a:r>
              <a:rPr lang="ko-KR" altLang="en-US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에서 가장 낮은 결과가 산출</a:t>
            </a:r>
            <a:endParaRPr lang="en-US" altLang="ko-KR" sz="20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Cityscapes-2048x1024</a:t>
            </a:r>
            <a:r>
              <a:rPr lang="ko-KR" altLang="en-US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에서 화질 대비 계산 시간이 낮음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A60A3"/>
      </a:dk2>
      <a:lt2>
        <a:srgbClr val="F5F5F5"/>
      </a:lt2>
      <a:accent1>
        <a:srgbClr val="0A60A3"/>
      </a:accent1>
      <a:accent2>
        <a:srgbClr val="93191A"/>
      </a:accent2>
      <a:accent3>
        <a:srgbClr val="79B04E"/>
      </a:accent3>
      <a:accent4>
        <a:srgbClr val="EDB72E"/>
      </a:accent4>
      <a:accent5>
        <a:srgbClr val="73AED9"/>
      </a:accent5>
      <a:accent6>
        <a:srgbClr val="DE8C2D"/>
      </a:accent6>
      <a:hlink>
        <a:srgbClr val="0A60A3"/>
      </a:hlink>
      <a:folHlink>
        <a:srgbClr val="73AED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A60A3"/>
      </a:dk2>
      <a:lt2>
        <a:srgbClr val="F5F5F5"/>
      </a:lt2>
      <a:accent1>
        <a:srgbClr val="0A60A3"/>
      </a:accent1>
      <a:accent2>
        <a:srgbClr val="93191A"/>
      </a:accent2>
      <a:accent3>
        <a:srgbClr val="79B04E"/>
      </a:accent3>
      <a:accent4>
        <a:srgbClr val="EDB72E"/>
      </a:accent4>
      <a:accent5>
        <a:srgbClr val="73AED9"/>
      </a:accent5>
      <a:accent6>
        <a:srgbClr val="DE8C2D"/>
      </a:accent6>
      <a:hlink>
        <a:srgbClr val="0A60A3"/>
      </a:hlink>
      <a:folHlink>
        <a:srgbClr val="73AED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control_works</Template>
  <TotalTime>2103</TotalTime>
  <Words>113</Words>
  <Application>Microsoft Office PowerPoint</Application>
  <PresentationFormat>화면 슬라이드 쇼(4:3)</PresentationFormat>
  <Paragraphs>49</Paragraphs>
  <Slides>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2</vt:i4>
      </vt:variant>
      <vt:variant>
        <vt:lpstr>슬라이드 제목</vt:lpstr>
      </vt:variant>
      <vt:variant>
        <vt:i4>3</vt:i4>
      </vt:variant>
    </vt:vector>
  </HeadingPairs>
  <TitlesOfParts>
    <vt:vector size="5" baseType="lpstr">
      <vt:lpstr>Office Theme</vt:lpstr>
      <vt:lpstr>Office Theme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NB09</dc:creator>
  <cp:lastModifiedBy>NB09</cp:lastModifiedBy>
  <cp:revision>108</cp:revision>
  <dcterms:created xsi:type="dcterms:W3CDTF">2020-01-06T00:01:51Z</dcterms:created>
  <dcterms:modified xsi:type="dcterms:W3CDTF">2020-01-30T03:41:09Z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화면 슬라이드 쇼(4:3)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11</vt:i4>
  </property>
</Properties>
</file>